
<file path=[Content_Types].xml><?xml version="1.0" encoding="utf-8"?>
<Types xmlns="http://schemas.openxmlformats.org/package/2006/content-types">
  <Default Extension="xml" ContentType="application/xml"/>
  <Default Extension="jpg" ContentType="image/jpeg"/>
  <Default Extension="wmf" ContentType="image/x-wmf"/>
  <Default Extension="bin" ContentType="application/vnd.openxmlformats-officedocument.oleObject"/>
  <Default Extension="rels" ContentType="application/vnd.openxmlformats-package.relationships+xml"/>
  <Default Extension="jpeg" ContentType="image/jpeg"/>
  <Default Extension="png" ContentType="image/png"/>
  <Override PartName="/ppt/slides/slide31.xml" ContentType="application/vnd.openxmlformats-officedocument.presentationml.slide+xml"/>
  <Override PartName="/ppt/slides/slide30.xml" ContentType="application/vnd.openxmlformats-officedocument.presentationml.slide+xml"/>
  <Override PartName="/ppt/slides/slide32.xml" ContentType="application/vnd.openxmlformats-officedocument.presentationml.slide+xml"/>
  <Override PartName="/ppt/slides/slide29.xml" ContentType="application/vnd.openxmlformats-officedocument.presentationml.slide+xml"/>
  <Override PartName="/ppt/slides/slide27.xml" ContentType="application/vnd.openxmlformats-officedocument.presentationml.slide+xml"/>
  <Override PartName="/ppt/slides/slide26.xml" ContentType="application/vnd.openxmlformats-officedocument.presentationml.slide+xml"/>
  <Override PartName="/ppt/slides/slide23.xml" ContentType="application/vnd.openxmlformats-officedocument.presentationml.slide+xml"/>
  <Override PartName="/ppt/slides/slide19.xml" ContentType="application/vnd.openxmlformats-officedocument.presentationml.slide+xml"/>
  <Override PartName="/ppt/slides/slide18.xml" ContentType="application/vnd.openxmlformats-officedocument.presentationml.slide+xml"/>
  <Override PartName="/ppt/slides/slide16.xml" ContentType="application/vnd.openxmlformats-officedocument.presentationml.slide+xml"/>
  <Override PartName="/ppt/slides/slide15.xml" ContentType="application/vnd.openxmlformats-officedocument.presentationml.slide+xml"/>
  <Override PartName="/ppt/slides/slide14.xml" ContentType="application/vnd.openxmlformats-officedocument.presentationml.slide+xml"/>
  <Override PartName="/ppt/slides/slide11.xml" ContentType="application/vnd.openxmlformats-officedocument.presentationml.slide+xml"/>
  <Override PartName="/ppt/slides/slide10.xml" ContentType="application/vnd.openxmlformats-officedocument.presentationml.slide+xml"/>
  <Override PartName="/ppt/slides/slide20.xml" ContentType="application/vnd.openxmlformats-officedocument.presentationml.slide+xml"/>
  <Override PartName="/ppt/slides/slide9.xml" ContentType="application/vnd.openxmlformats-officedocument.presentationml.slide+xml"/>
  <Override PartName="/docProps/core.xml" ContentType="application/vnd.openxmlformats-package.core-properties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heme/theme1.xml" ContentType="application/vnd.openxmlformats-officedocument.theme+xml"/>
  <Override PartName="/ppt/slides/slide28.xml" ContentType="application/vnd.openxmlformats-officedocument.presentationml.slide+xml"/>
  <Override PartName="/ppt/slides/slide13.xml" ContentType="application/vnd.openxmlformats-officedocument.presentationml.slide+xml"/>
  <Override PartName="/ppt/slides/slide6.xml" ContentType="application/vnd.openxmlformats-officedocument.presentationml.slide+xml"/>
  <Override PartName="/ppt/slides/slide12.xml" ContentType="application/vnd.openxmlformats-officedocument.presentationml.slide+xml"/>
  <Override PartName="/ppt/slideLayouts/slideLayout1.xml" ContentType="application/vnd.openxmlformats-officedocument.presentationml.slideLayout+xml"/>
  <Override PartName="/ppt/slides/slide21.xml" ContentType="application/vnd.openxmlformats-officedocument.presentationml.slide+xml"/>
  <Override PartName="/ppt/slideLayouts/slideLayout4.xml" ContentType="application/vnd.openxmlformats-officedocument.presentationml.slideLayout+xml"/>
  <Override PartName="/ppt/presProps.xml" ContentType="application/vnd.openxmlformats-officedocument.presentationml.presProps+xml"/>
  <Override PartName="/ppt/slideLayouts/slideLayout2.xml" ContentType="application/vnd.openxmlformats-officedocument.presentationml.slideLayout+xml"/>
  <Override PartName="/ppt/viewProps.xml" ContentType="application/vnd.openxmlformats-officedocument.presentationml.viewProps+xml"/>
  <Override PartName="/ppt/slides/slide17.xml" ContentType="application/vnd.openxmlformats-officedocument.presentationml.slide+xml"/>
  <Override PartName="/docProps/custom.xml" ContentType="application/vnd.openxmlformats-officedocument.custom-properties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s/slide4.xml" ContentType="application/vnd.openxmlformats-officedocument.presentationml.slide+xml"/>
  <Override PartName="/ppt/slides/slide25.xml" ContentType="application/vnd.openxmlformats-officedocument.presentationml.slide+xml"/>
  <Override PartName="/ppt/slides/slide24.xml" ContentType="application/vnd.openxmlformats-officedocument.presentationml.slide+xml"/>
  <Override PartName="/ppt/slideLayouts/slideLayout3.xml" ContentType="application/vnd.openxmlformats-officedocument.presentationml.slideLayout+xml"/>
  <Override PartName="/ppt/slides/slide22.xml" ContentType="application/vnd.openxmlformats-officedocument.presentationml.slide+xml"/>
  <Override PartName="/ppt/slides/slide5.xml" ContentType="application/vnd.openxmlformats-officedocument.presentationml.slide+xml"/>
  <Override PartName="/ppt/slideLayouts/slideLayout5.xml" ContentType="application/vnd.openxmlformats-officedocument.presentationml.slideLayout+xml"/>
  <Override PartName="/ppt/slides/slide7.xml" ContentType="application/vnd.openxmlformats-officedocument.presentationml.slide+xml"/>
  <Override PartName="/ppt/presentation.xml" ContentType="application/vnd.openxmlformats-officedocument.presentationml.presentation.main+xml"/>
  <Override PartName="/ppt/slides/slide8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</p:sldIdLst>
  <p:sldSz cx="5765800" cy="3244850"/>
  <p:notesSz cx="5765800" cy="324485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rgbClr val="00000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pos="2880" orient="horz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slide" Target="slides/slide21.xml"/><Relationship Id="rId24" Type="http://schemas.openxmlformats.org/officeDocument/2006/relationships/slide" Target="slides/slide22.xml"/><Relationship Id="rId25" Type="http://schemas.openxmlformats.org/officeDocument/2006/relationships/slide" Target="slides/slide23.xml"/><Relationship Id="rId26" Type="http://schemas.openxmlformats.org/officeDocument/2006/relationships/slide" Target="slides/slide24.xml"/><Relationship Id="rId27" Type="http://schemas.openxmlformats.org/officeDocument/2006/relationships/slide" Target="slides/slide25.xml"/><Relationship Id="rId28" Type="http://schemas.openxmlformats.org/officeDocument/2006/relationships/slide" Target="slides/slide26.xml"/><Relationship Id="rId29" Type="http://schemas.openxmlformats.org/officeDocument/2006/relationships/slide" Target="slides/slide27.xml"/><Relationship Id="rId30" Type="http://schemas.openxmlformats.org/officeDocument/2006/relationships/slide" Target="slides/slide28.xml"/><Relationship Id="rId31" Type="http://schemas.openxmlformats.org/officeDocument/2006/relationships/slide" Target="slides/slide29.xml"/><Relationship Id="rId32" Type="http://schemas.openxmlformats.org/officeDocument/2006/relationships/slide" Target="slides/slide30.xml"/><Relationship Id="rId33" Type="http://schemas.openxmlformats.org/officeDocument/2006/relationships/slide" Target="slides/slide31.xml"/><Relationship Id="rId34" Type="http://schemas.openxmlformats.org/officeDocument/2006/relationships/slide" Target="slides/slide32.xml"/><Relationship Id="rId35" Type="http://schemas.openxmlformats.org/officeDocument/2006/relationships/presProps" Target="presProps.xml" /><Relationship Id="rId36" Type="http://schemas.openxmlformats.org/officeDocument/2006/relationships/tableStyles" Target="tableStyles.xml" /><Relationship Id="rId37" Type="http://schemas.openxmlformats.org/officeDocument/2006/relationships/viewProps" Target="viewProps.xml" 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432435" y="1005903"/>
            <a:ext cx="4900930" cy="68141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7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864870" y="1817116"/>
            <a:ext cx="4036060" cy="81121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dirty="0"/>
              <a:t>Lê</a:t>
            </a:r>
            <a:r>
              <a:rPr spc="-25" dirty="0"/>
              <a:t> </a:t>
            </a:r>
            <a:r>
              <a:rPr dirty="0"/>
              <a:t>Đình</a:t>
            </a:r>
            <a:r>
              <a:rPr spc="-20" dirty="0"/>
              <a:t> </a:t>
            </a:r>
            <a:r>
              <a:rPr dirty="0"/>
              <a:t>Phùng</a:t>
            </a:r>
            <a:r>
              <a:rPr spc="-25" dirty="0"/>
              <a:t> </a:t>
            </a:r>
            <a:r>
              <a:rPr dirty="0"/>
              <a:t>–</a:t>
            </a:r>
            <a:r>
              <a:rPr spc="-20" dirty="0"/>
              <a:t> </a:t>
            </a:r>
            <a:r>
              <a:rPr spc="-10" dirty="0"/>
              <a:t>18130181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dirty="0"/>
              <a:t>Năm</a:t>
            </a:r>
            <a:r>
              <a:rPr spc="-30" dirty="0"/>
              <a:t> </a:t>
            </a:r>
            <a:r>
              <a:rPr dirty="0"/>
              <a:t>học</a:t>
            </a:r>
            <a:r>
              <a:rPr spc="-25" dirty="0"/>
              <a:t> </a:t>
            </a:r>
            <a:r>
              <a:rPr spc="-10" dirty="0"/>
              <a:t>2025–2026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79375">
              <a:lnSpc>
                <a:spcPct val="100000"/>
              </a:lnSpc>
              <a:spcBef>
                <a:spcPts val="70"/>
              </a:spcBef>
            </a:pPr>
            <a:fld id="{81D60167-4931-47E6-BA6A-407CBD079E47}" type="slidenum">
              <a:rPr spc="-10" dirty="0"/>
              <a:t>#</a:t>
            </a:fld>
            <a:r>
              <a:rPr spc="-70" dirty="0"/>
              <a:t> </a:t>
            </a:r>
            <a:r>
              <a:rPr dirty="0"/>
              <a:t>/</a:t>
            </a:r>
            <a:r>
              <a:rPr spc="-65" dirty="0"/>
              <a:t> </a:t>
            </a:r>
            <a:r>
              <a:rPr spc="-25" dirty="0"/>
              <a:t>32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7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dirty="0"/>
              <a:t>Lê</a:t>
            </a:r>
            <a:r>
              <a:rPr spc="-25" dirty="0"/>
              <a:t> </a:t>
            </a:r>
            <a:r>
              <a:rPr dirty="0"/>
              <a:t>Đình</a:t>
            </a:r>
            <a:r>
              <a:rPr spc="-20" dirty="0"/>
              <a:t> </a:t>
            </a:r>
            <a:r>
              <a:rPr dirty="0"/>
              <a:t>Phùng</a:t>
            </a:r>
            <a:r>
              <a:rPr spc="-25" dirty="0"/>
              <a:t> </a:t>
            </a:r>
            <a:r>
              <a:rPr dirty="0"/>
              <a:t>–</a:t>
            </a:r>
            <a:r>
              <a:rPr spc="-20" dirty="0"/>
              <a:t> </a:t>
            </a:r>
            <a:r>
              <a:rPr spc="-10" dirty="0"/>
              <a:t>18130181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dirty="0"/>
              <a:t>Năm</a:t>
            </a:r>
            <a:r>
              <a:rPr spc="-30" dirty="0"/>
              <a:t> </a:t>
            </a:r>
            <a:r>
              <a:rPr dirty="0"/>
              <a:t>học</a:t>
            </a:r>
            <a:r>
              <a:rPr spc="-25" dirty="0"/>
              <a:t> </a:t>
            </a:r>
            <a:r>
              <a:rPr spc="-10" dirty="0"/>
              <a:t>2025–2026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79375">
              <a:lnSpc>
                <a:spcPct val="100000"/>
              </a:lnSpc>
              <a:spcBef>
                <a:spcPts val="70"/>
              </a:spcBef>
            </a:pPr>
            <a:fld id="{81D60167-4931-47E6-BA6A-407CBD079E47}" type="slidenum">
              <a:rPr spc="-10" dirty="0"/>
              <a:t>#</a:t>
            </a:fld>
            <a:r>
              <a:rPr spc="-70" dirty="0"/>
              <a:t> </a:t>
            </a:r>
            <a:r>
              <a:rPr dirty="0"/>
              <a:t>/</a:t>
            </a:r>
            <a:r>
              <a:rPr spc="-65" dirty="0"/>
              <a:t> </a:t>
            </a:r>
            <a:r>
              <a:rPr spc="-25" dirty="0"/>
              <a:t>32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7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288290" y="746315"/>
            <a:ext cx="2508123" cy="214160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2969387" y="746315"/>
            <a:ext cx="2508123" cy="214160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dirty="0"/>
              <a:t>Lê</a:t>
            </a:r>
            <a:r>
              <a:rPr spc="-25" dirty="0"/>
              <a:t> </a:t>
            </a:r>
            <a:r>
              <a:rPr dirty="0"/>
              <a:t>Đình</a:t>
            </a:r>
            <a:r>
              <a:rPr spc="-20" dirty="0"/>
              <a:t> </a:t>
            </a:r>
            <a:r>
              <a:rPr dirty="0"/>
              <a:t>Phùng</a:t>
            </a:r>
            <a:r>
              <a:rPr spc="-25" dirty="0"/>
              <a:t> </a:t>
            </a:r>
            <a:r>
              <a:rPr dirty="0"/>
              <a:t>–</a:t>
            </a:r>
            <a:r>
              <a:rPr spc="-20" dirty="0"/>
              <a:t> </a:t>
            </a:r>
            <a:r>
              <a:rPr spc="-10" dirty="0"/>
              <a:t>18130181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dirty="0"/>
              <a:t>Năm</a:t>
            </a:r>
            <a:r>
              <a:rPr spc="-30" dirty="0"/>
              <a:t> </a:t>
            </a:r>
            <a:r>
              <a:rPr dirty="0"/>
              <a:t>học</a:t>
            </a:r>
            <a:r>
              <a:rPr spc="-25" dirty="0"/>
              <a:t> </a:t>
            </a:r>
            <a:r>
              <a:rPr spc="-10" dirty="0"/>
              <a:t>2025–2026</a:t>
            </a:r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79375">
              <a:lnSpc>
                <a:spcPct val="100000"/>
              </a:lnSpc>
              <a:spcBef>
                <a:spcPts val="70"/>
              </a:spcBef>
            </a:pPr>
            <a:fld id="{81D60167-4931-47E6-BA6A-407CBD079E47}" type="slidenum">
              <a:rPr spc="-10" dirty="0"/>
              <a:t>#</a:t>
            </a:fld>
            <a:r>
              <a:rPr spc="-70" dirty="0"/>
              <a:t> </a:t>
            </a:r>
            <a:r>
              <a:rPr dirty="0"/>
              <a:t>/</a:t>
            </a:r>
            <a:r>
              <a:rPr spc="-65" dirty="0"/>
              <a:t> </a:t>
            </a:r>
            <a:r>
              <a:rPr spc="-25" dirty="0"/>
              <a:t>32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1" showMasterSp="0" type="obj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4240365" y="3025939"/>
            <a:ext cx="43180" cy="30480"/>
          </a:xfrm>
          <a:custGeom>
            <a:avLst/>
            <a:gdLst/>
            <a:ahLst/>
            <a:cxnLst/>
            <a:rect l="l" t="t" r="r" b="b"/>
            <a:pathLst>
              <a:path w="43179" h="30480">
                <a:moveTo>
                  <a:pt x="0" y="30366"/>
                </a:moveTo>
                <a:lnTo>
                  <a:pt x="43019" y="30366"/>
                </a:lnTo>
                <a:lnTo>
                  <a:pt x="43019" y="0"/>
                </a:lnTo>
                <a:lnTo>
                  <a:pt x="0" y="0"/>
                </a:lnTo>
                <a:lnTo>
                  <a:pt x="0" y="30366"/>
                </a:lnTo>
                <a:close/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bg object 17"/>
          <p:cNvSpPr/>
          <p:nvPr/>
        </p:nvSpPr>
        <p:spPr>
          <a:xfrm>
            <a:off x="4160748" y="3021977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bg object 18"/>
          <p:cNvSpPr/>
          <p:nvPr/>
        </p:nvSpPr>
        <p:spPr>
          <a:xfrm>
            <a:off x="4338551" y="3021977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0" y="0"/>
                </a:moveTo>
                <a:lnTo>
                  <a:pt x="0" y="38100"/>
                </a:lnTo>
                <a:lnTo>
                  <a:pt x="25399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bg object 19"/>
          <p:cNvSpPr/>
          <p:nvPr/>
        </p:nvSpPr>
        <p:spPr>
          <a:xfrm>
            <a:off x="4491036" y="3015626"/>
            <a:ext cx="64135" cy="50800"/>
          </a:xfrm>
          <a:custGeom>
            <a:avLst/>
            <a:gdLst/>
            <a:ahLst/>
            <a:cxnLst/>
            <a:rect l="l" t="t" r="r" b="b"/>
            <a:pathLst>
              <a:path w="64135" h="50800">
                <a:moveTo>
                  <a:pt x="0" y="50800"/>
                </a:moveTo>
                <a:lnTo>
                  <a:pt x="43019" y="50800"/>
                </a:lnTo>
                <a:lnTo>
                  <a:pt x="43019" y="20434"/>
                </a:lnTo>
                <a:lnTo>
                  <a:pt x="0" y="20434"/>
                </a:lnTo>
                <a:lnTo>
                  <a:pt x="0" y="50800"/>
                </a:lnTo>
                <a:close/>
              </a:path>
              <a:path w="64135" h="50800">
                <a:moveTo>
                  <a:pt x="10491" y="20320"/>
                </a:moveTo>
                <a:lnTo>
                  <a:pt x="10491" y="10160"/>
                </a:lnTo>
                <a:lnTo>
                  <a:pt x="53672" y="10160"/>
                </a:lnTo>
                <a:lnTo>
                  <a:pt x="53672" y="40640"/>
                </a:lnTo>
                <a:lnTo>
                  <a:pt x="43512" y="40640"/>
                </a:lnTo>
              </a:path>
              <a:path w="64135" h="50800">
                <a:moveTo>
                  <a:pt x="20652" y="10160"/>
                </a:moveTo>
                <a:lnTo>
                  <a:pt x="20652" y="0"/>
                </a:lnTo>
                <a:lnTo>
                  <a:pt x="63833" y="0"/>
                </a:lnTo>
                <a:lnTo>
                  <a:pt x="63833" y="30480"/>
                </a:lnTo>
                <a:lnTo>
                  <a:pt x="53672" y="30480"/>
                </a:lnTo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bg object 20"/>
          <p:cNvSpPr/>
          <p:nvPr/>
        </p:nvSpPr>
        <p:spPr>
          <a:xfrm>
            <a:off x="4427868" y="3021977"/>
            <a:ext cx="203200" cy="38100"/>
          </a:xfrm>
          <a:custGeom>
            <a:avLst/>
            <a:gdLst/>
            <a:ahLst/>
            <a:cxnLst/>
            <a:rect l="l" t="t" r="r" b="b"/>
            <a:pathLst>
              <a:path w="2032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bg object 21"/>
          <p:cNvSpPr/>
          <p:nvPr/>
        </p:nvSpPr>
        <p:spPr>
          <a:xfrm>
            <a:off x="4783887" y="3028327"/>
            <a:ext cx="38100" cy="0"/>
          </a:xfrm>
          <a:custGeom>
            <a:avLst/>
            <a:gdLst/>
            <a:ahLst/>
            <a:cxnLst/>
            <a:rect l="l" t="t" r="r" b="b"/>
            <a:pathLst>
              <a:path w="38100" h="0">
                <a:moveTo>
                  <a:pt x="0" y="0"/>
                </a:moveTo>
                <a:lnTo>
                  <a:pt x="38101" y="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bg object 22"/>
          <p:cNvSpPr/>
          <p:nvPr/>
        </p:nvSpPr>
        <p:spPr>
          <a:xfrm>
            <a:off x="4694987" y="3021977"/>
            <a:ext cx="203200" cy="38100"/>
          </a:xfrm>
          <a:custGeom>
            <a:avLst/>
            <a:gdLst/>
            <a:ahLst/>
            <a:cxnLst/>
            <a:rect l="l" t="t" r="r" b="b"/>
            <a:pathLst>
              <a:path w="2032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bg object 23"/>
          <p:cNvSpPr/>
          <p:nvPr/>
        </p:nvSpPr>
        <p:spPr>
          <a:xfrm>
            <a:off x="4771187" y="3015627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0" y="0"/>
                </a:moveTo>
                <a:lnTo>
                  <a:pt x="38100" y="0"/>
                </a:lnTo>
              </a:path>
              <a:path w="50800" h="50800">
                <a:moveTo>
                  <a:pt x="12700" y="25400"/>
                </a:moveTo>
                <a:lnTo>
                  <a:pt x="50801" y="25400"/>
                </a:lnTo>
              </a:path>
              <a:path w="50800" h="50800">
                <a:moveTo>
                  <a:pt x="0" y="38100"/>
                </a:moveTo>
                <a:lnTo>
                  <a:pt x="38100" y="38100"/>
                </a:lnTo>
              </a:path>
              <a:path w="50800" h="50800">
                <a:moveTo>
                  <a:pt x="12700" y="50800"/>
                </a:moveTo>
                <a:lnTo>
                  <a:pt x="50801" y="50800"/>
                </a:lnTo>
              </a:path>
            </a:pathLst>
          </a:custGeom>
          <a:ln w="7591">
            <a:solidFill>
              <a:srgbClr val="D6D6E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bg object 24"/>
          <p:cNvSpPr/>
          <p:nvPr/>
        </p:nvSpPr>
        <p:spPr>
          <a:xfrm>
            <a:off x="5038306" y="3015627"/>
            <a:ext cx="50800" cy="25400"/>
          </a:xfrm>
          <a:custGeom>
            <a:avLst/>
            <a:gdLst/>
            <a:ahLst/>
            <a:cxnLst/>
            <a:rect l="l" t="t" r="r" b="b"/>
            <a:pathLst>
              <a:path w="50800" h="25400">
                <a:moveTo>
                  <a:pt x="0" y="0"/>
                </a:moveTo>
                <a:lnTo>
                  <a:pt x="38100" y="0"/>
                </a:lnTo>
              </a:path>
              <a:path w="50800" h="25400">
                <a:moveTo>
                  <a:pt x="12700" y="12700"/>
                </a:moveTo>
                <a:lnTo>
                  <a:pt x="50801" y="12700"/>
                </a:lnTo>
              </a:path>
              <a:path w="50800" h="25400">
                <a:moveTo>
                  <a:pt x="12700" y="25400"/>
                </a:moveTo>
                <a:lnTo>
                  <a:pt x="50801" y="2540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bg object 25"/>
          <p:cNvSpPr/>
          <p:nvPr/>
        </p:nvSpPr>
        <p:spPr>
          <a:xfrm>
            <a:off x="4962106" y="3021977"/>
            <a:ext cx="203200" cy="38100"/>
          </a:xfrm>
          <a:custGeom>
            <a:avLst/>
            <a:gdLst/>
            <a:ahLst/>
            <a:cxnLst/>
            <a:rect l="l" t="t" r="r" b="b"/>
            <a:pathLst>
              <a:path w="2032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bg object 26"/>
          <p:cNvSpPr/>
          <p:nvPr/>
        </p:nvSpPr>
        <p:spPr>
          <a:xfrm>
            <a:off x="5038306" y="3053727"/>
            <a:ext cx="50800" cy="12700"/>
          </a:xfrm>
          <a:custGeom>
            <a:avLst/>
            <a:gdLst/>
            <a:ahLst/>
            <a:cxnLst/>
            <a:rect l="l" t="t" r="r" b="b"/>
            <a:pathLst>
              <a:path w="50800" h="12700">
                <a:moveTo>
                  <a:pt x="0" y="0"/>
                </a:moveTo>
                <a:lnTo>
                  <a:pt x="38100" y="0"/>
                </a:lnTo>
              </a:path>
              <a:path w="50800" h="12700">
                <a:moveTo>
                  <a:pt x="12700" y="12700"/>
                </a:moveTo>
                <a:lnTo>
                  <a:pt x="50801" y="12700"/>
                </a:lnTo>
              </a:path>
            </a:pathLst>
          </a:custGeom>
          <a:ln w="7591">
            <a:solidFill>
              <a:srgbClr val="D6D6E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" name="bg object 27"/>
          <p:cNvSpPr/>
          <p:nvPr/>
        </p:nvSpPr>
        <p:spPr>
          <a:xfrm>
            <a:off x="5305426" y="3015626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0" y="0"/>
                </a:moveTo>
                <a:lnTo>
                  <a:pt x="38100" y="0"/>
                </a:lnTo>
              </a:path>
              <a:path w="50800" h="50800">
                <a:moveTo>
                  <a:pt x="12700" y="12700"/>
                </a:moveTo>
                <a:lnTo>
                  <a:pt x="50801" y="12700"/>
                </a:lnTo>
              </a:path>
              <a:path w="50800" h="50800">
                <a:moveTo>
                  <a:pt x="12700" y="25400"/>
                </a:moveTo>
                <a:lnTo>
                  <a:pt x="50801" y="25400"/>
                </a:lnTo>
              </a:path>
              <a:path w="50800" h="50800">
                <a:moveTo>
                  <a:pt x="0" y="38100"/>
                </a:moveTo>
                <a:lnTo>
                  <a:pt x="38100" y="38100"/>
                </a:lnTo>
              </a:path>
              <a:path w="50800" h="50800">
                <a:moveTo>
                  <a:pt x="12700" y="50800"/>
                </a:moveTo>
                <a:lnTo>
                  <a:pt x="50801" y="5080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bg object 28"/>
          <p:cNvSpPr/>
          <p:nvPr/>
        </p:nvSpPr>
        <p:spPr>
          <a:xfrm>
            <a:off x="5603025" y="3046107"/>
            <a:ext cx="20320" cy="20320"/>
          </a:xfrm>
          <a:custGeom>
            <a:avLst/>
            <a:gdLst/>
            <a:ahLst/>
            <a:cxnLst/>
            <a:rect l="l" t="t" r="r" b="b"/>
            <a:pathLst>
              <a:path w="20320" h="20319">
                <a:moveTo>
                  <a:pt x="0" y="0"/>
                </a:moveTo>
                <a:lnTo>
                  <a:pt x="20321" y="2032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" name="bg object 29"/>
          <p:cNvSpPr/>
          <p:nvPr/>
        </p:nvSpPr>
        <p:spPr>
          <a:xfrm>
            <a:off x="5575961" y="3019612"/>
            <a:ext cx="30480" cy="30480"/>
          </a:xfrm>
          <a:custGeom>
            <a:avLst/>
            <a:gdLst/>
            <a:ahLst/>
            <a:cxnLst/>
            <a:rect l="l" t="t" r="r" b="b"/>
            <a:pathLst>
              <a:path w="30479" h="30480">
                <a:moveTo>
                  <a:pt x="30367" y="15183"/>
                </a:moveTo>
                <a:lnTo>
                  <a:pt x="30367" y="6797"/>
                </a:lnTo>
                <a:lnTo>
                  <a:pt x="23568" y="0"/>
                </a:lnTo>
                <a:lnTo>
                  <a:pt x="15183" y="0"/>
                </a:lnTo>
                <a:lnTo>
                  <a:pt x="6797" y="0"/>
                </a:lnTo>
                <a:lnTo>
                  <a:pt x="0" y="6797"/>
                </a:lnTo>
                <a:lnTo>
                  <a:pt x="0" y="15183"/>
                </a:lnTo>
                <a:lnTo>
                  <a:pt x="0" y="23568"/>
                </a:lnTo>
                <a:lnTo>
                  <a:pt x="6797" y="30366"/>
                </a:lnTo>
                <a:lnTo>
                  <a:pt x="15183" y="30366"/>
                </a:lnTo>
                <a:lnTo>
                  <a:pt x="23568" y="30366"/>
                </a:lnTo>
                <a:lnTo>
                  <a:pt x="30367" y="23568"/>
                </a:lnTo>
                <a:lnTo>
                  <a:pt x="30367" y="15183"/>
                </a:lnTo>
                <a:close/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" name="bg object 30"/>
          <p:cNvSpPr/>
          <p:nvPr/>
        </p:nvSpPr>
        <p:spPr>
          <a:xfrm>
            <a:off x="5481104" y="3015626"/>
            <a:ext cx="233679" cy="50800"/>
          </a:xfrm>
          <a:custGeom>
            <a:avLst/>
            <a:gdLst/>
            <a:ahLst/>
            <a:cxnLst/>
            <a:rect l="l" t="t" r="r" b="b"/>
            <a:pathLst>
              <a:path w="233679" h="50800">
                <a:moveTo>
                  <a:pt x="40640" y="50800"/>
                </a:moveTo>
                <a:lnTo>
                  <a:pt x="50400" y="48796"/>
                </a:lnTo>
                <a:lnTo>
                  <a:pt x="58488" y="43339"/>
                </a:lnTo>
                <a:lnTo>
                  <a:pt x="64002" y="35262"/>
                </a:lnTo>
                <a:lnTo>
                  <a:pt x="66040" y="25400"/>
                </a:lnTo>
                <a:lnTo>
                  <a:pt x="64036" y="15537"/>
                </a:lnTo>
                <a:lnTo>
                  <a:pt x="58579" y="7461"/>
                </a:lnTo>
                <a:lnTo>
                  <a:pt x="50502" y="2004"/>
                </a:lnTo>
                <a:lnTo>
                  <a:pt x="40640" y="0"/>
                </a:lnTo>
                <a:lnTo>
                  <a:pt x="30778" y="2004"/>
                </a:lnTo>
                <a:lnTo>
                  <a:pt x="22701" y="7461"/>
                </a:lnTo>
                <a:lnTo>
                  <a:pt x="17244" y="15537"/>
                </a:lnTo>
                <a:lnTo>
                  <a:pt x="15240" y="25400"/>
                </a:lnTo>
              </a:path>
              <a:path w="233679" h="50800">
                <a:moveTo>
                  <a:pt x="30480" y="17780"/>
                </a:moveTo>
                <a:lnTo>
                  <a:pt x="15240" y="30480"/>
                </a:lnTo>
                <a:lnTo>
                  <a:pt x="0" y="17780"/>
                </a:lnTo>
              </a:path>
              <a:path w="233679" h="50800">
                <a:moveTo>
                  <a:pt x="193042" y="50800"/>
                </a:moveTo>
                <a:lnTo>
                  <a:pt x="183180" y="48796"/>
                </a:lnTo>
                <a:lnTo>
                  <a:pt x="175103" y="43339"/>
                </a:lnTo>
                <a:lnTo>
                  <a:pt x="169646" y="35262"/>
                </a:lnTo>
                <a:lnTo>
                  <a:pt x="167642" y="25400"/>
                </a:lnTo>
                <a:lnTo>
                  <a:pt x="169646" y="15537"/>
                </a:lnTo>
                <a:lnTo>
                  <a:pt x="175103" y="7461"/>
                </a:lnTo>
                <a:lnTo>
                  <a:pt x="183180" y="2004"/>
                </a:lnTo>
                <a:lnTo>
                  <a:pt x="193042" y="0"/>
                </a:lnTo>
                <a:lnTo>
                  <a:pt x="202904" y="2004"/>
                </a:lnTo>
                <a:lnTo>
                  <a:pt x="210981" y="7461"/>
                </a:lnTo>
                <a:lnTo>
                  <a:pt x="216438" y="15537"/>
                </a:lnTo>
                <a:lnTo>
                  <a:pt x="218442" y="25400"/>
                </a:lnTo>
              </a:path>
              <a:path w="233679" h="50800">
                <a:moveTo>
                  <a:pt x="233682" y="17780"/>
                </a:moveTo>
                <a:lnTo>
                  <a:pt x="218442" y="30480"/>
                </a:lnTo>
                <a:lnTo>
                  <a:pt x="203202" y="17780"/>
                </a:lnTo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1" name="bg object 31"/>
          <p:cNvSpPr/>
          <p:nvPr/>
        </p:nvSpPr>
        <p:spPr>
          <a:xfrm>
            <a:off x="0" y="3110712"/>
            <a:ext cx="1920239" cy="129539"/>
          </a:xfrm>
          <a:custGeom>
            <a:avLst/>
            <a:gdLst/>
            <a:ahLst/>
            <a:cxnLst/>
            <a:rect l="l" t="t" r="r" b="b"/>
            <a:pathLst>
              <a:path w="1920239" h="129539">
                <a:moveTo>
                  <a:pt x="1919973" y="0"/>
                </a:moveTo>
                <a:lnTo>
                  <a:pt x="0" y="0"/>
                </a:lnTo>
                <a:lnTo>
                  <a:pt x="0" y="129286"/>
                </a:lnTo>
                <a:lnTo>
                  <a:pt x="1919973" y="129286"/>
                </a:lnTo>
                <a:lnTo>
                  <a:pt x="1919973" y="0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" name="bg object 32"/>
          <p:cNvSpPr/>
          <p:nvPr/>
        </p:nvSpPr>
        <p:spPr>
          <a:xfrm>
            <a:off x="1919973" y="3110712"/>
            <a:ext cx="1920239" cy="129539"/>
          </a:xfrm>
          <a:custGeom>
            <a:avLst/>
            <a:gdLst/>
            <a:ahLst/>
            <a:cxnLst/>
            <a:rect l="l" t="t" r="r" b="b"/>
            <a:pathLst>
              <a:path w="1920239" h="129539">
                <a:moveTo>
                  <a:pt x="1919973" y="0"/>
                </a:moveTo>
                <a:lnTo>
                  <a:pt x="0" y="0"/>
                </a:lnTo>
                <a:lnTo>
                  <a:pt x="0" y="129286"/>
                </a:lnTo>
                <a:lnTo>
                  <a:pt x="1919973" y="129286"/>
                </a:lnTo>
                <a:lnTo>
                  <a:pt x="1919973" y="0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3" name="bg object 33"/>
          <p:cNvSpPr/>
          <p:nvPr/>
        </p:nvSpPr>
        <p:spPr>
          <a:xfrm>
            <a:off x="3839946" y="3110712"/>
            <a:ext cx="1920239" cy="129539"/>
          </a:xfrm>
          <a:custGeom>
            <a:avLst/>
            <a:gdLst/>
            <a:ahLst/>
            <a:cxnLst/>
            <a:rect l="l" t="t" r="r" b="b"/>
            <a:pathLst>
              <a:path w="1920239" h="129539">
                <a:moveTo>
                  <a:pt x="1919973" y="0"/>
                </a:moveTo>
                <a:lnTo>
                  <a:pt x="0" y="0"/>
                </a:lnTo>
                <a:lnTo>
                  <a:pt x="0" y="129286"/>
                </a:lnTo>
                <a:lnTo>
                  <a:pt x="1919973" y="129286"/>
                </a:lnTo>
                <a:lnTo>
                  <a:pt x="1919973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7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dirty="0"/>
              <a:t>Lê</a:t>
            </a:r>
            <a:r>
              <a:rPr spc="-25" dirty="0"/>
              <a:t> </a:t>
            </a:r>
            <a:r>
              <a:rPr dirty="0"/>
              <a:t>Đình</a:t>
            </a:r>
            <a:r>
              <a:rPr spc="-20" dirty="0"/>
              <a:t> </a:t>
            </a:r>
            <a:r>
              <a:rPr dirty="0"/>
              <a:t>Phùng</a:t>
            </a:r>
            <a:r>
              <a:rPr spc="-25" dirty="0"/>
              <a:t> </a:t>
            </a:r>
            <a:r>
              <a:rPr dirty="0"/>
              <a:t>–</a:t>
            </a:r>
            <a:r>
              <a:rPr spc="-20" dirty="0"/>
              <a:t> </a:t>
            </a:r>
            <a:r>
              <a:rPr spc="-10" dirty="0"/>
              <a:t>18130181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dirty="0"/>
              <a:t>Năm</a:t>
            </a:r>
            <a:r>
              <a:rPr spc="-30" dirty="0"/>
              <a:t> </a:t>
            </a:r>
            <a:r>
              <a:rPr dirty="0"/>
              <a:t>học</a:t>
            </a:r>
            <a:r>
              <a:rPr spc="-25" dirty="0"/>
              <a:t> </a:t>
            </a:r>
            <a:r>
              <a:rPr spc="-10" dirty="0"/>
              <a:t>2025–2026</a:t>
            </a:r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79375">
              <a:lnSpc>
                <a:spcPct val="100000"/>
              </a:lnSpc>
              <a:spcBef>
                <a:spcPts val="70"/>
              </a:spcBef>
            </a:pPr>
            <a:fld id="{81D60167-4931-47E6-BA6A-407CBD079E47}" type="slidenum">
              <a:rPr spc="-10" dirty="0"/>
              <a:t>#</a:t>
            </a:fld>
            <a:r>
              <a:rPr spc="-70" dirty="0"/>
              <a:t> </a:t>
            </a:r>
            <a:r>
              <a:rPr dirty="0"/>
              <a:t>/</a:t>
            </a:r>
            <a:r>
              <a:rPr spc="-65" dirty="0"/>
              <a:t> </a:t>
            </a:r>
            <a:r>
              <a:rPr spc="-25" dirty="0"/>
              <a:t>32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1" showMasterSp="0" type="obj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4240365" y="3025939"/>
            <a:ext cx="43180" cy="30480"/>
          </a:xfrm>
          <a:custGeom>
            <a:avLst/>
            <a:gdLst/>
            <a:ahLst/>
            <a:cxnLst/>
            <a:rect l="l" t="t" r="r" b="b"/>
            <a:pathLst>
              <a:path w="43179" h="30480">
                <a:moveTo>
                  <a:pt x="0" y="30366"/>
                </a:moveTo>
                <a:lnTo>
                  <a:pt x="43019" y="30366"/>
                </a:lnTo>
                <a:lnTo>
                  <a:pt x="43019" y="0"/>
                </a:lnTo>
                <a:lnTo>
                  <a:pt x="0" y="0"/>
                </a:lnTo>
                <a:lnTo>
                  <a:pt x="0" y="30366"/>
                </a:lnTo>
                <a:close/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bg object 17"/>
          <p:cNvSpPr/>
          <p:nvPr/>
        </p:nvSpPr>
        <p:spPr>
          <a:xfrm>
            <a:off x="4160748" y="3021977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bg object 18"/>
          <p:cNvSpPr/>
          <p:nvPr/>
        </p:nvSpPr>
        <p:spPr>
          <a:xfrm>
            <a:off x="4338551" y="3021977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0" y="0"/>
                </a:moveTo>
                <a:lnTo>
                  <a:pt x="0" y="38100"/>
                </a:lnTo>
                <a:lnTo>
                  <a:pt x="25399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bg object 19"/>
          <p:cNvSpPr/>
          <p:nvPr/>
        </p:nvSpPr>
        <p:spPr>
          <a:xfrm>
            <a:off x="4491036" y="3015626"/>
            <a:ext cx="64135" cy="50800"/>
          </a:xfrm>
          <a:custGeom>
            <a:avLst/>
            <a:gdLst/>
            <a:ahLst/>
            <a:cxnLst/>
            <a:rect l="l" t="t" r="r" b="b"/>
            <a:pathLst>
              <a:path w="64135" h="50800">
                <a:moveTo>
                  <a:pt x="0" y="50800"/>
                </a:moveTo>
                <a:lnTo>
                  <a:pt x="43019" y="50800"/>
                </a:lnTo>
                <a:lnTo>
                  <a:pt x="43019" y="20434"/>
                </a:lnTo>
                <a:lnTo>
                  <a:pt x="0" y="20434"/>
                </a:lnTo>
                <a:lnTo>
                  <a:pt x="0" y="50800"/>
                </a:lnTo>
                <a:close/>
              </a:path>
              <a:path w="64135" h="50800">
                <a:moveTo>
                  <a:pt x="10491" y="20320"/>
                </a:moveTo>
                <a:lnTo>
                  <a:pt x="10491" y="10160"/>
                </a:lnTo>
                <a:lnTo>
                  <a:pt x="53672" y="10160"/>
                </a:lnTo>
                <a:lnTo>
                  <a:pt x="53672" y="40640"/>
                </a:lnTo>
                <a:lnTo>
                  <a:pt x="43512" y="40640"/>
                </a:lnTo>
              </a:path>
              <a:path w="64135" h="50800">
                <a:moveTo>
                  <a:pt x="20652" y="10160"/>
                </a:moveTo>
                <a:lnTo>
                  <a:pt x="20652" y="0"/>
                </a:lnTo>
                <a:lnTo>
                  <a:pt x="63833" y="0"/>
                </a:lnTo>
                <a:lnTo>
                  <a:pt x="63833" y="30480"/>
                </a:lnTo>
                <a:lnTo>
                  <a:pt x="53672" y="30480"/>
                </a:lnTo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bg object 20"/>
          <p:cNvSpPr/>
          <p:nvPr/>
        </p:nvSpPr>
        <p:spPr>
          <a:xfrm>
            <a:off x="4427868" y="3021977"/>
            <a:ext cx="203200" cy="38100"/>
          </a:xfrm>
          <a:custGeom>
            <a:avLst/>
            <a:gdLst/>
            <a:ahLst/>
            <a:cxnLst/>
            <a:rect l="l" t="t" r="r" b="b"/>
            <a:pathLst>
              <a:path w="2032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bg object 21"/>
          <p:cNvSpPr/>
          <p:nvPr/>
        </p:nvSpPr>
        <p:spPr>
          <a:xfrm>
            <a:off x="4783887" y="3028327"/>
            <a:ext cx="38100" cy="0"/>
          </a:xfrm>
          <a:custGeom>
            <a:avLst/>
            <a:gdLst/>
            <a:ahLst/>
            <a:cxnLst/>
            <a:rect l="l" t="t" r="r" b="b"/>
            <a:pathLst>
              <a:path w="38100" h="0">
                <a:moveTo>
                  <a:pt x="0" y="0"/>
                </a:moveTo>
                <a:lnTo>
                  <a:pt x="38101" y="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bg object 22"/>
          <p:cNvSpPr/>
          <p:nvPr/>
        </p:nvSpPr>
        <p:spPr>
          <a:xfrm>
            <a:off x="4694987" y="3021977"/>
            <a:ext cx="203200" cy="38100"/>
          </a:xfrm>
          <a:custGeom>
            <a:avLst/>
            <a:gdLst/>
            <a:ahLst/>
            <a:cxnLst/>
            <a:rect l="l" t="t" r="r" b="b"/>
            <a:pathLst>
              <a:path w="2032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bg object 23"/>
          <p:cNvSpPr/>
          <p:nvPr/>
        </p:nvSpPr>
        <p:spPr>
          <a:xfrm>
            <a:off x="4771187" y="3015627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0" y="0"/>
                </a:moveTo>
                <a:lnTo>
                  <a:pt x="38100" y="0"/>
                </a:lnTo>
              </a:path>
              <a:path w="50800" h="50800">
                <a:moveTo>
                  <a:pt x="12700" y="25400"/>
                </a:moveTo>
                <a:lnTo>
                  <a:pt x="50801" y="25400"/>
                </a:lnTo>
              </a:path>
              <a:path w="50800" h="50800">
                <a:moveTo>
                  <a:pt x="0" y="38100"/>
                </a:moveTo>
                <a:lnTo>
                  <a:pt x="38100" y="38100"/>
                </a:lnTo>
              </a:path>
              <a:path w="50800" h="50800">
                <a:moveTo>
                  <a:pt x="12700" y="50800"/>
                </a:moveTo>
                <a:lnTo>
                  <a:pt x="50801" y="50800"/>
                </a:lnTo>
              </a:path>
            </a:pathLst>
          </a:custGeom>
          <a:ln w="7591">
            <a:solidFill>
              <a:srgbClr val="D6D6E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bg object 24"/>
          <p:cNvSpPr/>
          <p:nvPr/>
        </p:nvSpPr>
        <p:spPr>
          <a:xfrm>
            <a:off x="5038306" y="3015627"/>
            <a:ext cx="50800" cy="25400"/>
          </a:xfrm>
          <a:custGeom>
            <a:avLst/>
            <a:gdLst/>
            <a:ahLst/>
            <a:cxnLst/>
            <a:rect l="l" t="t" r="r" b="b"/>
            <a:pathLst>
              <a:path w="50800" h="25400">
                <a:moveTo>
                  <a:pt x="0" y="0"/>
                </a:moveTo>
                <a:lnTo>
                  <a:pt x="38100" y="0"/>
                </a:lnTo>
              </a:path>
              <a:path w="50800" h="25400">
                <a:moveTo>
                  <a:pt x="12700" y="12700"/>
                </a:moveTo>
                <a:lnTo>
                  <a:pt x="50801" y="12700"/>
                </a:lnTo>
              </a:path>
              <a:path w="50800" h="25400">
                <a:moveTo>
                  <a:pt x="12700" y="25400"/>
                </a:moveTo>
                <a:lnTo>
                  <a:pt x="50801" y="2540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bg object 25"/>
          <p:cNvSpPr/>
          <p:nvPr/>
        </p:nvSpPr>
        <p:spPr>
          <a:xfrm>
            <a:off x="4962106" y="3021977"/>
            <a:ext cx="203200" cy="38100"/>
          </a:xfrm>
          <a:custGeom>
            <a:avLst/>
            <a:gdLst/>
            <a:ahLst/>
            <a:cxnLst/>
            <a:rect l="l" t="t" r="r" b="b"/>
            <a:pathLst>
              <a:path w="2032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bg object 26"/>
          <p:cNvSpPr/>
          <p:nvPr/>
        </p:nvSpPr>
        <p:spPr>
          <a:xfrm>
            <a:off x="5038306" y="3053727"/>
            <a:ext cx="50800" cy="12700"/>
          </a:xfrm>
          <a:custGeom>
            <a:avLst/>
            <a:gdLst/>
            <a:ahLst/>
            <a:cxnLst/>
            <a:rect l="l" t="t" r="r" b="b"/>
            <a:pathLst>
              <a:path w="50800" h="12700">
                <a:moveTo>
                  <a:pt x="0" y="0"/>
                </a:moveTo>
                <a:lnTo>
                  <a:pt x="38100" y="0"/>
                </a:lnTo>
              </a:path>
              <a:path w="50800" h="12700">
                <a:moveTo>
                  <a:pt x="12700" y="12700"/>
                </a:moveTo>
                <a:lnTo>
                  <a:pt x="50801" y="12700"/>
                </a:lnTo>
              </a:path>
            </a:pathLst>
          </a:custGeom>
          <a:ln w="7591">
            <a:solidFill>
              <a:srgbClr val="D6D6E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" name="bg object 27"/>
          <p:cNvSpPr/>
          <p:nvPr/>
        </p:nvSpPr>
        <p:spPr>
          <a:xfrm>
            <a:off x="5305426" y="3015626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0" y="0"/>
                </a:moveTo>
                <a:lnTo>
                  <a:pt x="38100" y="0"/>
                </a:lnTo>
              </a:path>
              <a:path w="50800" h="50800">
                <a:moveTo>
                  <a:pt x="12700" y="12700"/>
                </a:moveTo>
                <a:lnTo>
                  <a:pt x="50801" y="12700"/>
                </a:lnTo>
              </a:path>
              <a:path w="50800" h="50800">
                <a:moveTo>
                  <a:pt x="12700" y="25400"/>
                </a:moveTo>
                <a:lnTo>
                  <a:pt x="50801" y="25400"/>
                </a:lnTo>
              </a:path>
              <a:path w="50800" h="50800">
                <a:moveTo>
                  <a:pt x="0" y="38100"/>
                </a:moveTo>
                <a:lnTo>
                  <a:pt x="38100" y="38100"/>
                </a:lnTo>
              </a:path>
              <a:path w="50800" h="50800">
                <a:moveTo>
                  <a:pt x="12700" y="50800"/>
                </a:moveTo>
                <a:lnTo>
                  <a:pt x="50801" y="5080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bg object 28"/>
          <p:cNvSpPr/>
          <p:nvPr/>
        </p:nvSpPr>
        <p:spPr>
          <a:xfrm>
            <a:off x="5603025" y="3046107"/>
            <a:ext cx="20320" cy="20320"/>
          </a:xfrm>
          <a:custGeom>
            <a:avLst/>
            <a:gdLst/>
            <a:ahLst/>
            <a:cxnLst/>
            <a:rect l="l" t="t" r="r" b="b"/>
            <a:pathLst>
              <a:path w="20320" h="20319">
                <a:moveTo>
                  <a:pt x="0" y="0"/>
                </a:moveTo>
                <a:lnTo>
                  <a:pt x="20321" y="2032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" name="bg object 29"/>
          <p:cNvSpPr/>
          <p:nvPr/>
        </p:nvSpPr>
        <p:spPr>
          <a:xfrm>
            <a:off x="5575961" y="3019612"/>
            <a:ext cx="30480" cy="30480"/>
          </a:xfrm>
          <a:custGeom>
            <a:avLst/>
            <a:gdLst/>
            <a:ahLst/>
            <a:cxnLst/>
            <a:rect l="l" t="t" r="r" b="b"/>
            <a:pathLst>
              <a:path w="30479" h="30480">
                <a:moveTo>
                  <a:pt x="30367" y="15183"/>
                </a:moveTo>
                <a:lnTo>
                  <a:pt x="30367" y="6797"/>
                </a:lnTo>
                <a:lnTo>
                  <a:pt x="23568" y="0"/>
                </a:lnTo>
                <a:lnTo>
                  <a:pt x="15183" y="0"/>
                </a:lnTo>
                <a:lnTo>
                  <a:pt x="6797" y="0"/>
                </a:lnTo>
                <a:lnTo>
                  <a:pt x="0" y="6797"/>
                </a:lnTo>
                <a:lnTo>
                  <a:pt x="0" y="15183"/>
                </a:lnTo>
                <a:lnTo>
                  <a:pt x="0" y="23568"/>
                </a:lnTo>
                <a:lnTo>
                  <a:pt x="6797" y="30366"/>
                </a:lnTo>
                <a:lnTo>
                  <a:pt x="15183" y="30366"/>
                </a:lnTo>
                <a:lnTo>
                  <a:pt x="23568" y="30366"/>
                </a:lnTo>
                <a:lnTo>
                  <a:pt x="30367" y="23568"/>
                </a:lnTo>
                <a:lnTo>
                  <a:pt x="30367" y="15183"/>
                </a:lnTo>
                <a:close/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" name="bg object 30"/>
          <p:cNvSpPr/>
          <p:nvPr/>
        </p:nvSpPr>
        <p:spPr>
          <a:xfrm>
            <a:off x="5481104" y="3015626"/>
            <a:ext cx="233679" cy="50800"/>
          </a:xfrm>
          <a:custGeom>
            <a:avLst/>
            <a:gdLst/>
            <a:ahLst/>
            <a:cxnLst/>
            <a:rect l="l" t="t" r="r" b="b"/>
            <a:pathLst>
              <a:path w="233679" h="50800">
                <a:moveTo>
                  <a:pt x="40640" y="50800"/>
                </a:moveTo>
                <a:lnTo>
                  <a:pt x="50400" y="48796"/>
                </a:lnTo>
                <a:lnTo>
                  <a:pt x="58488" y="43339"/>
                </a:lnTo>
                <a:lnTo>
                  <a:pt x="64002" y="35262"/>
                </a:lnTo>
                <a:lnTo>
                  <a:pt x="66040" y="25400"/>
                </a:lnTo>
                <a:lnTo>
                  <a:pt x="64036" y="15537"/>
                </a:lnTo>
                <a:lnTo>
                  <a:pt x="58579" y="7461"/>
                </a:lnTo>
                <a:lnTo>
                  <a:pt x="50502" y="2004"/>
                </a:lnTo>
                <a:lnTo>
                  <a:pt x="40640" y="0"/>
                </a:lnTo>
                <a:lnTo>
                  <a:pt x="30778" y="2004"/>
                </a:lnTo>
                <a:lnTo>
                  <a:pt x="22701" y="7461"/>
                </a:lnTo>
                <a:lnTo>
                  <a:pt x="17244" y="15537"/>
                </a:lnTo>
                <a:lnTo>
                  <a:pt x="15240" y="25400"/>
                </a:lnTo>
              </a:path>
              <a:path w="233679" h="50800">
                <a:moveTo>
                  <a:pt x="30480" y="17780"/>
                </a:moveTo>
                <a:lnTo>
                  <a:pt x="15240" y="30480"/>
                </a:lnTo>
                <a:lnTo>
                  <a:pt x="0" y="17780"/>
                </a:lnTo>
              </a:path>
              <a:path w="233679" h="50800">
                <a:moveTo>
                  <a:pt x="193042" y="50800"/>
                </a:moveTo>
                <a:lnTo>
                  <a:pt x="183180" y="48796"/>
                </a:lnTo>
                <a:lnTo>
                  <a:pt x="175103" y="43339"/>
                </a:lnTo>
                <a:lnTo>
                  <a:pt x="169646" y="35262"/>
                </a:lnTo>
                <a:lnTo>
                  <a:pt x="167642" y="25400"/>
                </a:lnTo>
                <a:lnTo>
                  <a:pt x="169646" y="15537"/>
                </a:lnTo>
                <a:lnTo>
                  <a:pt x="175103" y="7461"/>
                </a:lnTo>
                <a:lnTo>
                  <a:pt x="183180" y="2004"/>
                </a:lnTo>
                <a:lnTo>
                  <a:pt x="193042" y="0"/>
                </a:lnTo>
                <a:lnTo>
                  <a:pt x="202904" y="2004"/>
                </a:lnTo>
                <a:lnTo>
                  <a:pt x="210981" y="7461"/>
                </a:lnTo>
                <a:lnTo>
                  <a:pt x="216438" y="15537"/>
                </a:lnTo>
                <a:lnTo>
                  <a:pt x="218442" y="25400"/>
                </a:lnTo>
              </a:path>
              <a:path w="233679" h="50800">
                <a:moveTo>
                  <a:pt x="233682" y="17780"/>
                </a:moveTo>
                <a:lnTo>
                  <a:pt x="218442" y="30480"/>
                </a:lnTo>
                <a:lnTo>
                  <a:pt x="203202" y="17780"/>
                </a:lnTo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1" name="bg object 31"/>
          <p:cNvSpPr/>
          <p:nvPr/>
        </p:nvSpPr>
        <p:spPr>
          <a:xfrm>
            <a:off x="0" y="0"/>
            <a:ext cx="5760085" cy="349250"/>
          </a:xfrm>
          <a:custGeom>
            <a:avLst/>
            <a:gdLst/>
            <a:ahLst/>
            <a:cxnLst/>
            <a:rect l="l" t="t" r="r" b="b"/>
            <a:pathLst>
              <a:path w="5760085" h="349250">
                <a:moveTo>
                  <a:pt x="5759996" y="0"/>
                </a:moveTo>
                <a:lnTo>
                  <a:pt x="0" y="0"/>
                </a:lnTo>
                <a:lnTo>
                  <a:pt x="0" y="348729"/>
                </a:lnTo>
                <a:lnTo>
                  <a:pt x="5759996" y="348729"/>
                </a:lnTo>
                <a:lnTo>
                  <a:pt x="5759996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dirty="0"/>
              <a:t>Lê</a:t>
            </a:r>
            <a:r>
              <a:rPr spc="-25" dirty="0"/>
              <a:t> </a:t>
            </a:r>
            <a:r>
              <a:rPr dirty="0"/>
              <a:t>Đình</a:t>
            </a:r>
            <a:r>
              <a:rPr spc="-20" dirty="0"/>
              <a:t> </a:t>
            </a:r>
            <a:r>
              <a:rPr dirty="0"/>
              <a:t>Phùng</a:t>
            </a:r>
            <a:r>
              <a:rPr spc="-25" dirty="0"/>
              <a:t> </a:t>
            </a:r>
            <a:r>
              <a:rPr dirty="0"/>
              <a:t>–</a:t>
            </a:r>
            <a:r>
              <a:rPr spc="-20" dirty="0"/>
              <a:t> </a:t>
            </a:r>
            <a:r>
              <a:rPr spc="-10" dirty="0"/>
              <a:t>18130181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dirty="0"/>
              <a:t>Năm</a:t>
            </a:r>
            <a:r>
              <a:rPr spc="-30" dirty="0"/>
              <a:t> </a:t>
            </a:r>
            <a:r>
              <a:rPr dirty="0"/>
              <a:t>học</a:t>
            </a:r>
            <a:r>
              <a:rPr spc="-25" dirty="0"/>
              <a:t> </a:t>
            </a:r>
            <a:r>
              <a:rPr spc="-10" dirty="0"/>
              <a:t>2025–2026</a:t>
            </a:r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79375">
              <a:lnSpc>
                <a:spcPct val="100000"/>
              </a:lnSpc>
              <a:spcBef>
                <a:spcPts val="70"/>
              </a:spcBef>
            </a:pPr>
            <a:fld id="{81D60167-4931-47E6-BA6A-407CBD079E47}" type="slidenum">
              <a:rPr spc="-10" dirty="0"/>
              <a:t>#</a:t>
            </a:fld>
            <a:r>
              <a:rPr spc="-70" dirty="0"/>
              <a:t> </a:t>
            </a:r>
            <a:r>
              <a:rPr dirty="0"/>
              <a:t>/</a:t>
            </a:r>
            <a:r>
              <a:rPr spc="-65" dirty="0"/>
              <a:t> </a:t>
            </a:r>
            <a:r>
              <a:rPr spc="-25" dirty="0"/>
              <a:t>32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4240365" y="3025939"/>
            <a:ext cx="43180" cy="30480"/>
          </a:xfrm>
          <a:custGeom>
            <a:avLst/>
            <a:gdLst/>
            <a:ahLst/>
            <a:cxnLst/>
            <a:rect l="l" t="t" r="r" b="b"/>
            <a:pathLst>
              <a:path w="43179" h="30480">
                <a:moveTo>
                  <a:pt x="0" y="30366"/>
                </a:moveTo>
                <a:lnTo>
                  <a:pt x="43019" y="30366"/>
                </a:lnTo>
                <a:lnTo>
                  <a:pt x="43019" y="0"/>
                </a:lnTo>
                <a:lnTo>
                  <a:pt x="0" y="0"/>
                </a:lnTo>
                <a:lnTo>
                  <a:pt x="0" y="30366"/>
                </a:lnTo>
                <a:close/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bg object 17"/>
          <p:cNvSpPr/>
          <p:nvPr/>
        </p:nvSpPr>
        <p:spPr>
          <a:xfrm>
            <a:off x="4160748" y="3021977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bg object 18"/>
          <p:cNvSpPr/>
          <p:nvPr/>
        </p:nvSpPr>
        <p:spPr>
          <a:xfrm>
            <a:off x="4338551" y="3021977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0" y="0"/>
                </a:moveTo>
                <a:lnTo>
                  <a:pt x="0" y="38100"/>
                </a:lnTo>
                <a:lnTo>
                  <a:pt x="25399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bg object 19"/>
          <p:cNvSpPr/>
          <p:nvPr/>
        </p:nvSpPr>
        <p:spPr>
          <a:xfrm>
            <a:off x="4491036" y="3015626"/>
            <a:ext cx="64135" cy="50800"/>
          </a:xfrm>
          <a:custGeom>
            <a:avLst/>
            <a:gdLst/>
            <a:ahLst/>
            <a:cxnLst/>
            <a:rect l="l" t="t" r="r" b="b"/>
            <a:pathLst>
              <a:path w="64135" h="50800">
                <a:moveTo>
                  <a:pt x="0" y="50800"/>
                </a:moveTo>
                <a:lnTo>
                  <a:pt x="43019" y="50800"/>
                </a:lnTo>
                <a:lnTo>
                  <a:pt x="43019" y="20434"/>
                </a:lnTo>
                <a:lnTo>
                  <a:pt x="0" y="20434"/>
                </a:lnTo>
                <a:lnTo>
                  <a:pt x="0" y="50800"/>
                </a:lnTo>
                <a:close/>
              </a:path>
              <a:path w="64135" h="50800">
                <a:moveTo>
                  <a:pt x="10491" y="20320"/>
                </a:moveTo>
                <a:lnTo>
                  <a:pt x="10491" y="10160"/>
                </a:lnTo>
                <a:lnTo>
                  <a:pt x="53672" y="10160"/>
                </a:lnTo>
                <a:lnTo>
                  <a:pt x="53672" y="40640"/>
                </a:lnTo>
                <a:lnTo>
                  <a:pt x="43512" y="40640"/>
                </a:lnTo>
              </a:path>
              <a:path w="64135" h="50800">
                <a:moveTo>
                  <a:pt x="20652" y="10160"/>
                </a:moveTo>
                <a:lnTo>
                  <a:pt x="20652" y="0"/>
                </a:lnTo>
                <a:lnTo>
                  <a:pt x="63833" y="0"/>
                </a:lnTo>
                <a:lnTo>
                  <a:pt x="63833" y="30480"/>
                </a:lnTo>
                <a:lnTo>
                  <a:pt x="53672" y="30480"/>
                </a:lnTo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bg object 20"/>
          <p:cNvSpPr/>
          <p:nvPr/>
        </p:nvSpPr>
        <p:spPr>
          <a:xfrm>
            <a:off x="4427868" y="3021977"/>
            <a:ext cx="203200" cy="38100"/>
          </a:xfrm>
          <a:custGeom>
            <a:avLst/>
            <a:gdLst/>
            <a:ahLst/>
            <a:cxnLst/>
            <a:rect l="l" t="t" r="r" b="b"/>
            <a:pathLst>
              <a:path w="2032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bg object 21"/>
          <p:cNvSpPr/>
          <p:nvPr/>
        </p:nvSpPr>
        <p:spPr>
          <a:xfrm>
            <a:off x="4783887" y="3028327"/>
            <a:ext cx="38100" cy="0"/>
          </a:xfrm>
          <a:custGeom>
            <a:avLst/>
            <a:gdLst/>
            <a:ahLst/>
            <a:cxnLst/>
            <a:rect l="l" t="t" r="r" b="b"/>
            <a:pathLst>
              <a:path w="38100" h="0">
                <a:moveTo>
                  <a:pt x="0" y="0"/>
                </a:moveTo>
                <a:lnTo>
                  <a:pt x="38101" y="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bg object 22"/>
          <p:cNvSpPr/>
          <p:nvPr/>
        </p:nvSpPr>
        <p:spPr>
          <a:xfrm>
            <a:off x="4694987" y="3021977"/>
            <a:ext cx="203200" cy="38100"/>
          </a:xfrm>
          <a:custGeom>
            <a:avLst/>
            <a:gdLst/>
            <a:ahLst/>
            <a:cxnLst/>
            <a:rect l="l" t="t" r="r" b="b"/>
            <a:pathLst>
              <a:path w="2032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bg object 23"/>
          <p:cNvSpPr/>
          <p:nvPr/>
        </p:nvSpPr>
        <p:spPr>
          <a:xfrm>
            <a:off x="4771187" y="3015627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0" y="0"/>
                </a:moveTo>
                <a:lnTo>
                  <a:pt x="38100" y="0"/>
                </a:lnTo>
              </a:path>
              <a:path w="50800" h="50800">
                <a:moveTo>
                  <a:pt x="12700" y="25400"/>
                </a:moveTo>
                <a:lnTo>
                  <a:pt x="50801" y="25400"/>
                </a:lnTo>
              </a:path>
              <a:path w="50800" h="50800">
                <a:moveTo>
                  <a:pt x="0" y="38100"/>
                </a:moveTo>
                <a:lnTo>
                  <a:pt x="38100" y="38100"/>
                </a:lnTo>
              </a:path>
              <a:path w="50800" h="50800">
                <a:moveTo>
                  <a:pt x="12700" y="50800"/>
                </a:moveTo>
                <a:lnTo>
                  <a:pt x="50801" y="50800"/>
                </a:lnTo>
              </a:path>
            </a:pathLst>
          </a:custGeom>
          <a:ln w="7591">
            <a:solidFill>
              <a:srgbClr val="D6D6E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bg object 24"/>
          <p:cNvSpPr/>
          <p:nvPr/>
        </p:nvSpPr>
        <p:spPr>
          <a:xfrm>
            <a:off x="5038306" y="3015627"/>
            <a:ext cx="50800" cy="25400"/>
          </a:xfrm>
          <a:custGeom>
            <a:avLst/>
            <a:gdLst/>
            <a:ahLst/>
            <a:cxnLst/>
            <a:rect l="l" t="t" r="r" b="b"/>
            <a:pathLst>
              <a:path w="50800" h="25400">
                <a:moveTo>
                  <a:pt x="0" y="0"/>
                </a:moveTo>
                <a:lnTo>
                  <a:pt x="38100" y="0"/>
                </a:lnTo>
              </a:path>
              <a:path w="50800" h="25400">
                <a:moveTo>
                  <a:pt x="12700" y="12700"/>
                </a:moveTo>
                <a:lnTo>
                  <a:pt x="50801" y="12700"/>
                </a:lnTo>
              </a:path>
              <a:path w="50800" h="25400">
                <a:moveTo>
                  <a:pt x="12700" y="25400"/>
                </a:moveTo>
                <a:lnTo>
                  <a:pt x="50801" y="2540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bg object 25"/>
          <p:cNvSpPr/>
          <p:nvPr/>
        </p:nvSpPr>
        <p:spPr>
          <a:xfrm>
            <a:off x="4962106" y="3021977"/>
            <a:ext cx="203200" cy="38100"/>
          </a:xfrm>
          <a:custGeom>
            <a:avLst/>
            <a:gdLst/>
            <a:ahLst/>
            <a:cxnLst/>
            <a:rect l="l" t="t" r="r" b="b"/>
            <a:pathLst>
              <a:path w="2032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bg object 26"/>
          <p:cNvSpPr/>
          <p:nvPr/>
        </p:nvSpPr>
        <p:spPr>
          <a:xfrm>
            <a:off x="5038306" y="3053727"/>
            <a:ext cx="50800" cy="12700"/>
          </a:xfrm>
          <a:custGeom>
            <a:avLst/>
            <a:gdLst/>
            <a:ahLst/>
            <a:cxnLst/>
            <a:rect l="l" t="t" r="r" b="b"/>
            <a:pathLst>
              <a:path w="50800" h="12700">
                <a:moveTo>
                  <a:pt x="0" y="0"/>
                </a:moveTo>
                <a:lnTo>
                  <a:pt x="38100" y="0"/>
                </a:lnTo>
              </a:path>
              <a:path w="50800" h="12700">
                <a:moveTo>
                  <a:pt x="12700" y="12700"/>
                </a:moveTo>
                <a:lnTo>
                  <a:pt x="50801" y="12700"/>
                </a:lnTo>
              </a:path>
            </a:pathLst>
          </a:custGeom>
          <a:ln w="7591">
            <a:solidFill>
              <a:srgbClr val="D6D6E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" name="bg object 27"/>
          <p:cNvSpPr/>
          <p:nvPr/>
        </p:nvSpPr>
        <p:spPr>
          <a:xfrm>
            <a:off x="5305426" y="3015626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0" y="0"/>
                </a:moveTo>
                <a:lnTo>
                  <a:pt x="38100" y="0"/>
                </a:lnTo>
              </a:path>
              <a:path w="50800" h="50800">
                <a:moveTo>
                  <a:pt x="12700" y="12700"/>
                </a:moveTo>
                <a:lnTo>
                  <a:pt x="50801" y="12700"/>
                </a:lnTo>
              </a:path>
              <a:path w="50800" h="50800">
                <a:moveTo>
                  <a:pt x="12700" y="25400"/>
                </a:moveTo>
                <a:lnTo>
                  <a:pt x="50801" y="25400"/>
                </a:lnTo>
              </a:path>
              <a:path w="50800" h="50800">
                <a:moveTo>
                  <a:pt x="0" y="38100"/>
                </a:moveTo>
                <a:lnTo>
                  <a:pt x="38100" y="38100"/>
                </a:lnTo>
              </a:path>
              <a:path w="50800" h="50800">
                <a:moveTo>
                  <a:pt x="12700" y="50800"/>
                </a:moveTo>
                <a:lnTo>
                  <a:pt x="50801" y="5080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bg object 28"/>
          <p:cNvSpPr/>
          <p:nvPr/>
        </p:nvSpPr>
        <p:spPr>
          <a:xfrm>
            <a:off x="5603025" y="3046107"/>
            <a:ext cx="20320" cy="20320"/>
          </a:xfrm>
          <a:custGeom>
            <a:avLst/>
            <a:gdLst/>
            <a:ahLst/>
            <a:cxnLst/>
            <a:rect l="l" t="t" r="r" b="b"/>
            <a:pathLst>
              <a:path w="20320" h="20319">
                <a:moveTo>
                  <a:pt x="0" y="0"/>
                </a:moveTo>
                <a:lnTo>
                  <a:pt x="20321" y="2032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" name="bg object 29"/>
          <p:cNvSpPr/>
          <p:nvPr/>
        </p:nvSpPr>
        <p:spPr>
          <a:xfrm>
            <a:off x="5575961" y="3019612"/>
            <a:ext cx="30480" cy="30480"/>
          </a:xfrm>
          <a:custGeom>
            <a:avLst/>
            <a:gdLst/>
            <a:ahLst/>
            <a:cxnLst/>
            <a:rect l="l" t="t" r="r" b="b"/>
            <a:pathLst>
              <a:path w="30479" h="30480">
                <a:moveTo>
                  <a:pt x="30367" y="15183"/>
                </a:moveTo>
                <a:lnTo>
                  <a:pt x="30367" y="6797"/>
                </a:lnTo>
                <a:lnTo>
                  <a:pt x="23568" y="0"/>
                </a:lnTo>
                <a:lnTo>
                  <a:pt x="15183" y="0"/>
                </a:lnTo>
                <a:lnTo>
                  <a:pt x="6797" y="0"/>
                </a:lnTo>
                <a:lnTo>
                  <a:pt x="0" y="6797"/>
                </a:lnTo>
                <a:lnTo>
                  <a:pt x="0" y="15183"/>
                </a:lnTo>
                <a:lnTo>
                  <a:pt x="0" y="23568"/>
                </a:lnTo>
                <a:lnTo>
                  <a:pt x="6797" y="30366"/>
                </a:lnTo>
                <a:lnTo>
                  <a:pt x="15183" y="30366"/>
                </a:lnTo>
                <a:lnTo>
                  <a:pt x="23568" y="30366"/>
                </a:lnTo>
                <a:lnTo>
                  <a:pt x="30367" y="23568"/>
                </a:lnTo>
                <a:lnTo>
                  <a:pt x="30367" y="15183"/>
                </a:lnTo>
                <a:close/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" name="bg object 30"/>
          <p:cNvSpPr/>
          <p:nvPr/>
        </p:nvSpPr>
        <p:spPr>
          <a:xfrm>
            <a:off x="5481104" y="3015626"/>
            <a:ext cx="233679" cy="50800"/>
          </a:xfrm>
          <a:custGeom>
            <a:avLst/>
            <a:gdLst/>
            <a:ahLst/>
            <a:cxnLst/>
            <a:rect l="l" t="t" r="r" b="b"/>
            <a:pathLst>
              <a:path w="233679" h="50800">
                <a:moveTo>
                  <a:pt x="40640" y="50800"/>
                </a:moveTo>
                <a:lnTo>
                  <a:pt x="50400" y="48796"/>
                </a:lnTo>
                <a:lnTo>
                  <a:pt x="58488" y="43339"/>
                </a:lnTo>
                <a:lnTo>
                  <a:pt x="64002" y="35262"/>
                </a:lnTo>
                <a:lnTo>
                  <a:pt x="66040" y="25400"/>
                </a:lnTo>
                <a:lnTo>
                  <a:pt x="64036" y="15537"/>
                </a:lnTo>
                <a:lnTo>
                  <a:pt x="58579" y="7461"/>
                </a:lnTo>
                <a:lnTo>
                  <a:pt x="50502" y="2004"/>
                </a:lnTo>
                <a:lnTo>
                  <a:pt x="40640" y="0"/>
                </a:lnTo>
                <a:lnTo>
                  <a:pt x="30778" y="2004"/>
                </a:lnTo>
                <a:lnTo>
                  <a:pt x="22701" y="7461"/>
                </a:lnTo>
                <a:lnTo>
                  <a:pt x="17244" y="15537"/>
                </a:lnTo>
                <a:lnTo>
                  <a:pt x="15240" y="25400"/>
                </a:lnTo>
              </a:path>
              <a:path w="233679" h="50800">
                <a:moveTo>
                  <a:pt x="30480" y="17780"/>
                </a:moveTo>
                <a:lnTo>
                  <a:pt x="15240" y="30480"/>
                </a:lnTo>
                <a:lnTo>
                  <a:pt x="0" y="17780"/>
                </a:lnTo>
              </a:path>
              <a:path w="233679" h="50800">
                <a:moveTo>
                  <a:pt x="193042" y="50800"/>
                </a:moveTo>
                <a:lnTo>
                  <a:pt x="183180" y="48796"/>
                </a:lnTo>
                <a:lnTo>
                  <a:pt x="175103" y="43339"/>
                </a:lnTo>
                <a:lnTo>
                  <a:pt x="169646" y="35262"/>
                </a:lnTo>
                <a:lnTo>
                  <a:pt x="167642" y="25400"/>
                </a:lnTo>
                <a:lnTo>
                  <a:pt x="169646" y="15537"/>
                </a:lnTo>
                <a:lnTo>
                  <a:pt x="175103" y="7461"/>
                </a:lnTo>
                <a:lnTo>
                  <a:pt x="183180" y="2004"/>
                </a:lnTo>
                <a:lnTo>
                  <a:pt x="193042" y="0"/>
                </a:lnTo>
                <a:lnTo>
                  <a:pt x="202904" y="2004"/>
                </a:lnTo>
                <a:lnTo>
                  <a:pt x="210981" y="7461"/>
                </a:lnTo>
                <a:lnTo>
                  <a:pt x="216438" y="15537"/>
                </a:lnTo>
                <a:lnTo>
                  <a:pt x="218442" y="25400"/>
                </a:lnTo>
              </a:path>
              <a:path w="233679" h="50800">
                <a:moveTo>
                  <a:pt x="233682" y="17780"/>
                </a:moveTo>
                <a:lnTo>
                  <a:pt x="218442" y="30480"/>
                </a:lnTo>
                <a:lnTo>
                  <a:pt x="203202" y="17780"/>
                </a:lnTo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5300" y="-13557"/>
            <a:ext cx="5575198" cy="3423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7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35928" y="921077"/>
            <a:ext cx="4013835" cy="154241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72478" y="3115174"/>
            <a:ext cx="954405" cy="1193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dirty="0"/>
              <a:t>Lê</a:t>
            </a:r>
            <a:r>
              <a:rPr spc="-25" dirty="0"/>
              <a:t> </a:t>
            </a:r>
            <a:r>
              <a:rPr dirty="0"/>
              <a:t>Đình</a:t>
            </a:r>
            <a:r>
              <a:rPr spc="-20" dirty="0"/>
              <a:t> </a:t>
            </a:r>
            <a:r>
              <a:rPr dirty="0"/>
              <a:t>Phùng</a:t>
            </a:r>
            <a:r>
              <a:rPr spc="-25" dirty="0"/>
              <a:t> </a:t>
            </a:r>
            <a:r>
              <a:rPr dirty="0"/>
              <a:t>–</a:t>
            </a:r>
            <a:r>
              <a:rPr spc="-20" dirty="0"/>
              <a:t> </a:t>
            </a:r>
            <a:r>
              <a:rPr spc="-10" dirty="0"/>
              <a:t>18130181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327245" y="3115174"/>
            <a:ext cx="730250" cy="1193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dirty="0"/>
              <a:t>Năm</a:t>
            </a:r>
            <a:r>
              <a:rPr spc="-30" dirty="0"/>
              <a:t> </a:t>
            </a:r>
            <a:r>
              <a:rPr dirty="0"/>
              <a:t>học</a:t>
            </a:r>
            <a:r>
              <a:rPr spc="-25" dirty="0"/>
              <a:t> </a:t>
            </a:r>
            <a:r>
              <a:rPr spc="-10" dirty="0"/>
              <a:t>2025–2026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26989" y="3115174"/>
            <a:ext cx="266700" cy="1193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79375">
              <a:lnSpc>
                <a:spcPct val="100000"/>
              </a:lnSpc>
              <a:spcBef>
                <a:spcPts val="70"/>
              </a:spcBef>
            </a:pPr>
            <a:fld id="{81D60167-4931-47E6-BA6A-407CBD079E47}" type="slidenum">
              <a:rPr spc="-10" dirty="0"/>
              <a:t>#</a:t>
            </a:fld>
            <a:r>
              <a:rPr spc="-70" dirty="0"/>
              <a:t> </a:t>
            </a:r>
            <a:r>
              <a:rPr dirty="0"/>
              <a:t>/</a:t>
            </a:r>
            <a:r>
              <a:rPr spc="-65" dirty="0"/>
              <a:t> </a:t>
            </a:r>
            <a:r>
              <a:rPr spc="-25" dirty="0"/>
              <a:t>32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" Target="slide32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slide" Target="slide3.xml"/><Relationship Id="rId4" Type="http://schemas.openxmlformats.org/officeDocument/2006/relationships/slide" Target="slide6.xml"/><Relationship Id="rId5" Type="http://schemas.openxmlformats.org/officeDocument/2006/relationships/slide" Target="slide10.xml"/><Relationship Id="rId6" Type="http://schemas.openxmlformats.org/officeDocument/2006/relationships/slide" Target="slide23.xml"/><Relationship Id="rId7" Type="http://schemas.openxmlformats.org/officeDocument/2006/relationships/slide" Target="slide24.xml"/><Relationship Id="rId8" Type="http://schemas.openxmlformats.org/officeDocument/2006/relationships/slide" Target="slide30.xml"/><Relationship Id="rId9" Type="http://schemas.openxmlformats.org/officeDocument/2006/relationships/slide" Target="slide31.xml"/><Relationship Id="rId10" Type="http://schemas.openxmlformats.org/officeDocument/2006/relationships/image" Target="../media/image2.png"/><Relationship Id="rId11" Type="http://schemas.openxmlformats.org/officeDocument/2006/relationships/image" Target="../media/image3.png"/><Relationship Id="rId12" Type="http://schemas.openxmlformats.org/officeDocument/2006/relationships/image" Target="../media/image4.png"/><Relationship Id="rId13" Type="http://schemas.openxmlformats.org/officeDocument/2006/relationships/image" Target="../media/image5.png"/><Relationship Id="rId14" Type="http://schemas.openxmlformats.org/officeDocument/2006/relationships/image" Target="../media/image6.png"/><Relationship Id="rId15" Type="http://schemas.openxmlformats.org/officeDocument/2006/relationships/image" Target="../media/image7.png"/><Relationship Id="rId16" Type="http://schemas.openxmlformats.org/officeDocument/2006/relationships/slide" Target="slide3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" Target="slide32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" Target="slide32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8.jpg"/><Relationship Id="rId3" Type="http://schemas.openxmlformats.org/officeDocument/2006/relationships/slide" Target="slide32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" Target="slide32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" Target="slide32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slide" Target="slide32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" Target="slide32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" Target="slide1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9.png"/><Relationship Id="rId3" Type="http://schemas.openxmlformats.org/officeDocument/2006/relationships/slide" Target="slide1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0.png"/><Relationship Id="rId3" Type="http://schemas.openxmlformats.org/officeDocument/2006/relationships/slide" Target="slide1.xml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" Target="slide1.xml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1.jpg"/><Relationship Id="rId3" Type="http://schemas.openxmlformats.org/officeDocument/2006/relationships/slide" Target="slide1.xml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2.png"/><Relationship Id="rId3" Type="http://schemas.openxmlformats.org/officeDocument/2006/relationships/slide" Target="slide1.xml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3.png"/><Relationship Id="rId3" Type="http://schemas.openxmlformats.org/officeDocument/2006/relationships/slide" Target="slide1.xml"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4.png"/><Relationship Id="rId3" Type="http://schemas.openxmlformats.org/officeDocument/2006/relationships/slide" Target="slide1.xml"/></Relationships>
</file>

<file path=ppt/slides/_rels/slide1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5.png"/><Relationship Id="rId3" Type="http://schemas.openxmlformats.org/officeDocument/2006/relationships/slide" Target="slide1.xml"/></Relationships>
</file>

<file path=ppt/slides/_rels/slide1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" Target="slide1.xml"/></Relationships>
</file>

<file path=ppt/slides/_rels/slide2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6.png"/><Relationship Id="rId3" Type="http://schemas.openxmlformats.org/officeDocument/2006/relationships/slide" Target="slide1.xml"/></Relationships>
</file>

<file path=ppt/slides/_rels/slide2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7.png"/><Relationship Id="rId3" Type="http://schemas.openxmlformats.org/officeDocument/2006/relationships/slide" Target="slide1.xml"/></Relationships>
</file>

<file path=ppt/slides/_rels/slide2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8.jpg"/><Relationship Id="rId3" Type="http://schemas.openxmlformats.org/officeDocument/2006/relationships/slide" Target="slide1.xml"/></Relationships>
</file>

<file path=ppt/slides/_rels/slide2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" Target="slide1.xml"/></Relationships>
</file>

<file path=ppt/slides/_rels/slide2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" Target="slide1.xml"/></Relationships>
</file>

<file path=ppt/slides/_rels/slide2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" Target="slide1.xml"/></Relationships>
</file>

<file path=ppt/slides/_rels/slide2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" Target="slide1.xml"/></Relationships>
</file>

<file path=ppt/slides/_rels/slide2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" Target="slide1.xml"/></Relationships>
</file>

<file path=ppt/slides/_rels/slide2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" Target="slide1.xml"/></Relationships>
</file>

<file path=ppt/slides/_rels/slide2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" Target="slide1.xml"/></Relationships>
</file>

<file path=ppt/slides/_rels/slide3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" Target="slide1.xml"/></Relationships>
</file>

<file path=ppt/slides/_rels/slide3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" Target="slide1.xml"/></Relationships>
</file>

<file path=ppt/slides/_rels/slide3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slide" Target="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0" y="3013096"/>
            <a:ext cx="5760085" cy="227329"/>
            <a:chOff x="0" y="3013096"/>
            <a:chExt cx="5760085" cy="227329"/>
          </a:xfrm>
        </p:grpSpPr>
        <p:sp>
          <p:nvSpPr>
            <p:cNvPr id="3" name="object 3" descr=""/>
            <p:cNvSpPr/>
            <p:nvPr/>
          </p:nvSpPr>
          <p:spPr>
            <a:xfrm>
              <a:off x="0" y="3110712"/>
              <a:ext cx="1920239" cy="129539"/>
            </a:xfrm>
            <a:custGeom>
              <a:avLst/>
              <a:gdLst/>
              <a:ahLst/>
              <a:cxnLst/>
              <a:rect l="l" t="t" r="r" b="b"/>
              <a:pathLst>
                <a:path w="1920239" h="129539">
                  <a:moveTo>
                    <a:pt x="1919973" y="0"/>
                  </a:moveTo>
                  <a:lnTo>
                    <a:pt x="0" y="0"/>
                  </a:lnTo>
                  <a:lnTo>
                    <a:pt x="0" y="129286"/>
                  </a:lnTo>
                  <a:lnTo>
                    <a:pt x="1919973" y="129286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 descr=""/>
            <p:cNvSpPr/>
            <p:nvPr/>
          </p:nvSpPr>
          <p:spPr>
            <a:xfrm>
              <a:off x="1919973" y="3110712"/>
              <a:ext cx="1920239" cy="129539"/>
            </a:xfrm>
            <a:custGeom>
              <a:avLst/>
              <a:gdLst/>
              <a:ahLst/>
              <a:cxnLst/>
              <a:rect l="l" t="t" r="r" b="b"/>
              <a:pathLst>
                <a:path w="1920239" h="129539">
                  <a:moveTo>
                    <a:pt x="1919973" y="0"/>
                  </a:moveTo>
                  <a:lnTo>
                    <a:pt x="0" y="0"/>
                  </a:lnTo>
                  <a:lnTo>
                    <a:pt x="0" y="129286"/>
                  </a:lnTo>
                  <a:lnTo>
                    <a:pt x="1919973" y="129286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3839946" y="3110712"/>
              <a:ext cx="1920239" cy="129539"/>
            </a:xfrm>
            <a:custGeom>
              <a:avLst/>
              <a:gdLst/>
              <a:ahLst/>
              <a:cxnLst/>
              <a:rect l="l" t="t" r="r" b="b"/>
              <a:pathLst>
                <a:path w="1920239" h="129539">
                  <a:moveTo>
                    <a:pt x="1919973" y="0"/>
                  </a:moveTo>
                  <a:lnTo>
                    <a:pt x="0" y="0"/>
                  </a:lnTo>
                  <a:lnTo>
                    <a:pt x="0" y="129286"/>
                  </a:lnTo>
                  <a:lnTo>
                    <a:pt x="1919973" y="129286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2181860">
              <a:lnSpc>
                <a:spcPct val="100000"/>
              </a:lnSpc>
              <a:spcBef>
                <a:spcPts val="114"/>
              </a:spcBef>
            </a:pPr>
            <a:r>
              <a:rPr sz="2050" b="1" dirty="0">
                <a:solidFill>
                  <a:srgbClr val="000000"/>
                </a:solidFill>
                <a:latin typeface="Arial"/>
                <a:cs typeface="Arial"/>
              </a:rPr>
              <a:t>BÁO</a:t>
            </a:r>
            <a:r>
              <a:rPr sz="2050" b="1" spc="-12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050" b="1" spc="-25" dirty="0">
                <a:solidFill>
                  <a:srgbClr val="000000"/>
                </a:solidFill>
                <a:latin typeface="Arial"/>
                <a:cs typeface="Arial"/>
              </a:rPr>
              <a:t>CÁO</a:t>
            </a:r>
            <a:endParaRPr sz="2050">
              <a:latin typeface="Arial"/>
              <a:cs typeface="Arial"/>
            </a:endParaRPr>
          </a:p>
        </p:txBody>
      </p:sp>
      <p:sp>
        <p:nvSpPr>
          <p:cNvPr id="10" name="object 10" descr="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dirty="0"/>
              <a:t>Lê</a:t>
            </a:r>
            <a:r>
              <a:rPr spc="-25" dirty="0"/>
              <a:t> </a:t>
            </a:r>
            <a:r>
              <a:rPr dirty="0"/>
              <a:t>Đình</a:t>
            </a:r>
            <a:r>
              <a:rPr spc="-20" dirty="0"/>
              <a:t> </a:t>
            </a:r>
            <a:r>
              <a:rPr dirty="0"/>
              <a:t>Phùng</a:t>
            </a:r>
            <a:r>
              <a:rPr spc="-25" dirty="0"/>
              <a:t> </a:t>
            </a:r>
            <a:r>
              <a:rPr dirty="0"/>
              <a:t>–</a:t>
            </a:r>
            <a:r>
              <a:rPr spc="-20" dirty="0"/>
              <a:t> </a:t>
            </a:r>
            <a:r>
              <a:rPr spc="-10" dirty="0"/>
              <a:t>18130181</a:t>
            </a:r>
          </a:p>
        </p:txBody>
      </p:sp>
      <p:sp>
        <p:nvSpPr>
          <p:cNvPr id="11" name="object 11" descr=""/>
          <p:cNvSpPr txBox="1"/>
          <p:nvPr/>
        </p:nvSpPr>
        <p:spPr>
          <a:xfrm>
            <a:off x="2584627" y="3115174"/>
            <a:ext cx="591185" cy="119380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600" dirty="0">
                <a:solidFill>
                  <a:srgbClr val="00AEEF"/>
                </a:solidFill>
                <a:latin typeface="Arial"/>
                <a:cs typeface="Arial"/>
                <a:hlinkClick r:id="rId2" action="ppaction://hlinksldjump"/>
              </a:rPr>
              <a:t>Cải</a:t>
            </a:r>
            <a:r>
              <a:rPr sz="600" spc="-30" dirty="0">
                <a:solidFill>
                  <a:srgbClr val="00AEEF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sz="600" dirty="0">
                <a:solidFill>
                  <a:srgbClr val="00AEEF"/>
                </a:solidFill>
                <a:latin typeface="Arial"/>
                <a:cs typeface="Arial"/>
                <a:hlinkClick r:id="rId2" action="ppaction://hlinksldjump"/>
              </a:rPr>
              <a:t>Thiện</a:t>
            </a:r>
            <a:r>
              <a:rPr sz="600" spc="-30" dirty="0">
                <a:solidFill>
                  <a:srgbClr val="00AEEF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sz="600" spc="-10" dirty="0">
                <a:solidFill>
                  <a:srgbClr val="00AEEF"/>
                </a:solidFill>
                <a:latin typeface="Arial"/>
                <a:cs typeface="Arial"/>
                <a:hlinkClick r:id="rId2" action="ppaction://hlinksldjump"/>
              </a:rPr>
              <a:t>Apriori</a:t>
            </a:r>
            <a:endParaRPr sz="600">
              <a:latin typeface="Arial"/>
              <a:cs typeface="Arial"/>
            </a:endParaRPr>
          </a:p>
        </p:txBody>
      </p:sp>
      <p:sp>
        <p:nvSpPr>
          <p:cNvPr id="12" name="object 12" descr="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dirty="0"/>
              <a:t>Năm</a:t>
            </a:r>
            <a:r>
              <a:rPr spc="-30" dirty="0"/>
              <a:t> </a:t>
            </a:r>
            <a:r>
              <a:rPr dirty="0"/>
              <a:t>học</a:t>
            </a:r>
            <a:r>
              <a:rPr spc="-25" dirty="0"/>
              <a:t> </a:t>
            </a:r>
            <a:r>
              <a:rPr spc="-10" dirty="0"/>
              <a:t>2025–2026</a:t>
            </a:r>
          </a:p>
        </p:txBody>
      </p:sp>
      <p:sp>
        <p:nvSpPr>
          <p:cNvPr id="13" name="object 13" descr="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79375">
              <a:lnSpc>
                <a:spcPct val="100000"/>
              </a:lnSpc>
              <a:spcBef>
                <a:spcPts val="70"/>
              </a:spcBef>
            </a:pPr>
            <a:fld id="{81D60167-4931-47E6-BA6A-407CBD079E47}" type="slidenum">
              <a:rPr spc="-10" dirty="0"/>
              <a:t>3</a:t>
            </a:fld>
            <a:r>
              <a:rPr spc="-70" dirty="0"/>
              <a:t> </a:t>
            </a:r>
            <a:r>
              <a:rPr dirty="0"/>
              <a:t>/</a:t>
            </a:r>
            <a:r>
              <a:rPr spc="-65" dirty="0"/>
              <a:t> </a:t>
            </a:r>
            <a:r>
              <a:rPr spc="-25" dirty="0"/>
              <a:t>32</a:t>
            </a:r>
          </a:p>
        </p:txBody>
      </p:sp>
      <p:sp>
        <p:nvSpPr>
          <p:cNvPr id="7" name="object 7" descr=""/>
          <p:cNvSpPr txBox="1"/>
          <p:nvPr/>
        </p:nvSpPr>
        <p:spPr>
          <a:xfrm>
            <a:off x="655421" y="547904"/>
            <a:ext cx="4433570" cy="760730"/>
          </a:xfrm>
          <a:prstGeom prst="rect">
            <a:avLst/>
          </a:prstGeom>
        </p:spPr>
        <p:txBody>
          <a:bodyPr vert="horz" wrap="square" lIns="0" tIns="12065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50"/>
              </a:spcBef>
            </a:pPr>
            <a:r>
              <a:rPr sz="1700" b="1" dirty="0">
                <a:latin typeface="Arial"/>
                <a:cs typeface="Arial"/>
              </a:rPr>
              <a:t>CHỦ</a:t>
            </a:r>
            <a:r>
              <a:rPr sz="1700" b="1" spc="-25" dirty="0">
                <a:latin typeface="Arial"/>
                <a:cs typeface="Arial"/>
              </a:rPr>
              <a:t> </a:t>
            </a:r>
            <a:r>
              <a:rPr sz="1700" b="1" dirty="0">
                <a:latin typeface="Arial"/>
                <a:cs typeface="Arial"/>
              </a:rPr>
              <a:t>ĐỀ:</a:t>
            </a:r>
            <a:r>
              <a:rPr sz="1700" b="1" spc="-20" dirty="0">
                <a:latin typeface="Arial"/>
                <a:cs typeface="Arial"/>
              </a:rPr>
              <a:t> </a:t>
            </a:r>
            <a:r>
              <a:rPr sz="1700" i="1" dirty="0">
                <a:latin typeface="Arial"/>
                <a:cs typeface="Arial"/>
              </a:rPr>
              <a:t>CẢI</a:t>
            </a:r>
            <a:r>
              <a:rPr sz="1700" i="1" spc="-20" dirty="0">
                <a:latin typeface="Arial"/>
                <a:cs typeface="Arial"/>
              </a:rPr>
              <a:t> </a:t>
            </a:r>
            <a:r>
              <a:rPr sz="1700" i="1" dirty="0">
                <a:latin typeface="Arial"/>
                <a:cs typeface="Arial"/>
              </a:rPr>
              <a:t>THIỆN</a:t>
            </a:r>
            <a:r>
              <a:rPr sz="1700" i="1" spc="-20" dirty="0">
                <a:latin typeface="Arial"/>
                <a:cs typeface="Arial"/>
              </a:rPr>
              <a:t> </a:t>
            </a:r>
            <a:r>
              <a:rPr sz="1700" i="1" spc="-25" dirty="0">
                <a:latin typeface="Arial"/>
                <a:cs typeface="Arial"/>
              </a:rPr>
              <a:t>THUẬT</a:t>
            </a:r>
            <a:r>
              <a:rPr sz="1700" i="1" spc="-20" dirty="0">
                <a:latin typeface="Arial"/>
                <a:cs typeface="Arial"/>
              </a:rPr>
              <a:t> </a:t>
            </a:r>
            <a:r>
              <a:rPr sz="1700" i="1" dirty="0">
                <a:latin typeface="Arial"/>
                <a:cs typeface="Arial"/>
              </a:rPr>
              <a:t>TOÁN</a:t>
            </a:r>
            <a:r>
              <a:rPr sz="1700" i="1" spc="-20" dirty="0">
                <a:latin typeface="Arial"/>
                <a:cs typeface="Arial"/>
              </a:rPr>
              <a:t> </a:t>
            </a:r>
            <a:r>
              <a:rPr sz="1700" i="1" spc="-10" dirty="0">
                <a:latin typeface="Arial"/>
                <a:cs typeface="Arial"/>
              </a:rPr>
              <a:t>APRIORI</a:t>
            </a:r>
            <a:endParaRPr sz="1700">
              <a:latin typeface="Arial"/>
              <a:cs typeface="Arial"/>
            </a:endParaRPr>
          </a:p>
          <a:p>
            <a:pPr marL="15240" algn="ctr">
              <a:lnSpc>
                <a:spcPct val="100000"/>
              </a:lnSpc>
              <a:spcBef>
                <a:spcPts val="855"/>
              </a:spcBef>
            </a:pPr>
            <a:r>
              <a:rPr sz="1700" b="1" dirty="0">
                <a:latin typeface="Arial"/>
                <a:cs typeface="Arial"/>
              </a:rPr>
              <a:t>Môn</a:t>
            </a:r>
            <a:r>
              <a:rPr sz="1700" b="1" spc="40" dirty="0">
                <a:latin typeface="Arial"/>
                <a:cs typeface="Arial"/>
              </a:rPr>
              <a:t> </a:t>
            </a:r>
            <a:r>
              <a:rPr sz="1700" b="1" dirty="0">
                <a:latin typeface="Arial"/>
                <a:cs typeface="Arial"/>
              </a:rPr>
              <a:t>học:</a:t>
            </a:r>
            <a:r>
              <a:rPr sz="1700" b="1" spc="40" dirty="0">
                <a:latin typeface="Arial"/>
                <a:cs typeface="Arial"/>
              </a:rPr>
              <a:t> </a:t>
            </a:r>
            <a:r>
              <a:rPr sz="1700" b="1" dirty="0">
                <a:latin typeface="Arial"/>
                <a:cs typeface="Arial"/>
              </a:rPr>
              <a:t>Data</a:t>
            </a:r>
            <a:r>
              <a:rPr sz="1700" b="1" spc="40" dirty="0">
                <a:latin typeface="Arial"/>
                <a:cs typeface="Arial"/>
              </a:rPr>
              <a:t> </a:t>
            </a:r>
            <a:r>
              <a:rPr sz="1700" b="1" spc="-10" dirty="0">
                <a:latin typeface="Arial"/>
                <a:cs typeface="Arial"/>
              </a:rPr>
              <a:t>Mining</a:t>
            </a:r>
            <a:endParaRPr sz="1700">
              <a:latin typeface="Arial"/>
              <a:cs typeface="Arial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135928" y="1860776"/>
            <a:ext cx="2998470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b="1" dirty="0">
                <a:latin typeface="Arial"/>
                <a:cs typeface="Arial"/>
              </a:rPr>
              <a:t>Giảng</a:t>
            </a:r>
            <a:r>
              <a:rPr sz="1200" b="1" spc="-35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viên</a:t>
            </a:r>
            <a:r>
              <a:rPr sz="1200" b="1" spc="-35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phụ</a:t>
            </a:r>
            <a:r>
              <a:rPr sz="1200" b="1" spc="-35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trách:</a:t>
            </a:r>
            <a:r>
              <a:rPr sz="1200" b="1" spc="-3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ThS.</a:t>
            </a:r>
            <a:r>
              <a:rPr sz="1200" spc="-35" dirty="0">
                <a:latin typeface="Arial"/>
                <a:cs typeface="Arial"/>
              </a:rPr>
              <a:t> </a:t>
            </a:r>
            <a:r>
              <a:rPr sz="1200" spc="-20" dirty="0">
                <a:latin typeface="Arial"/>
                <a:cs typeface="Arial"/>
              </a:rPr>
              <a:t>Trần</a:t>
            </a:r>
            <a:r>
              <a:rPr sz="1200" spc="-3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Quốc</a:t>
            </a:r>
            <a:r>
              <a:rPr sz="1200" spc="-35" dirty="0">
                <a:latin typeface="Arial"/>
                <a:cs typeface="Arial"/>
              </a:rPr>
              <a:t> </a:t>
            </a:r>
            <a:r>
              <a:rPr sz="1200" spc="-20" dirty="0">
                <a:latin typeface="Arial"/>
                <a:cs typeface="Arial"/>
              </a:rPr>
              <a:t>Việt</a:t>
            </a:r>
            <a:endParaRPr sz="1200">
              <a:latin typeface="Arial"/>
              <a:cs typeface="Arial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135928" y="2611727"/>
            <a:ext cx="2381250" cy="3911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b="1" dirty="0">
                <a:latin typeface="Arial"/>
                <a:cs typeface="Arial"/>
              </a:rPr>
              <a:t>Sinh</a:t>
            </a:r>
            <a:r>
              <a:rPr sz="1200" b="1" spc="-35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viên</a:t>
            </a:r>
            <a:r>
              <a:rPr sz="1200" b="1" spc="-30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thực</a:t>
            </a:r>
            <a:r>
              <a:rPr sz="1200" b="1" spc="-30" dirty="0">
                <a:latin typeface="Arial"/>
                <a:cs typeface="Arial"/>
              </a:rPr>
              <a:t> </a:t>
            </a:r>
            <a:r>
              <a:rPr sz="1200" b="1" spc="-10" dirty="0">
                <a:latin typeface="Arial"/>
                <a:cs typeface="Arial"/>
              </a:rPr>
              <a:t>hiện:</a:t>
            </a: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200" dirty="0">
                <a:latin typeface="Arial"/>
                <a:cs typeface="Arial"/>
              </a:rPr>
              <a:t>Lê</a:t>
            </a:r>
            <a:r>
              <a:rPr sz="1200" spc="-2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Đình</a:t>
            </a:r>
            <a:r>
              <a:rPr sz="1200" spc="-1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Phùng</a:t>
            </a:r>
            <a:r>
              <a:rPr sz="1200" spc="-1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–</a:t>
            </a:r>
            <a:r>
              <a:rPr sz="1200" spc="-15" dirty="0">
                <a:latin typeface="Arial"/>
                <a:cs typeface="Arial"/>
              </a:rPr>
              <a:t> </a:t>
            </a:r>
            <a:r>
              <a:rPr sz="1200" spc="-25" dirty="0">
                <a:latin typeface="Arial"/>
                <a:cs typeface="Arial"/>
              </a:rPr>
              <a:t>MSSV:</a:t>
            </a:r>
            <a:r>
              <a:rPr sz="1200" spc="-15" dirty="0">
                <a:latin typeface="Arial"/>
                <a:cs typeface="Arial"/>
              </a:rPr>
              <a:t> </a:t>
            </a:r>
            <a:r>
              <a:rPr sz="1200" spc="-10" dirty="0">
                <a:latin typeface="Arial"/>
                <a:cs typeface="Arial"/>
              </a:rPr>
              <a:t>18130181</a:t>
            </a:r>
            <a:endParaRPr sz="1200">
              <a:latin typeface="Arial"/>
              <a:cs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fast">
        <p:cut thruBlk="0"/>
      </p:transition>
    </mc:Choice>
    <mc:Fallback>
      <p:transition spd="fast">
        <p:cut thruBlk="0"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0"/>
            <a:ext cx="5760085" cy="349250"/>
          </a:xfrm>
          <a:custGeom>
            <a:avLst/>
            <a:gdLst/>
            <a:ahLst/>
            <a:cxnLst/>
            <a:rect l="l" t="t" r="r" b="b"/>
            <a:pathLst>
              <a:path w="5760085" h="349250">
                <a:moveTo>
                  <a:pt x="5759996" y="0"/>
                </a:moveTo>
                <a:lnTo>
                  <a:pt x="0" y="0"/>
                </a:lnTo>
                <a:lnTo>
                  <a:pt x="0" y="348729"/>
                </a:lnTo>
                <a:lnTo>
                  <a:pt x="5759996" y="348729"/>
                </a:lnTo>
                <a:lnTo>
                  <a:pt x="5759996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5300" y="40457"/>
            <a:ext cx="2319655" cy="2882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/>
              <a:t>NỘI</a:t>
            </a:r>
            <a:r>
              <a:rPr spc="45" dirty="0"/>
              <a:t> </a:t>
            </a:r>
            <a:r>
              <a:rPr dirty="0"/>
              <a:t>DUNG</a:t>
            </a:r>
            <a:r>
              <a:rPr spc="50" dirty="0"/>
              <a:t> </a:t>
            </a:r>
            <a:r>
              <a:rPr dirty="0"/>
              <a:t>TRÌNH</a:t>
            </a:r>
            <a:r>
              <a:rPr spc="50" dirty="0"/>
              <a:t> </a:t>
            </a:r>
            <a:r>
              <a:rPr spc="-35" dirty="0"/>
              <a:t>BÀY</a:t>
            </a:r>
          </a:p>
        </p:txBody>
      </p:sp>
      <p:pic>
        <p:nvPicPr>
          <p:cNvPr id="4" name="object 4" descr=""/>
          <p:cNvPicPr/>
          <p:nvPr/>
        </p:nvPicPr>
        <p:blipFill>
          <a:blip r:embed="rId2"/>
          <a:stretch>
            <a:fillRect/>
          </a:stretch>
        </p:blipFill>
        <p:spPr>
          <a:xfrm>
            <a:off x="83045" y="581596"/>
            <a:ext cx="213169" cy="213169"/>
          </a:xfrm>
          <a:prstGeom prst="rect">
            <a:avLst/>
          </a:prstGeom>
        </p:spPr>
      </p:pic>
      <p:sp>
        <p:nvSpPr>
          <p:cNvPr id="5" name="object 5" descr=""/>
          <p:cNvSpPr txBox="1"/>
          <p:nvPr/>
        </p:nvSpPr>
        <p:spPr>
          <a:xfrm>
            <a:off x="148780" y="610995"/>
            <a:ext cx="8191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b="1" spc="-50" dirty="0">
                <a:solidFill>
                  <a:srgbClr val="EAEAF7"/>
                </a:solidFill>
                <a:latin typeface="Arial"/>
                <a:cs typeface="Arial"/>
              </a:rPr>
              <a:t>1</a:t>
            </a:r>
            <a:endParaRPr sz="800">
              <a:latin typeface="Arial"/>
              <a:cs typeface="Arial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361403" y="581035"/>
            <a:ext cx="2905760" cy="2174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b="1" dirty="0">
                <a:solidFill>
                  <a:srgbClr val="00AEEF"/>
                </a:solidFill>
                <a:latin typeface="Arial"/>
                <a:cs typeface="Arial"/>
                <a:hlinkClick r:id="rId3" action="ppaction://hlinksldjump"/>
              </a:rPr>
              <a:t>GIỚI</a:t>
            </a:r>
            <a:r>
              <a:rPr sz="1200" b="1" spc="-85" dirty="0">
                <a:solidFill>
                  <a:srgbClr val="00AEE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1200" b="1" spc="-10" dirty="0">
                <a:solidFill>
                  <a:srgbClr val="00AEEF"/>
                </a:solidFill>
                <a:latin typeface="Arial"/>
                <a:cs typeface="Arial"/>
                <a:hlinkClick r:id="rId3" action="ppaction://hlinksldjump"/>
              </a:rPr>
              <a:t>THIỆU</a:t>
            </a:r>
            <a:endParaRPr sz="1200">
              <a:latin typeface="Arial"/>
              <a:cs typeface="Arial"/>
            </a:endParaRPr>
          </a:p>
          <a:p>
            <a:pPr marL="12700" marR="5080">
              <a:lnSpc>
                <a:spcPts val="2670"/>
              </a:lnSpc>
              <a:spcBef>
                <a:spcPts val="55"/>
              </a:spcBef>
            </a:pPr>
            <a:r>
              <a:rPr sz="1200" b="1" spc="-10" dirty="0">
                <a:solidFill>
                  <a:srgbClr val="00AEEF"/>
                </a:solidFill>
                <a:latin typeface="Arial"/>
                <a:cs typeface="Arial"/>
                <a:hlinkClick r:id="rId4" action="ppaction://hlinksldjump"/>
              </a:rPr>
              <a:t>PHƯƠNG</a:t>
            </a:r>
            <a:r>
              <a:rPr sz="1200" b="1" spc="-55" dirty="0">
                <a:solidFill>
                  <a:srgbClr val="00AEEF"/>
                </a:solidFill>
                <a:latin typeface="Arial"/>
                <a:cs typeface="Arial"/>
                <a:hlinkClick r:id="rId4" action="ppaction://hlinksldjump"/>
              </a:rPr>
              <a:t> </a:t>
            </a:r>
            <a:r>
              <a:rPr sz="1200" b="1" dirty="0">
                <a:solidFill>
                  <a:srgbClr val="00AEEF"/>
                </a:solidFill>
                <a:latin typeface="Arial"/>
                <a:cs typeface="Arial"/>
                <a:hlinkClick r:id="rId4" action="ppaction://hlinksldjump"/>
              </a:rPr>
              <a:t>PHÁP:</a:t>
            </a:r>
            <a:r>
              <a:rPr sz="1200" b="1" spc="-55" dirty="0">
                <a:solidFill>
                  <a:srgbClr val="00AEEF"/>
                </a:solidFill>
                <a:latin typeface="Arial"/>
                <a:cs typeface="Arial"/>
                <a:hlinkClick r:id="rId4" action="ppaction://hlinksldjump"/>
              </a:rPr>
              <a:t> </a:t>
            </a:r>
            <a:r>
              <a:rPr sz="1200" b="1" spc="-25" dirty="0">
                <a:solidFill>
                  <a:srgbClr val="00AEEF"/>
                </a:solidFill>
                <a:latin typeface="Arial"/>
                <a:cs typeface="Arial"/>
                <a:hlinkClick r:id="rId4" action="ppaction://hlinksldjump"/>
              </a:rPr>
              <a:t>THUẬT</a:t>
            </a:r>
            <a:r>
              <a:rPr sz="1200" b="1" spc="-50" dirty="0">
                <a:solidFill>
                  <a:srgbClr val="00AEEF"/>
                </a:solidFill>
                <a:latin typeface="Arial"/>
                <a:cs typeface="Arial"/>
                <a:hlinkClick r:id="rId4" action="ppaction://hlinksldjump"/>
              </a:rPr>
              <a:t> </a:t>
            </a:r>
            <a:r>
              <a:rPr sz="1200" b="1" spc="-10" dirty="0">
                <a:solidFill>
                  <a:srgbClr val="00AEEF"/>
                </a:solidFill>
                <a:latin typeface="Arial"/>
                <a:cs typeface="Arial"/>
                <a:hlinkClick r:id="rId4" action="ppaction://hlinksldjump"/>
              </a:rPr>
              <a:t>TOÁN</a:t>
            </a:r>
            <a:r>
              <a:rPr sz="1200" b="1" spc="-55" dirty="0">
                <a:solidFill>
                  <a:srgbClr val="00AEEF"/>
                </a:solidFill>
                <a:latin typeface="Arial"/>
                <a:cs typeface="Arial"/>
                <a:hlinkClick r:id="rId4" action="ppaction://hlinksldjump"/>
              </a:rPr>
              <a:t> </a:t>
            </a:r>
            <a:r>
              <a:rPr sz="1200" b="1" spc="-10" dirty="0">
                <a:solidFill>
                  <a:srgbClr val="00AEEF"/>
                </a:solidFill>
                <a:latin typeface="Arial"/>
                <a:cs typeface="Arial"/>
                <a:hlinkClick r:id="rId4" action="ppaction://hlinksldjump"/>
              </a:rPr>
              <a:t>APRIORI</a:t>
            </a:r>
            <a:r>
              <a:rPr sz="1200" b="1" spc="-10" dirty="0">
                <a:solidFill>
                  <a:srgbClr val="00AEEF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00AEEF"/>
                </a:solidFill>
                <a:latin typeface="Arial"/>
                <a:cs typeface="Arial"/>
                <a:hlinkClick r:id="rId5" action="ppaction://hlinksldjump"/>
              </a:rPr>
              <a:t>TRIỂN</a:t>
            </a:r>
            <a:r>
              <a:rPr sz="1200" b="1" spc="-45" dirty="0">
                <a:solidFill>
                  <a:srgbClr val="00AEEF"/>
                </a:solidFill>
                <a:latin typeface="Arial"/>
                <a:cs typeface="Arial"/>
                <a:hlinkClick r:id="rId5" action="ppaction://hlinksldjump"/>
              </a:rPr>
              <a:t> </a:t>
            </a:r>
            <a:r>
              <a:rPr sz="1200" b="1" spc="-20" dirty="0">
                <a:solidFill>
                  <a:srgbClr val="00AEEF"/>
                </a:solidFill>
                <a:latin typeface="Arial"/>
                <a:cs typeface="Arial"/>
                <a:hlinkClick r:id="rId5" action="ppaction://hlinksldjump"/>
              </a:rPr>
              <a:t>KHAI</a:t>
            </a: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705"/>
              </a:spcBef>
            </a:pPr>
            <a:r>
              <a:rPr sz="1200" b="1" dirty="0">
                <a:solidFill>
                  <a:srgbClr val="00AEEF"/>
                </a:solidFill>
                <a:latin typeface="Arial"/>
                <a:cs typeface="Arial"/>
                <a:hlinkClick r:id="rId6" action="ppaction://hlinksldjump"/>
              </a:rPr>
              <a:t>HẠN</a:t>
            </a:r>
            <a:r>
              <a:rPr sz="1200" b="1" spc="-30" dirty="0">
                <a:solidFill>
                  <a:srgbClr val="00AEEF"/>
                </a:solidFill>
                <a:latin typeface="Arial"/>
                <a:cs typeface="Arial"/>
                <a:hlinkClick r:id="rId6" action="ppaction://hlinksldjump"/>
              </a:rPr>
              <a:t> </a:t>
            </a:r>
            <a:r>
              <a:rPr sz="1200" b="1" dirty="0">
                <a:solidFill>
                  <a:srgbClr val="00AEEF"/>
                </a:solidFill>
                <a:latin typeface="Arial"/>
                <a:cs typeface="Arial"/>
                <a:hlinkClick r:id="rId6" action="ppaction://hlinksldjump"/>
              </a:rPr>
              <a:t>CHẾ</a:t>
            </a:r>
            <a:r>
              <a:rPr sz="1200" b="1" spc="-30" dirty="0">
                <a:solidFill>
                  <a:srgbClr val="00AEEF"/>
                </a:solidFill>
                <a:latin typeface="Arial"/>
                <a:cs typeface="Arial"/>
                <a:hlinkClick r:id="rId6" action="ppaction://hlinksldjump"/>
              </a:rPr>
              <a:t> </a:t>
            </a:r>
            <a:r>
              <a:rPr sz="1200" b="1" dirty="0">
                <a:solidFill>
                  <a:srgbClr val="00AEEF"/>
                </a:solidFill>
                <a:latin typeface="Arial"/>
                <a:cs typeface="Arial"/>
                <a:hlinkClick r:id="rId6" action="ppaction://hlinksldjump"/>
              </a:rPr>
              <a:t>CỦA</a:t>
            </a:r>
            <a:r>
              <a:rPr sz="1200" b="1" spc="-30" dirty="0">
                <a:solidFill>
                  <a:srgbClr val="00AEEF"/>
                </a:solidFill>
                <a:latin typeface="Arial"/>
                <a:cs typeface="Arial"/>
                <a:hlinkClick r:id="rId6" action="ppaction://hlinksldjump"/>
              </a:rPr>
              <a:t> </a:t>
            </a:r>
            <a:r>
              <a:rPr sz="1200" b="1" spc="-10" dirty="0">
                <a:solidFill>
                  <a:srgbClr val="00AEEF"/>
                </a:solidFill>
                <a:latin typeface="Arial"/>
                <a:cs typeface="Arial"/>
                <a:hlinkClick r:id="rId6" action="ppaction://hlinksldjump"/>
              </a:rPr>
              <a:t>APRIORI</a:t>
            </a:r>
            <a:endParaRPr sz="1200">
              <a:latin typeface="Arial"/>
              <a:cs typeface="Arial"/>
            </a:endParaRPr>
          </a:p>
          <a:p>
            <a:pPr marL="12700" marR="1062990">
              <a:lnSpc>
                <a:spcPts val="2700"/>
              </a:lnSpc>
            </a:pPr>
            <a:r>
              <a:rPr sz="1200" b="1" dirty="0">
                <a:solidFill>
                  <a:srgbClr val="00AEEF"/>
                </a:solidFill>
                <a:latin typeface="Arial"/>
                <a:cs typeface="Arial"/>
                <a:hlinkClick r:id="rId7" action="ppaction://hlinksldjump"/>
              </a:rPr>
              <a:t>CÁCH</a:t>
            </a:r>
            <a:r>
              <a:rPr sz="1200" b="1" spc="-70" dirty="0">
                <a:solidFill>
                  <a:srgbClr val="00AEEF"/>
                </a:solidFill>
                <a:latin typeface="Arial"/>
                <a:cs typeface="Arial"/>
                <a:hlinkClick r:id="rId7" action="ppaction://hlinksldjump"/>
              </a:rPr>
              <a:t> </a:t>
            </a:r>
            <a:r>
              <a:rPr sz="1200" b="1" dirty="0">
                <a:solidFill>
                  <a:srgbClr val="00AEEF"/>
                </a:solidFill>
                <a:latin typeface="Arial"/>
                <a:cs typeface="Arial"/>
                <a:hlinkClick r:id="rId7" action="ppaction://hlinksldjump"/>
              </a:rPr>
              <a:t>CẢI</a:t>
            </a:r>
            <a:r>
              <a:rPr sz="1200" b="1" spc="-65" dirty="0">
                <a:solidFill>
                  <a:srgbClr val="00AEEF"/>
                </a:solidFill>
                <a:latin typeface="Arial"/>
                <a:cs typeface="Arial"/>
                <a:hlinkClick r:id="rId7" action="ppaction://hlinksldjump"/>
              </a:rPr>
              <a:t> </a:t>
            </a:r>
            <a:r>
              <a:rPr sz="1200" b="1" spc="-10" dirty="0">
                <a:solidFill>
                  <a:srgbClr val="00AEEF"/>
                </a:solidFill>
                <a:latin typeface="Arial"/>
                <a:cs typeface="Arial"/>
                <a:hlinkClick r:id="rId7" action="ppaction://hlinksldjump"/>
              </a:rPr>
              <a:t>THIỆN</a:t>
            </a:r>
            <a:r>
              <a:rPr sz="1200" b="1" spc="-10" dirty="0">
                <a:solidFill>
                  <a:srgbClr val="00AEEF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00AEEF"/>
                </a:solidFill>
                <a:latin typeface="Arial"/>
                <a:cs typeface="Arial"/>
                <a:hlinkClick r:id="rId8" action="ppaction://hlinksldjump"/>
              </a:rPr>
              <a:t>KHUYẾN</a:t>
            </a:r>
            <a:r>
              <a:rPr sz="1200" b="1" spc="-40" dirty="0">
                <a:solidFill>
                  <a:srgbClr val="00AEEF"/>
                </a:solidFill>
                <a:latin typeface="Arial"/>
                <a:cs typeface="Arial"/>
                <a:hlinkClick r:id="rId8" action="ppaction://hlinksldjump"/>
              </a:rPr>
              <a:t> </a:t>
            </a:r>
            <a:r>
              <a:rPr sz="1200" b="1" dirty="0">
                <a:solidFill>
                  <a:srgbClr val="00AEEF"/>
                </a:solidFill>
                <a:latin typeface="Arial"/>
                <a:cs typeface="Arial"/>
                <a:hlinkClick r:id="rId8" action="ppaction://hlinksldjump"/>
              </a:rPr>
              <a:t>NGHỊ</a:t>
            </a:r>
            <a:r>
              <a:rPr sz="1200" b="1" spc="-40" dirty="0">
                <a:solidFill>
                  <a:srgbClr val="00AEEF"/>
                </a:solidFill>
                <a:latin typeface="Arial"/>
                <a:cs typeface="Arial"/>
                <a:hlinkClick r:id="rId8" action="ppaction://hlinksldjump"/>
              </a:rPr>
              <a:t> </a:t>
            </a:r>
            <a:r>
              <a:rPr sz="1200" b="1" dirty="0">
                <a:solidFill>
                  <a:srgbClr val="00AEEF"/>
                </a:solidFill>
                <a:latin typeface="Arial"/>
                <a:cs typeface="Arial"/>
                <a:hlinkClick r:id="rId8" action="ppaction://hlinksldjump"/>
              </a:rPr>
              <a:t>SỬ</a:t>
            </a:r>
            <a:r>
              <a:rPr sz="1200" b="1" spc="-35" dirty="0">
                <a:solidFill>
                  <a:srgbClr val="00AEEF"/>
                </a:solidFill>
                <a:latin typeface="Arial"/>
                <a:cs typeface="Arial"/>
                <a:hlinkClick r:id="rId8" action="ppaction://hlinksldjump"/>
              </a:rPr>
              <a:t> </a:t>
            </a:r>
            <a:r>
              <a:rPr sz="1200" b="1" spc="-20" dirty="0">
                <a:solidFill>
                  <a:srgbClr val="00AEEF"/>
                </a:solidFill>
                <a:latin typeface="Arial"/>
                <a:cs typeface="Arial"/>
                <a:hlinkClick r:id="rId8" action="ppaction://hlinksldjump"/>
              </a:rPr>
              <a:t>DỤNG</a:t>
            </a:r>
            <a:r>
              <a:rPr sz="1200" b="1" spc="-20" dirty="0">
                <a:solidFill>
                  <a:srgbClr val="00AEEF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00AEEF"/>
                </a:solidFill>
                <a:latin typeface="Arial"/>
                <a:cs typeface="Arial"/>
                <a:hlinkClick r:id="rId9" action="ppaction://hlinksldjump"/>
              </a:rPr>
              <a:t>KẾT</a:t>
            </a:r>
            <a:r>
              <a:rPr sz="1200" b="1" spc="-30" dirty="0">
                <a:solidFill>
                  <a:srgbClr val="00AEEF"/>
                </a:solidFill>
                <a:latin typeface="Arial"/>
                <a:cs typeface="Arial"/>
                <a:hlinkClick r:id="rId9" action="ppaction://hlinksldjump"/>
              </a:rPr>
              <a:t> </a:t>
            </a:r>
            <a:r>
              <a:rPr sz="1200" b="1" spc="-20" dirty="0">
                <a:solidFill>
                  <a:srgbClr val="00AEEF"/>
                </a:solidFill>
                <a:latin typeface="Arial"/>
                <a:cs typeface="Arial"/>
                <a:hlinkClick r:id="rId9" action="ppaction://hlinksldjump"/>
              </a:rPr>
              <a:t>LUẬN</a:t>
            </a:r>
            <a:endParaRPr sz="1200">
              <a:latin typeface="Arial"/>
              <a:cs typeface="Arial"/>
            </a:endParaRPr>
          </a:p>
        </p:txBody>
      </p:sp>
      <p:pic>
        <p:nvPicPr>
          <p:cNvPr id="7" name="object 7" descr=""/>
          <p:cNvPicPr/>
          <p:nvPr/>
        </p:nvPicPr>
        <p:blipFill>
          <a:blip r:embed="rId10"/>
          <a:stretch>
            <a:fillRect/>
          </a:stretch>
        </p:blipFill>
        <p:spPr>
          <a:xfrm>
            <a:off x="83045" y="890727"/>
            <a:ext cx="213169" cy="213169"/>
          </a:xfrm>
          <a:prstGeom prst="rect">
            <a:avLst/>
          </a:prstGeom>
        </p:spPr>
      </p:pic>
      <p:sp>
        <p:nvSpPr>
          <p:cNvPr id="8" name="object 8" descr=""/>
          <p:cNvSpPr txBox="1"/>
          <p:nvPr/>
        </p:nvSpPr>
        <p:spPr>
          <a:xfrm>
            <a:off x="148780" y="920126"/>
            <a:ext cx="8191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b="1" spc="-50" dirty="0">
                <a:solidFill>
                  <a:srgbClr val="EAEAF7"/>
                </a:solidFill>
                <a:latin typeface="Arial"/>
                <a:cs typeface="Arial"/>
              </a:rPr>
              <a:t>2</a:t>
            </a:r>
            <a:endParaRPr sz="800">
              <a:latin typeface="Arial"/>
              <a:cs typeface="Arial"/>
            </a:endParaRPr>
          </a:p>
        </p:txBody>
      </p:sp>
      <p:pic>
        <p:nvPicPr>
          <p:cNvPr id="9" name="object 9" descr=""/>
          <p:cNvPicPr/>
          <p:nvPr/>
        </p:nvPicPr>
        <p:blipFill>
          <a:blip r:embed="rId11"/>
          <a:stretch>
            <a:fillRect/>
          </a:stretch>
        </p:blipFill>
        <p:spPr>
          <a:xfrm>
            <a:off x="83045" y="1229906"/>
            <a:ext cx="213169" cy="213169"/>
          </a:xfrm>
          <a:prstGeom prst="rect">
            <a:avLst/>
          </a:prstGeom>
        </p:spPr>
      </p:pic>
      <p:sp>
        <p:nvSpPr>
          <p:cNvPr id="10" name="object 10" descr=""/>
          <p:cNvSpPr txBox="1"/>
          <p:nvPr/>
        </p:nvSpPr>
        <p:spPr>
          <a:xfrm>
            <a:off x="148780" y="1258454"/>
            <a:ext cx="8191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b="1" spc="-50" dirty="0">
                <a:solidFill>
                  <a:srgbClr val="EAEAF7"/>
                </a:solidFill>
                <a:latin typeface="Arial"/>
                <a:cs typeface="Arial"/>
              </a:rPr>
              <a:t>3</a:t>
            </a:r>
            <a:endParaRPr sz="800">
              <a:latin typeface="Arial"/>
              <a:cs typeface="Arial"/>
            </a:endParaRPr>
          </a:p>
        </p:txBody>
      </p:sp>
      <p:pic>
        <p:nvPicPr>
          <p:cNvPr id="11" name="object 11" descr=""/>
          <p:cNvPicPr/>
          <p:nvPr/>
        </p:nvPicPr>
        <p:blipFill>
          <a:blip r:embed="rId12"/>
          <a:stretch>
            <a:fillRect/>
          </a:stretch>
        </p:blipFill>
        <p:spPr>
          <a:xfrm>
            <a:off x="83045" y="1539036"/>
            <a:ext cx="213169" cy="213169"/>
          </a:xfrm>
          <a:prstGeom prst="rect">
            <a:avLst/>
          </a:prstGeom>
        </p:spPr>
      </p:pic>
      <p:sp>
        <p:nvSpPr>
          <p:cNvPr id="12" name="object 12" descr=""/>
          <p:cNvSpPr txBox="1"/>
          <p:nvPr/>
        </p:nvSpPr>
        <p:spPr>
          <a:xfrm>
            <a:off x="148780" y="1568448"/>
            <a:ext cx="8191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b="1" spc="-50" dirty="0">
                <a:solidFill>
                  <a:srgbClr val="EAEAF7"/>
                </a:solidFill>
                <a:latin typeface="Arial"/>
                <a:cs typeface="Arial"/>
              </a:rPr>
              <a:t>4</a:t>
            </a:r>
            <a:endParaRPr sz="800">
              <a:latin typeface="Arial"/>
              <a:cs typeface="Arial"/>
            </a:endParaRPr>
          </a:p>
        </p:txBody>
      </p:sp>
      <p:pic>
        <p:nvPicPr>
          <p:cNvPr id="13" name="object 13" descr=""/>
          <p:cNvPicPr/>
          <p:nvPr/>
        </p:nvPicPr>
        <p:blipFill>
          <a:blip r:embed="rId13"/>
          <a:stretch>
            <a:fillRect/>
          </a:stretch>
        </p:blipFill>
        <p:spPr>
          <a:xfrm>
            <a:off x="83045" y="1861146"/>
            <a:ext cx="213169" cy="213169"/>
          </a:xfrm>
          <a:prstGeom prst="rect">
            <a:avLst/>
          </a:prstGeom>
        </p:spPr>
      </p:pic>
      <p:sp>
        <p:nvSpPr>
          <p:cNvPr id="14" name="object 14" descr=""/>
          <p:cNvSpPr txBox="1"/>
          <p:nvPr/>
        </p:nvSpPr>
        <p:spPr>
          <a:xfrm>
            <a:off x="148780" y="1889695"/>
            <a:ext cx="8191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b="1" spc="-50" dirty="0">
                <a:solidFill>
                  <a:srgbClr val="EAEAF7"/>
                </a:solidFill>
                <a:latin typeface="Arial"/>
                <a:cs typeface="Arial"/>
              </a:rPr>
              <a:t>5</a:t>
            </a:r>
            <a:endParaRPr sz="800">
              <a:latin typeface="Arial"/>
              <a:cs typeface="Arial"/>
            </a:endParaRPr>
          </a:p>
        </p:txBody>
      </p:sp>
      <p:pic>
        <p:nvPicPr>
          <p:cNvPr id="15" name="object 15" descr=""/>
          <p:cNvPicPr/>
          <p:nvPr/>
        </p:nvPicPr>
        <p:blipFill>
          <a:blip r:embed="rId14"/>
          <a:stretch>
            <a:fillRect/>
          </a:stretch>
        </p:blipFill>
        <p:spPr>
          <a:xfrm>
            <a:off x="83045" y="2204440"/>
            <a:ext cx="213169" cy="213169"/>
          </a:xfrm>
          <a:prstGeom prst="rect">
            <a:avLst/>
          </a:prstGeom>
        </p:spPr>
      </p:pic>
      <p:sp>
        <p:nvSpPr>
          <p:cNvPr id="16" name="object 16" descr=""/>
          <p:cNvSpPr txBox="1"/>
          <p:nvPr/>
        </p:nvSpPr>
        <p:spPr>
          <a:xfrm>
            <a:off x="148780" y="2232988"/>
            <a:ext cx="8191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b="1" spc="-50" dirty="0">
                <a:solidFill>
                  <a:srgbClr val="EAEAF7"/>
                </a:solidFill>
                <a:latin typeface="Arial"/>
                <a:cs typeface="Arial"/>
              </a:rPr>
              <a:t>6</a:t>
            </a:r>
            <a:endParaRPr sz="800">
              <a:latin typeface="Arial"/>
              <a:cs typeface="Arial"/>
            </a:endParaRPr>
          </a:p>
        </p:txBody>
      </p:sp>
      <p:pic>
        <p:nvPicPr>
          <p:cNvPr id="17" name="object 17" descr=""/>
          <p:cNvPicPr/>
          <p:nvPr/>
        </p:nvPicPr>
        <p:blipFill>
          <a:blip r:embed="rId15"/>
          <a:stretch>
            <a:fillRect/>
          </a:stretch>
        </p:blipFill>
        <p:spPr>
          <a:xfrm>
            <a:off x="83032" y="2547721"/>
            <a:ext cx="213169" cy="213169"/>
          </a:xfrm>
          <a:prstGeom prst="rect">
            <a:avLst/>
          </a:prstGeom>
        </p:spPr>
      </p:pic>
      <p:sp>
        <p:nvSpPr>
          <p:cNvPr id="18" name="object 18" descr=""/>
          <p:cNvSpPr txBox="1"/>
          <p:nvPr/>
        </p:nvSpPr>
        <p:spPr>
          <a:xfrm>
            <a:off x="148780" y="2577133"/>
            <a:ext cx="8191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b="1" spc="-50" dirty="0">
                <a:solidFill>
                  <a:srgbClr val="EAEAF7"/>
                </a:solidFill>
                <a:latin typeface="Arial"/>
                <a:cs typeface="Arial"/>
              </a:rPr>
              <a:t>7</a:t>
            </a:r>
            <a:endParaRPr sz="800">
              <a:latin typeface="Arial"/>
              <a:cs typeface="Arial"/>
            </a:endParaRPr>
          </a:p>
        </p:txBody>
      </p:sp>
      <p:grpSp>
        <p:nvGrpSpPr>
          <p:cNvPr id="19" name="object 19" descr=""/>
          <p:cNvGrpSpPr/>
          <p:nvPr/>
        </p:nvGrpSpPr>
        <p:grpSpPr>
          <a:xfrm>
            <a:off x="0" y="3110712"/>
            <a:ext cx="5760085" cy="129539"/>
            <a:chOff x="0" y="3110712"/>
            <a:chExt cx="5760085" cy="129539"/>
          </a:xfrm>
        </p:grpSpPr>
        <p:sp>
          <p:nvSpPr>
            <p:cNvPr id="20" name="object 20" descr=""/>
            <p:cNvSpPr/>
            <p:nvPr/>
          </p:nvSpPr>
          <p:spPr>
            <a:xfrm>
              <a:off x="0" y="3110712"/>
              <a:ext cx="1920239" cy="129539"/>
            </a:xfrm>
            <a:custGeom>
              <a:avLst/>
              <a:gdLst/>
              <a:ahLst/>
              <a:cxnLst/>
              <a:rect l="l" t="t" r="r" b="b"/>
              <a:pathLst>
                <a:path w="1920239" h="129539">
                  <a:moveTo>
                    <a:pt x="1919973" y="0"/>
                  </a:moveTo>
                  <a:lnTo>
                    <a:pt x="0" y="0"/>
                  </a:lnTo>
                  <a:lnTo>
                    <a:pt x="0" y="129286"/>
                  </a:lnTo>
                  <a:lnTo>
                    <a:pt x="1919973" y="129286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 descr=""/>
            <p:cNvSpPr/>
            <p:nvPr/>
          </p:nvSpPr>
          <p:spPr>
            <a:xfrm>
              <a:off x="1919973" y="3110712"/>
              <a:ext cx="1920239" cy="129539"/>
            </a:xfrm>
            <a:custGeom>
              <a:avLst/>
              <a:gdLst/>
              <a:ahLst/>
              <a:cxnLst/>
              <a:rect l="l" t="t" r="r" b="b"/>
              <a:pathLst>
                <a:path w="1920239" h="129539">
                  <a:moveTo>
                    <a:pt x="1919973" y="0"/>
                  </a:moveTo>
                  <a:lnTo>
                    <a:pt x="0" y="0"/>
                  </a:lnTo>
                  <a:lnTo>
                    <a:pt x="0" y="129285"/>
                  </a:lnTo>
                  <a:lnTo>
                    <a:pt x="1919973" y="129285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 descr=""/>
            <p:cNvSpPr/>
            <p:nvPr/>
          </p:nvSpPr>
          <p:spPr>
            <a:xfrm>
              <a:off x="3839933" y="3110712"/>
              <a:ext cx="1920239" cy="129539"/>
            </a:xfrm>
            <a:custGeom>
              <a:avLst/>
              <a:gdLst/>
              <a:ahLst/>
              <a:cxnLst/>
              <a:rect l="l" t="t" r="r" b="b"/>
              <a:pathLst>
                <a:path w="1920239" h="129539">
                  <a:moveTo>
                    <a:pt x="1919973" y="0"/>
                  </a:moveTo>
                  <a:lnTo>
                    <a:pt x="0" y="0"/>
                  </a:lnTo>
                  <a:lnTo>
                    <a:pt x="0" y="129285"/>
                  </a:lnTo>
                  <a:lnTo>
                    <a:pt x="1919973" y="129285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3" name="object 23" descr="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dirty="0"/>
              <a:t>Lê</a:t>
            </a:r>
            <a:r>
              <a:rPr spc="-25" dirty="0"/>
              <a:t> </a:t>
            </a:r>
            <a:r>
              <a:rPr dirty="0"/>
              <a:t>Đình</a:t>
            </a:r>
            <a:r>
              <a:rPr spc="-20" dirty="0"/>
              <a:t> </a:t>
            </a:r>
            <a:r>
              <a:rPr dirty="0"/>
              <a:t>Phùng</a:t>
            </a:r>
            <a:r>
              <a:rPr spc="-25" dirty="0"/>
              <a:t> </a:t>
            </a:r>
            <a:r>
              <a:rPr dirty="0"/>
              <a:t>–</a:t>
            </a:r>
            <a:r>
              <a:rPr spc="-20" dirty="0"/>
              <a:t> </a:t>
            </a:r>
            <a:r>
              <a:rPr spc="-10" dirty="0"/>
              <a:t>18130181</a:t>
            </a:r>
          </a:p>
        </p:txBody>
      </p:sp>
      <p:sp>
        <p:nvSpPr>
          <p:cNvPr id="24" name="object 24" descr=""/>
          <p:cNvSpPr txBox="1"/>
          <p:nvPr/>
        </p:nvSpPr>
        <p:spPr>
          <a:xfrm>
            <a:off x="2584627" y="3115174"/>
            <a:ext cx="591185" cy="119380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600" dirty="0">
                <a:solidFill>
                  <a:srgbClr val="00AEEF"/>
                </a:solidFill>
                <a:latin typeface="Arial"/>
                <a:cs typeface="Arial"/>
                <a:hlinkClick r:id="rId16" action="ppaction://hlinksldjump"/>
              </a:rPr>
              <a:t>Cải</a:t>
            </a:r>
            <a:r>
              <a:rPr sz="600" spc="-30" dirty="0">
                <a:solidFill>
                  <a:srgbClr val="00AEEF"/>
                </a:solidFill>
                <a:latin typeface="Arial"/>
                <a:cs typeface="Arial"/>
                <a:hlinkClick r:id="rId16" action="ppaction://hlinksldjump"/>
              </a:rPr>
              <a:t> </a:t>
            </a:r>
            <a:r>
              <a:rPr sz="600" dirty="0">
                <a:solidFill>
                  <a:srgbClr val="00AEEF"/>
                </a:solidFill>
                <a:latin typeface="Arial"/>
                <a:cs typeface="Arial"/>
                <a:hlinkClick r:id="rId16" action="ppaction://hlinksldjump"/>
              </a:rPr>
              <a:t>Thiện</a:t>
            </a:r>
            <a:r>
              <a:rPr sz="600" spc="-30" dirty="0">
                <a:solidFill>
                  <a:srgbClr val="00AEEF"/>
                </a:solidFill>
                <a:latin typeface="Arial"/>
                <a:cs typeface="Arial"/>
                <a:hlinkClick r:id="rId16" action="ppaction://hlinksldjump"/>
              </a:rPr>
              <a:t> </a:t>
            </a:r>
            <a:r>
              <a:rPr sz="600" spc="-10" dirty="0">
                <a:solidFill>
                  <a:srgbClr val="00AEEF"/>
                </a:solidFill>
                <a:latin typeface="Arial"/>
                <a:cs typeface="Arial"/>
                <a:hlinkClick r:id="rId16" action="ppaction://hlinksldjump"/>
              </a:rPr>
              <a:t>Apriori</a:t>
            </a:r>
            <a:endParaRPr sz="600">
              <a:latin typeface="Arial"/>
              <a:cs typeface="Arial"/>
            </a:endParaRPr>
          </a:p>
        </p:txBody>
      </p:sp>
      <p:sp>
        <p:nvSpPr>
          <p:cNvPr id="25" name="object 25" descr="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dirty="0"/>
              <a:t>Năm</a:t>
            </a:r>
            <a:r>
              <a:rPr spc="-30" dirty="0"/>
              <a:t> </a:t>
            </a:r>
            <a:r>
              <a:rPr dirty="0"/>
              <a:t>học</a:t>
            </a:r>
            <a:r>
              <a:rPr spc="-25" dirty="0"/>
              <a:t> </a:t>
            </a:r>
            <a:r>
              <a:rPr spc="-10" dirty="0"/>
              <a:t>2025–2026</a:t>
            </a:r>
          </a:p>
        </p:txBody>
      </p:sp>
      <p:sp>
        <p:nvSpPr>
          <p:cNvPr id="26" name="object 26" descr="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79375">
              <a:lnSpc>
                <a:spcPct val="100000"/>
              </a:lnSpc>
              <a:spcBef>
                <a:spcPts val="70"/>
              </a:spcBef>
            </a:pPr>
            <a:fld id="{81D60167-4931-47E6-BA6A-407CBD079E47}" type="slidenum">
              <a:rPr spc="-10" dirty="0"/>
              <a:t>3</a:t>
            </a:fld>
            <a:r>
              <a:rPr spc="-70" dirty="0"/>
              <a:t> </a:t>
            </a:r>
            <a:r>
              <a:rPr dirty="0"/>
              <a:t>/</a:t>
            </a:r>
            <a:r>
              <a:rPr spc="-65" dirty="0"/>
              <a:t> </a:t>
            </a:r>
            <a:r>
              <a:rPr spc="-25" dirty="0"/>
              <a:t>32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fast">
        <p:cut thruBlk="0"/>
      </p:transition>
    </mc:Choice>
    <mc:Fallback>
      <p:transition spd="fast">
        <p:cut thruBlk="0"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0"/>
            <a:ext cx="5760085" cy="349250"/>
          </a:xfrm>
          <a:custGeom>
            <a:avLst/>
            <a:gdLst/>
            <a:ahLst/>
            <a:cxnLst/>
            <a:rect l="l" t="t" r="r" b="b"/>
            <a:pathLst>
              <a:path w="5760085" h="349250">
                <a:moveTo>
                  <a:pt x="5759996" y="0"/>
                </a:moveTo>
                <a:lnTo>
                  <a:pt x="0" y="0"/>
                </a:lnTo>
                <a:lnTo>
                  <a:pt x="0" y="348729"/>
                </a:lnTo>
                <a:lnTo>
                  <a:pt x="5759996" y="348729"/>
                </a:lnTo>
                <a:lnTo>
                  <a:pt x="5759996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925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/>
              <a:t>GIỚI</a:t>
            </a:r>
            <a:r>
              <a:rPr spc="-110" dirty="0"/>
              <a:t> </a:t>
            </a:r>
            <a:r>
              <a:rPr spc="45" dirty="0"/>
              <a:t>THIfiU</a:t>
            </a:r>
          </a:p>
        </p:txBody>
      </p:sp>
      <p:sp>
        <p:nvSpPr>
          <p:cNvPr id="4" name="object 4" descr=""/>
          <p:cNvSpPr txBox="1"/>
          <p:nvPr/>
        </p:nvSpPr>
        <p:spPr>
          <a:xfrm>
            <a:off x="135928" y="452371"/>
            <a:ext cx="3940810" cy="100711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dirty="0">
                <a:latin typeface="Arial"/>
                <a:cs typeface="Arial"/>
              </a:rPr>
              <a:t>Market</a:t>
            </a:r>
            <a:r>
              <a:rPr sz="1400" spc="5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Basket</a:t>
            </a:r>
            <a:r>
              <a:rPr sz="1400" spc="5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Analysis</a:t>
            </a:r>
            <a:r>
              <a:rPr sz="1400" spc="6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là</a:t>
            </a:r>
            <a:r>
              <a:rPr sz="1400" spc="55" dirty="0">
                <a:latin typeface="Arial"/>
                <a:cs typeface="Arial"/>
              </a:rPr>
              <a:t> </a:t>
            </a:r>
            <a:r>
              <a:rPr sz="1400" spc="-25" dirty="0">
                <a:latin typeface="Arial"/>
                <a:cs typeface="Arial"/>
              </a:rPr>
              <a:t>gì?</a:t>
            </a:r>
            <a:endParaRPr sz="1400">
              <a:latin typeface="Arial"/>
              <a:cs typeface="Arial"/>
            </a:endParaRPr>
          </a:p>
          <a:p>
            <a:pPr marL="309880" marR="358775">
              <a:lnSpc>
                <a:spcPct val="121100"/>
              </a:lnSpc>
              <a:spcBef>
                <a:spcPts val="780"/>
              </a:spcBef>
            </a:pPr>
            <a:r>
              <a:rPr sz="1200" spc="-10" dirty="0">
                <a:latin typeface="Arial"/>
                <a:cs typeface="Arial"/>
              </a:rPr>
              <a:t>Kỹ</a:t>
            </a:r>
            <a:r>
              <a:rPr sz="1200" spc="-2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thuật</a:t>
            </a:r>
            <a:r>
              <a:rPr sz="1200" spc="-2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data</a:t>
            </a:r>
            <a:r>
              <a:rPr sz="1200" spc="-2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mining</a:t>
            </a:r>
            <a:r>
              <a:rPr sz="1200" spc="-2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trong</a:t>
            </a:r>
            <a:r>
              <a:rPr sz="1200" spc="-2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lĩnh</a:t>
            </a:r>
            <a:r>
              <a:rPr sz="1200" spc="-25" dirty="0">
                <a:latin typeface="Arial"/>
                <a:cs typeface="Arial"/>
              </a:rPr>
              <a:t> </a:t>
            </a:r>
            <a:r>
              <a:rPr sz="1200" spc="-10" dirty="0">
                <a:latin typeface="Arial"/>
                <a:cs typeface="Arial"/>
              </a:rPr>
              <a:t>vực</a:t>
            </a:r>
            <a:r>
              <a:rPr sz="1200" spc="-2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bán</a:t>
            </a:r>
            <a:r>
              <a:rPr sz="1200" spc="-2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lẻ</a:t>
            </a:r>
            <a:r>
              <a:rPr sz="1200" spc="-25" dirty="0">
                <a:latin typeface="Arial"/>
                <a:cs typeface="Arial"/>
              </a:rPr>
              <a:t> </a:t>
            </a:r>
            <a:r>
              <a:rPr sz="1200" spc="-10" dirty="0">
                <a:latin typeface="Arial"/>
                <a:cs typeface="Arial"/>
              </a:rPr>
              <a:t>(retail) </a:t>
            </a:r>
            <a:r>
              <a:rPr sz="1200" dirty="0">
                <a:latin typeface="Arial"/>
                <a:cs typeface="Arial"/>
              </a:rPr>
              <a:t>Phân</a:t>
            </a:r>
            <a:r>
              <a:rPr sz="1200" spc="-1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tích</a:t>
            </a:r>
            <a:r>
              <a:rPr sz="1200" spc="-1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hành</a:t>
            </a:r>
            <a:r>
              <a:rPr sz="1200" spc="-1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vi</a:t>
            </a:r>
            <a:r>
              <a:rPr sz="1200" spc="-1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mua</a:t>
            </a:r>
            <a:r>
              <a:rPr sz="1200" spc="-1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sắm</a:t>
            </a:r>
            <a:r>
              <a:rPr sz="1200" spc="-1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của</a:t>
            </a:r>
            <a:r>
              <a:rPr sz="1200" spc="-1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khách</a:t>
            </a:r>
            <a:r>
              <a:rPr sz="1200" spc="-10" dirty="0">
                <a:latin typeface="Arial"/>
                <a:cs typeface="Arial"/>
              </a:rPr>
              <a:t> </a:t>
            </a:r>
            <a:r>
              <a:rPr sz="1200" spc="-20" dirty="0">
                <a:latin typeface="Arial"/>
                <a:cs typeface="Arial"/>
              </a:rPr>
              <a:t>hàng</a:t>
            </a:r>
            <a:endParaRPr sz="1200">
              <a:latin typeface="Arial"/>
              <a:cs typeface="Arial"/>
            </a:endParaRPr>
          </a:p>
          <a:p>
            <a:pPr marL="309880">
              <a:lnSpc>
                <a:spcPct val="100000"/>
              </a:lnSpc>
              <a:spcBef>
                <a:spcPts val="305"/>
              </a:spcBef>
            </a:pPr>
            <a:r>
              <a:rPr sz="1200" dirty="0">
                <a:latin typeface="Arial"/>
                <a:cs typeface="Arial"/>
              </a:rPr>
              <a:t>Phát</a:t>
            </a:r>
            <a:r>
              <a:rPr sz="1200" spc="-2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hiện</a:t>
            </a:r>
            <a:r>
              <a:rPr sz="1200" spc="-1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các</a:t>
            </a:r>
            <a:r>
              <a:rPr sz="1200" spc="-1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sản</a:t>
            </a:r>
            <a:r>
              <a:rPr sz="1200" spc="-1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phẩm</a:t>
            </a:r>
            <a:r>
              <a:rPr sz="1200" spc="-20" dirty="0">
                <a:latin typeface="Arial"/>
                <a:cs typeface="Arial"/>
              </a:rPr>
              <a:t> </a:t>
            </a:r>
            <a:r>
              <a:rPr sz="1200" spc="-25" dirty="0">
                <a:latin typeface="Arial"/>
                <a:cs typeface="Arial"/>
              </a:rPr>
              <a:t>thường</a:t>
            </a:r>
            <a:r>
              <a:rPr sz="1200" spc="-15" dirty="0">
                <a:latin typeface="Arial"/>
                <a:cs typeface="Arial"/>
              </a:rPr>
              <a:t> </a:t>
            </a:r>
            <a:r>
              <a:rPr sz="1200" spc="-40" dirty="0">
                <a:latin typeface="Arial"/>
                <a:cs typeface="Arial"/>
              </a:rPr>
              <a:t>được</a:t>
            </a:r>
            <a:r>
              <a:rPr sz="1200" spc="-1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mua</a:t>
            </a:r>
            <a:r>
              <a:rPr sz="1200" spc="-1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cùng</a:t>
            </a:r>
            <a:r>
              <a:rPr sz="1200" spc="-15" dirty="0">
                <a:latin typeface="Arial"/>
                <a:cs typeface="Arial"/>
              </a:rPr>
              <a:t> </a:t>
            </a:r>
            <a:r>
              <a:rPr sz="1200" spc="-20" dirty="0">
                <a:latin typeface="Arial"/>
                <a:cs typeface="Arial"/>
              </a:rPr>
              <a:t>nhau</a:t>
            </a:r>
            <a:endParaRPr sz="1200">
              <a:latin typeface="Arial"/>
              <a:cs typeface="Arial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88963" y="1814817"/>
            <a:ext cx="5582285" cy="336550"/>
          </a:xfrm>
          <a:prstGeom prst="rect">
            <a:avLst/>
          </a:prstGeom>
          <a:solidFill>
            <a:srgbClr val="BF0000"/>
          </a:solidFill>
        </p:spPr>
        <p:txBody>
          <a:bodyPr vert="horz" wrap="square" lIns="0" tIns="53975" rIns="0" bIns="0" rtlCol="0">
            <a:spAutoFit/>
          </a:bodyPr>
          <a:lstStyle/>
          <a:p>
            <a:pPr marL="59055">
              <a:lnSpc>
                <a:spcPct val="100000"/>
              </a:lnSpc>
              <a:spcBef>
                <a:spcPts val="425"/>
              </a:spcBef>
            </a:pPr>
            <a:r>
              <a:rPr sz="1400" dirty="0">
                <a:solidFill>
                  <a:srgbClr val="FFFFFF"/>
                </a:solidFill>
                <a:latin typeface="Arial"/>
                <a:cs typeface="Arial"/>
              </a:rPr>
              <a:t>Ứng</a:t>
            </a:r>
            <a:r>
              <a:rPr sz="1400" spc="-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FFFFFF"/>
                </a:solidFill>
                <a:latin typeface="Arial"/>
                <a:cs typeface="Arial"/>
              </a:rPr>
              <a:t>dụng thực</a:t>
            </a:r>
            <a:r>
              <a:rPr sz="1400" spc="-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spc="-25" dirty="0">
                <a:solidFill>
                  <a:srgbClr val="FFFFFF"/>
                </a:solidFill>
                <a:latin typeface="Arial"/>
                <a:cs typeface="Arial"/>
              </a:rPr>
              <a:t>tế:</a:t>
            </a:r>
            <a:endParaRPr sz="1400">
              <a:latin typeface="Arial"/>
              <a:cs typeface="Arial"/>
            </a:endParaRPr>
          </a:p>
        </p:txBody>
      </p:sp>
      <p:sp>
        <p:nvSpPr>
          <p:cNvPr id="6" name="object 6" descr=""/>
          <p:cNvSpPr/>
          <p:nvPr/>
        </p:nvSpPr>
        <p:spPr>
          <a:xfrm>
            <a:off x="88963" y="2151113"/>
            <a:ext cx="5582285" cy="1028700"/>
          </a:xfrm>
          <a:custGeom>
            <a:avLst/>
            <a:gdLst/>
            <a:ahLst/>
            <a:cxnLst/>
            <a:rect l="l" t="t" r="r" b="b"/>
            <a:pathLst>
              <a:path w="5582285" h="1028700">
                <a:moveTo>
                  <a:pt x="5582081" y="0"/>
                </a:moveTo>
                <a:lnTo>
                  <a:pt x="0" y="0"/>
                </a:lnTo>
                <a:lnTo>
                  <a:pt x="0" y="1028090"/>
                </a:lnTo>
                <a:lnTo>
                  <a:pt x="5582081" y="1028090"/>
                </a:lnTo>
                <a:lnTo>
                  <a:pt x="5582081" y="0"/>
                </a:lnTo>
                <a:close/>
              </a:path>
            </a:pathLst>
          </a:custGeom>
          <a:solidFill>
            <a:srgbClr val="F8E5E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 txBox="1"/>
          <p:nvPr/>
        </p:nvSpPr>
        <p:spPr>
          <a:xfrm>
            <a:off x="88963" y="2151113"/>
            <a:ext cx="5582285" cy="960119"/>
          </a:xfrm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356870" marR="3119755">
              <a:lnSpc>
                <a:spcPct val="121100"/>
              </a:lnSpc>
              <a:spcBef>
                <a:spcPts val="240"/>
              </a:spcBef>
            </a:pPr>
            <a:r>
              <a:rPr sz="1200" b="1" spc="-30" dirty="0">
                <a:latin typeface="Arial"/>
                <a:cs typeface="Arial"/>
              </a:rPr>
              <a:t>Tối </a:t>
            </a:r>
            <a:r>
              <a:rPr sz="1200" b="1" dirty="0">
                <a:latin typeface="Arial"/>
                <a:cs typeface="Arial"/>
              </a:rPr>
              <a:t>ưu</a:t>
            </a:r>
            <a:r>
              <a:rPr sz="1200" b="1" spc="-30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hóa</a:t>
            </a:r>
            <a:r>
              <a:rPr sz="1200" b="1" spc="-30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sắp</a:t>
            </a:r>
            <a:r>
              <a:rPr sz="1200" b="1" spc="-30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đặt</a:t>
            </a:r>
            <a:r>
              <a:rPr sz="1200" b="1" spc="-30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sản</a:t>
            </a:r>
            <a:r>
              <a:rPr sz="1200" b="1" spc="-30" dirty="0">
                <a:latin typeface="Arial"/>
                <a:cs typeface="Arial"/>
              </a:rPr>
              <a:t> </a:t>
            </a:r>
            <a:r>
              <a:rPr sz="1200" b="1" spc="-20" dirty="0">
                <a:latin typeface="Arial"/>
                <a:cs typeface="Arial"/>
              </a:rPr>
              <a:t>phẩm </a:t>
            </a:r>
            <a:r>
              <a:rPr sz="1200" b="1" spc="-10" dirty="0">
                <a:latin typeface="Arial"/>
                <a:cs typeface="Arial"/>
              </a:rPr>
              <a:t>Cross-</a:t>
            </a:r>
            <a:r>
              <a:rPr sz="1200" b="1" dirty="0">
                <a:latin typeface="Arial"/>
                <a:cs typeface="Arial"/>
              </a:rPr>
              <a:t>selling</a:t>
            </a:r>
            <a:r>
              <a:rPr sz="1200" b="1" spc="-25" dirty="0">
                <a:latin typeface="Arial"/>
                <a:cs typeface="Arial"/>
              </a:rPr>
              <a:t> </a:t>
            </a:r>
            <a:r>
              <a:rPr sz="1200" b="1" spc="-10" dirty="0">
                <a:latin typeface="Arial"/>
                <a:cs typeface="Arial"/>
              </a:rPr>
              <a:t>opportunities </a:t>
            </a:r>
            <a:r>
              <a:rPr sz="1200" b="1" spc="-20" dirty="0">
                <a:latin typeface="Arial"/>
                <a:cs typeface="Arial"/>
              </a:rPr>
              <a:t>Tạo</a:t>
            </a:r>
            <a:r>
              <a:rPr sz="1200" b="1" spc="-45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bundle</a:t>
            </a:r>
            <a:r>
              <a:rPr sz="1200" b="1" spc="-40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sản</a:t>
            </a:r>
            <a:r>
              <a:rPr sz="1200" b="1" spc="-45" dirty="0">
                <a:latin typeface="Arial"/>
                <a:cs typeface="Arial"/>
              </a:rPr>
              <a:t> </a:t>
            </a:r>
            <a:r>
              <a:rPr sz="1200" b="1" spc="-20" dirty="0">
                <a:latin typeface="Arial"/>
                <a:cs typeface="Arial"/>
              </a:rPr>
              <a:t>phẩm</a:t>
            </a:r>
            <a:endParaRPr sz="1200">
              <a:latin typeface="Arial"/>
              <a:cs typeface="Arial"/>
            </a:endParaRPr>
          </a:p>
          <a:p>
            <a:pPr marL="356870">
              <a:lnSpc>
                <a:spcPct val="100000"/>
              </a:lnSpc>
              <a:spcBef>
                <a:spcPts val="405"/>
              </a:spcBef>
            </a:pPr>
            <a:r>
              <a:rPr sz="1200" b="1" dirty="0">
                <a:latin typeface="Arial"/>
                <a:cs typeface="Arial"/>
              </a:rPr>
              <a:t>Quản</a:t>
            </a:r>
            <a:r>
              <a:rPr sz="1200" b="1" spc="-25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lý</a:t>
            </a:r>
            <a:r>
              <a:rPr sz="1200" b="1" spc="-25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tồn</a:t>
            </a:r>
            <a:r>
              <a:rPr sz="1200" b="1" spc="-25" dirty="0">
                <a:latin typeface="Arial"/>
                <a:cs typeface="Arial"/>
              </a:rPr>
              <a:t> kho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8" name="object 8" descr=""/>
          <p:cNvGrpSpPr/>
          <p:nvPr/>
        </p:nvGrpSpPr>
        <p:grpSpPr>
          <a:xfrm>
            <a:off x="0" y="3110712"/>
            <a:ext cx="5760085" cy="129539"/>
            <a:chOff x="0" y="3110712"/>
            <a:chExt cx="5760085" cy="129539"/>
          </a:xfrm>
        </p:grpSpPr>
        <p:sp>
          <p:nvSpPr>
            <p:cNvPr id="9" name="object 9" descr=""/>
            <p:cNvSpPr/>
            <p:nvPr/>
          </p:nvSpPr>
          <p:spPr>
            <a:xfrm>
              <a:off x="0" y="3110712"/>
              <a:ext cx="1920239" cy="129539"/>
            </a:xfrm>
            <a:custGeom>
              <a:avLst/>
              <a:gdLst/>
              <a:ahLst/>
              <a:cxnLst/>
              <a:rect l="l" t="t" r="r" b="b"/>
              <a:pathLst>
                <a:path w="1920239" h="129539">
                  <a:moveTo>
                    <a:pt x="1919973" y="0"/>
                  </a:moveTo>
                  <a:lnTo>
                    <a:pt x="0" y="0"/>
                  </a:lnTo>
                  <a:lnTo>
                    <a:pt x="0" y="129286"/>
                  </a:lnTo>
                  <a:lnTo>
                    <a:pt x="1919973" y="129286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1919973" y="3110712"/>
              <a:ext cx="1920239" cy="129539"/>
            </a:xfrm>
            <a:custGeom>
              <a:avLst/>
              <a:gdLst/>
              <a:ahLst/>
              <a:cxnLst/>
              <a:rect l="l" t="t" r="r" b="b"/>
              <a:pathLst>
                <a:path w="1920239" h="129539">
                  <a:moveTo>
                    <a:pt x="1919973" y="0"/>
                  </a:moveTo>
                  <a:lnTo>
                    <a:pt x="0" y="0"/>
                  </a:lnTo>
                  <a:lnTo>
                    <a:pt x="0" y="129286"/>
                  </a:lnTo>
                  <a:lnTo>
                    <a:pt x="1919973" y="129286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3839946" y="3110712"/>
              <a:ext cx="1920239" cy="129539"/>
            </a:xfrm>
            <a:custGeom>
              <a:avLst/>
              <a:gdLst/>
              <a:ahLst/>
              <a:cxnLst/>
              <a:rect l="l" t="t" r="r" b="b"/>
              <a:pathLst>
                <a:path w="1920239" h="129539">
                  <a:moveTo>
                    <a:pt x="1919973" y="0"/>
                  </a:moveTo>
                  <a:lnTo>
                    <a:pt x="0" y="0"/>
                  </a:lnTo>
                  <a:lnTo>
                    <a:pt x="0" y="129286"/>
                  </a:lnTo>
                  <a:lnTo>
                    <a:pt x="1919973" y="129286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 descr="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dirty="0"/>
              <a:t>Lê</a:t>
            </a:r>
            <a:r>
              <a:rPr spc="-25" dirty="0"/>
              <a:t> </a:t>
            </a:r>
            <a:r>
              <a:rPr dirty="0"/>
              <a:t>Đình</a:t>
            </a:r>
            <a:r>
              <a:rPr spc="-20" dirty="0"/>
              <a:t> </a:t>
            </a:r>
            <a:r>
              <a:rPr dirty="0"/>
              <a:t>Phùng</a:t>
            </a:r>
            <a:r>
              <a:rPr spc="-25" dirty="0"/>
              <a:t> </a:t>
            </a:r>
            <a:r>
              <a:rPr dirty="0"/>
              <a:t>–</a:t>
            </a:r>
            <a:r>
              <a:rPr spc="-20" dirty="0"/>
              <a:t> </a:t>
            </a:r>
            <a:r>
              <a:rPr spc="-10" dirty="0"/>
              <a:t>18130181</a:t>
            </a:r>
          </a:p>
        </p:txBody>
      </p:sp>
      <p:sp>
        <p:nvSpPr>
          <p:cNvPr id="13" name="object 13" descr=""/>
          <p:cNvSpPr txBox="1"/>
          <p:nvPr/>
        </p:nvSpPr>
        <p:spPr>
          <a:xfrm>
            <a:off x="2584627" y="3115174"/>
            <a:ext cx="591185" cy="119380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600" dirty="0">
                <a:solidFill>
                  <a:srgbClr val="00AEEF"/>
                </a:solidFill>
                <a:latin typeface="Arial"/>
                <a:cs typeface="Arial"/>
                <a:hlinkClick r:id="rId2" action="ppaction://hlinksldjump"/>
              </a:rPr>
              <a:t>Cải</a:t>
            </a:r>
            <a:r>
              <a:rPr sz="600" spc="-30" dirty="0">
                <a:solidFill>
                  <a:srgbClr val="00AEEF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sz="600" dirty="0">
                <a:solidFill>
                  <a:srgbClr val="00AEEF"/>
                </a:solidFill>
                <a:latin typeface="Arial"/>
                <a:cs typeface="Arial"/>
                <a:hlinkClick r:id="rId2" action="ppaction://hlinksldjump"/>
              </a:rPr>
              <a:t>Thiện</a:t>
            </a:r>
            <a:r>
              <a:rPr sz="600" spc="-30" dirty="0">
                <a:solidFill>
                  <a:srgbClr val="00AEEF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sz="600" spc="-10" dirty="0">
                <a:solidFill>
                  <a:srgbClr val="00AEEF"/>
                </a:solidFill>
                <a:latin typeface="Arial"/>
                <a:cs typeface="Arial"/>
                <a:hlinkClick r:id="rId2" action="ppaction://hlinksldjump"/>
              </a:rPr>
              <a:t>Apriori</a:t>
            </a:r>
            <a:endParaRPr sz="600">
              <a:latin typeface="Arial"/>
              <a:cs typeface="Arial"/>
            </a:endParaRPr>
          </a:p>
        </p:txBody>
      </p:sp>
      <p:sp>
        <p:nvSpPr>
          <p:cNvPr id="14" name="object 14" descr="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dirty="0"/>
              <a:t>Năm</a:t>
            </a:r>
            <a:r>
              <a:rPr spc="-30" dirty="0"/>
              <a:t> </a:t>
            </a:r>
            <a:r>
              <a:rPr dirty="0"/>
              <a:t>học</a:t>
            </a:r>
            <a:r>
              <a:rPr spc="-25" dirty="0"/>
              <a:t> </a:t>
            </a:r>
            <a:r>
              <a:rPr spc="-10" dirty="0"/>
              <a:t>2025–2026</a:t>
            </a:r>
          </a:p>
        </p:txBody>
      </p:sp>
      <p:sp>
        <p:nvSpPr>
          <p:cNvPr id="15" name="object 15" descr="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79375">
              <a:lnSpc>
                <a:spcPct val="100000"/>
              </a:lnSpc>
              <a:spcBef>
                <a:spcPts val="70"/>
              </a:spcBef>
            </a:pPr>
            <a:fld id="{81D60167-4931-47E6-BA6A-407CBD079E47}" type="slidenum">
              <a:rPr spc="-10" dirty="0"/>
              <a:t>3</a:t>
            </a:fld>
            <a:r>
              <a:rPr spc="-70" dirty="0"/>
              <a:t> </a:t>
            </a:r>
            <a:r>
              <a:rPr dirty="0"/>
              <a:t>/</a:t>
            </a:r>
            <a:r>
              <a:rPr spc="-65" dirty="0"/>
              <a:t> </a:t>
            </a:r>
            <a:r>
              <a:rPr spc="-25" dirty="0"/>
              <a:t>32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fast">
        <p:cut thruBlk="0"/>
      </p:transition>
    </mc:Choice>
    <mc:Fallback>
      <p:transition spd="fast">
        <p:cut thruBlk="0"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0"/>
            <a:ext cx="5760085" cy="349250"/>
          </a:xfrm>
          <a:custGeom>
            <a:avLst/>
            <a:gdLst/>
            <a:ahLst/>
            <a:cxnLst/>
            <a:rect l="l" t="t" r="r" b="b"/>
            <a:pathLst>
              <a:path w="5760085" h="349250">
                <a:moveTo>
                  <a:pt x="5759996" y="0"/>
                </a:moveTo>
                <a:lnTo>
                  <a:pt x="0" y="0"/>
                </a:lnTo>
                <a:lnTo>
                  <a:pt x="0" y="348729"/>
                </a:lnTo>
                <a:lnTo>
                  <a:pt x="5759996" y="348729"/>
                </a:lnTo>
                <a:lnTo>
                  <a:pt x="5759996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925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pc="-20" dirty="0"/>
              <a:t>TẬP</a:t>
            </a:r>
            <a:r>
              <a:rPr spc="-60" dirty="0"/>
              <a:t> </a:t>
            </a:r>
            <a:r>
              <a:rPr dirty="0"/>
              <a:t>DỮ</a:t>
            </a:r>
            <a:r>
              <a:rPr spc="-55" dirty="0"/>
              <a:t> </a:t>
            </a:r>
            <a:r>
              <a:rPr spc="50" dirty="0"/>
              <a:t>LIfiU:</a:t>
            </a:r>
            <a:r>
              <a:rPr spc="-55" dirty="0"/>
              <a:t> </a:t>
            </a:r>
            <a:r>
              <a:rPr spc="-10" dirty="0"/>
              <a:t>GROCERIES</a:t>
            </a:r>
          </a:p>
        </p:txBody>
      </p:sp>
      <p:sp>
        <p:nvSpPr>
          <p:cNvPr id="4" name="object 4" descr=""/>
          <p:cNvSpPr txBox="1"/>
          <p:nvPr/>
        </p:nvSpPr>
        <p:spPr>
          <a:xfrm>
            <a:off x="86385" y="410604"/>
            <a:ext cx="2525395" cy="468630"/>
          </a:xfrm>
          <a:prstGeom prst="rect">
            <a:avLst/>
          </a:prstGeom>
        </p:spPr>
        <p:txBody>
          <a:bodyPr vert="horz" wrap="square" lIns="0" tIns="514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5"/>
              </a:spcBef>
            </a:pPr>
            <a:r>
              <a:rPr sz="1200" b="1" dirty="0">
                <a:latin typeface="Arial"/>
                <a:cs typeface="Arial"/>
              </a:rPr>
              <a:t>Thông</a:t>
            </a:r>
            <a:r>
              <a:rPr sz="1200" b="1" spc="-35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tin</a:t>
            </a:r>
            <a:r>
              <a:rPr sz="1200" b="1" spc="-30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tập</a:t>
            </a:r>
            <a:r>
              <a:rPr sz="1200" b="1" spc="-30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dữ</a:t>
            </a:r>
            <a:r>
              <a:rPr sz="1200" b="1" spc="-30" dirty="0">
                <a:latin typeface="Arial"/>
                <a:cs typeface="Arial"/>
              </a:rPr>
              <a:t> </a:t>
            </a:r>
            <a:r>
              <a:rPr sz="1200" b="1" spc="-10" dirty="0">
                <a:latin typeface="Arial"/>
                <a:cs typeface="Arial"/>
              </a:rPr>
              <a:t>liệu:</a:t>
            </a:r>
            <a:endParaRPr sz="1200">
              <a:latin typeface="Arial"/>
              <a:cs typeface="Arial"/>
            </a:endParaRPr>
          </a:p>
          <a:p>
            <a:pPr marL="309880">
              <a:lnSpc>
                <a:spcPct val="100000"/>
              </a:lnSpc>
              <a:spcBef>
                <a:spcPts val="300"/>
              </a:spcBef>
            </a:pPr>
            <a:r>
              <a:rPr sz="1200" dirty="0">
                <a:latin typeface="Arial"/>
                <a:cs typeface="Arial"/>
              </a:rPr>
              <a:t>Nguồn:</a:t>
            </a:r>
            <a:r>
              <a:rPr sz="1200" spc="-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Machine</a:t>
            </a:r>
            <a:r>
              <a:rPr sz="1200" spc="-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Learning</a:t>
            </a:r>
            <a:r>
              <a:rPr sz="1200" spc="-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with</a:t>
            </a:r>
            <a:r>
              <a:rPr sz="1200" spc="-5" dirty="0">
                <a:latin typeface="Arial"/>
                <a:cs typeface="Arial"/>
              </a:rPr>
              <a:t> </a:t>
            </a:r>
            <a:r>
              <a:rPr sz="1200" spc="-50" dirty="0">
                <a:latin typeface="Arial"/>
                <a:cs typeface="Arial"/>
              </a:rPr>
              <a:t>R</a:t>
            </a:r>
            <a:endParaRPr sz="1200">
              <a:latin typeface="Arial"/>
              <a:cs typeface="Arial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383717" y="892667"/>
            <a:ext cx="2518410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dirty="0">
                <a:latin typeface="Arial"/>
                <a:cs typeface="Arial"/>
              </a:rPr>
              <a:t>Loại:</a:t>
            </a:r>
            <a:r>
              <a:rPr sz="1200" spc="-2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Dữ</a:t>
            </a:r>
            <a:r>
              <a:rPr sz="1200" spc="-2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liệu</a:t>
            </a:r>
            <a:r>
              <a:rPr sz="1200" spc="-1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giao</a:t>
            </a:r>
            <a:r>
              <a:rPr sz="1200" spc="-2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dịch</a:t>
            </a:r>
            <a:r>
              <a:rPr sz="1200" spc="-20" dirty="0">
                <a:latin typeface="Arial"/>
                <a:cs typeface="Arial"/>
              </a:rPr>
              <a:t> </a:t>
            </a:r>
            <a:r>
              <a:rPr sz="1200" spc="-10" dirty="0">
                <a:latin typeface="Arial"/>
                <a:cs typeface="Arial"/>
              </a:rPr>
              <a:t>(Transactional</a:t>
            </a:r>
            <a:endParaRPr sz="1200">
              <a:latin typeface="Arial"/>
              <a:cs typeface="Arial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383717" y="1076131"/>
            <a:ext cx="371475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spc="-10" dirty="0">
                <a:latin typeface="Arial"/>
                <a:cs typeface="Arial"/>
              </a:rPr>
              <a:t>data)</a:t>
            </a:r>
            <a:endParaRPr sz="1200">
              <a:latin typeface="Arial"/>
              <a:cs typeface="Arial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383717" y="1297556"/>
            <a:ext cx="2387600" cy="3911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1200" dirty="0">
                <a:latin typeface="Arial"/>
                <a:cs typeface="Arial"/>
              </a:rPr>
              <a:t>Lĩnh</a:t>
            </a:r>
            <a:r>
              <a:rPr sz="1200" spc="-30" dirty="0">
                <a:latin typeface="Arial"/>
                <a:cs typeface="Arial"/>
              </a:rPr>
              <a:t> </a:t>
            </a:r>
            <a:r>
              <a:rPr sz="1200" spc="-10" dirty="0">
                <a:latin typeface="Arial"/>
                <a:cs typeface="Arial"/>
              </a:rPr>
              <a:t>vực:</a:t>
            </a:r>
            <a:r>
              <a:rPr sz="1200" spc="-3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Cửa</a:t>
            </a:r>
            <a:r>
              <a:rPr sz="1200" spc="-2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hàng</a:t>
            </a:r>
            <a:r>
              <a:rPr sz="1200" spc="-3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tạp</a:t>
            </a:r>
            <a:r>
              <a:rPr sz="1200" spc="-3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hóa</a:t>
            </a:r>
            <a:r>
              <a:rPr sz="1200" spc="-25" dirty="0">
                <a:latin typeface="Arial"/>
                <a:cs typeface="Arial"/>
              </a:rPr>
              <a:t> </a:t>
            </a:r>
            <a:r>
              <a:rPr sz="1200" spc="-10" dirty="0">
                <a:latin typeface="Arial"/>
                <a:cs typeface="Arial"/>
              </a:rPr>
              <a:t>(Retail </a:t>
            </a:r>
            <a:r>
              <a:rPr sz="1200" dirty="0">
                <a:latin typeface="Arial"/>
                <a:cs typeface="Arial"/>
              </a:rPr>
              <a:t>grocery</a:t>
            </a:r>
            <a:r>
              <a:rPr sz="1200" spc="10" dirty="0">
                <a:latin typeface="Arial"/>
                <a:cs typeface="Arial"/>
              </a:rPr>
              <a:t> </a:t>
            </a:r>
            <a:r>
              <a:rPr sz="1200" spc="-10" dirty="0">
                <a:latin typeface="Arial"/>
                <a:cs typeface="Arial"/>
              </a:rPr>
              <a:t>store)</a:t>
            </a:r>
            <a:endParaRPr sz="1200">
              <a:latin typeface="Arial"/>
              <a:cs typeface="Arial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3189998" y="555457"/>
            <a:ext cx="748665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b="1" dirty="0">
                <a:latin typeface="Arial"/>
                <a:cs typeface="Arial"/>
              </a:rPr>
              <a:t>Thống</a:t>
            </a:r>
            <a:r>
              <a:rPr sz="1200" b="1" spc="-45" dirty="0">
                <a:latin typeface="Arial"/>
                <a:cs typeface="Arial"/>
              </a:rPr>
              <a:t> </a:t>
            </a:r>
            <a:r>
              <a:rPr sz="1200" b="1" spc="-25" dirty="0">
                <a:latin typeface="Arial"/>
                <a:cs typeface="Arial"/>
              </a:rPr>
              <a:t>kê:</a:t>
            </a:r>
            <a:endParaRPr sz="1200">
              <a:latin typeface="Arial"/>
              <a:cs typeface="Arial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2729610" y="776881"/>
            <a:ext cx="1602105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dirty="0">
                <a:latin typeface="Arial"/>
                <a:cs typeface="Arial"/>
              </a:rPr>
              <a:t>Run</a:t>
            </a:r>
            <a:r>
              <a:rPr sz="1200" spc="-2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script</a:t>
            </a:r>
            <a:r>
              <a:rPr sz="1200" spc="235" dirty="0">
                <a:latin typeface="Arial"/>
                <a:cs typeface="Arial"/>
              </a:rPr>
              <a:t> </a:t>
            </a:r>
            <a:r>
              <a:rPr sz="1200" spc="-10" dirty="0">
                <a:latin typeface="Arial"/>
                <a:cs typeface="Arial"/>
              </a:rPr>
              <a:t>transactions</a:t>
            </a:r>
            <a:endParaRPr sz="1200">
              <a:latin typeface="Arial"/>
              <a:cs typeface="Arial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2729610" y="998293"/>
            <a:ext cx="1863725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dirty="0">
                <a:latin typeface="Arial"/>
                <a:cs typeface="Arial"/>
              </a:rPr>
              <a:t>Run</a:t>
            </a:r>
            <a:r>
              <a:rPr sz="1200" spc="-1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script</a:t>
            </a:r>
            <a:r>
              <a:rPr sz="1200" spc="23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unique</a:t>
            </a:r>
            <a:r>
              <a:rPr sz="1200" spc="-10" dirty="0">
                <a:latin typeface="Arial"/>
                <a:cs typeface="Arial"/>
              </a:rPr>
              <a:t> products</a:t>
            </a:r>
            <a:endParaRPr sz="1200">
              <a:latin typeface="Arial"/>
              <a:cs typeface="Arial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3487330" y="1219718"/>
            <a:ext cx="1542415" cy="3911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1200" dirty="0">
                <a:latin typeface="Lucida Sans Unicode"/>
                <a:cs typeface="Lucida Sans Unicode"/>
              </a:rPr>
              <a:t>∼</a:t>
            </a:r>
            <a:r>
              <a:rPr sz="1200" dirty="0">
                <a:latin typeface="Arial"/>
                <a:cs typeface="Arial"/>
              </a:rPr>
              <a:t>4.4</a:t>
            </a:r>
            <a:r>
              <a:rPr sz="1200" spc="-55" dirty="0">
                <a:latin typeface="Arial"/>
                <a:cs typeface="Arial"/>
              </a:rPr>
              <a:t> </a:t>
            </a:r>
            <a:r>
              <a:rPr sz="1200" spc="-10" dirty="0">
                <a:latin typeface="Arial"/>
                <a:cs typeface="Arial"/>
              </a:rPr>
              <a:t>items/transaction (average)</a:t>
            </a:r>
            <a:endParaRPr sz="1200">
              <a:latin typeface="Arial"/>
              <a:cs typeface="Arial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88963" y="1946770"/>
            <a:ext cx="5582285" cy="325755"/>
          </a:xfrm>
          <a:prstGeom prst="rect">
            <a:avLst/>
          </a:prstGeom>
          <a:solidFill>
            <a:srgbClr val="005F00"/>
          </a:solidFill>
        </p:spPr>
        <p:txBody>
          <a:bodyPr vert="horz" wrap="square" lIns="0" tIns="48895" rIns="0" bIns="0" rtlCol="0">
            <a:spAutoFit/>
          </a:bodyPr>
          <a:lstStyle/>
          <a:p>
            <a:pPr marL="59055">
              <a:lnSpc>
                <a:spcPct val="100000"/>
              </a:lnSpc>
              <a:spcBef>
                <a:spcPts val="385"/>
              </a:spcBef>
            </a:pPr>
            <a:r>
              <a:rPr sz="1400" dirty="0">
                <a:solidFill>
                  <a:srgbClr val="FFFFFF"/>
                </a:solidFill>
                <a:latin typeface="Arial"/>
                <a:cs typeface="Arial"/>
              </a:rPr>
              <a:t>Cấu</a:t>
            </a:r>
            <a:r>
              <a:rPr sz="1400" spc="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FFFFFF"/>
                </a:solidFill>
                <a:latin typeface="Arial"/>
                <a:cs typeface="Arial"/>
              </a:rPr>
              <a:t>trúc</a:t>
            </a:r>
            <a:r>
              <a:rPr sz="1400" spc="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FFFFFF"/>
                </a:solidFill>
                <a:latin typeface="Arial"/>
                <a:cs typeface="Arial"/>
              </a:rPr>
              <a:t>dữ</a:t>
            </a:r>
            <a:r>
              <a:rPr sz="1400" spc="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Arial"/>
                <a:cs typeface="Arial"/>
              </a:rPr>
              <a:t>liệu:</a:t>
            </a:r>
            <a:endParaRPr sz="1400">
              <a:latin typeface="Arial"/>
              <a:cs typeface="Arial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88963" y="2272207"/>
            <a:ext cx="5582285" cy="610235"/>
          </a:xfrm>
          <a:prstGeom prst="rect">
            <a:avLst/>
          </a:prstGeom>
          <a:solidFill>
            <a:srgbClr val="E5EFE5"/>
          </a:solidFill>
        </p:spPr>
        <p:txBody>
          <a:bodyPr vert="horz" wrap="square" lIns="0" tIns="31114" rIns="0" bIns="0" rtlCol="0">
            <a:spAutoFit/>
          </a:bodyPr>
          <a:lstStyle/>
          <a:p>
            <a:pPr marL="59055" marR="3212465">
              <a:lnSpc>
                <a:spcPct val="100000"/>
              </a:lnSpc>
              <a:spcBef>
                <a:spcPts val="244"/>
              </a:spcBef>
            </a:pPr>
            <a:r>
              <a:rPr sz="1200" spc="-10" dirty="0">
                <a:latin typeface="Arial"/>
                <a:cs typeface="Arial"/>
              </a:rPr>
              <a:t>Transaction</a:t>
            </a:r>
            <a:r>
              <a:rPr sz="1200" spc="-3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1:</a:t>
            </a:r>
            <a:r>
              <a:rPr sz="1200" spc="-2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{milk,</a:t>
            </a:r>
            <a:r>
              <a:rPr sz="1200" spc="-2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bread,</a:t>
            </a:r>
            <a:r>
              <a:rPr sz="1200" spc="-20" dirty="0">
                <a:latin typeface="Arial"/>
                <a:cs typeface="Arial"/>
              </a:rPr>
              <a:t> </a:t>
            </a:r>
            <a:r>
              <a:rPr sz="1200" spc="-10" dirty="0">
                <a:latin typeface="Arial"/>
                <a:cs typeface="Arial"/>
              </a:rPr>
              <a:t>butter} Transaction</a:t>
            </a:r>
            <a:r>
              <a:rPr sz="1200" spc="-2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2:</a:t>
            </a:r>
            <a:r>
              <a:rPr sz="1200" spc="-25" dirty="0">
                <a:latin typeface="Arial"/>
                <a:cs typeface="Arial"/>
              </a:rPr>
              <a:t> </a:t>
            </a:r>
            <a:r>
              <a:rPr sz="1200" spc="-10" dirty="0">
                <a:latin typeface="Arial"/>
                <a:cs typeface="Arial"/>
              </a:rPr>
              <a:t>{beer,</a:t>
            </a:r>
            <a:r>
              <a:rPr sz="1200" spc="-20" dirty="0">
                <a:latin typeface="Arial"/>
                <a:cs typeface="Arial"/>
              </a:rPr>
              <a:t> </a:t>
            </a:r>
            <a:r>
              <a:rPr sz="1200" spc="-10" dirty="0">
                <a:latin typeface="Arial"/>
                <a:cs typeface="Arial"/>
              </a:rPr>
              <a:t>chips}</a:t>
            </a:r>
            <a:endParaRPr sz="1200">
              <a:latin typeface="Arial"/>
              <a:cs typeface="Arial"/>
            </a:endParaRPr>
          </a:p>
          <a:p>
            <a:pPr marL="59055">
              <a:lnSpc>
                <a:spcPct val="100000"/>
              </a:lnSpc>
              <a:spcBef>
                <a:spcPts val="5"/>
              </a:spcBef>
            </a:pPr>
            <a:r>
              <a:rPr sz="1200" spc="-25" dirty="0">
                <a:latin typeface="Arial"/>
                <a:cs typeface="Arial"/>
              </a:rPr>
              <a:t>...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14" name="object 14" descr=""/>
          <p:cNvGrpSpPr/>
          <p:nvPr/>
        </p:nvGrpSpPr>
        <p:grpSpPr>
          <a:xfrm>
            <a:off x="0" y="3110712"/>
            <a:ext cx="5760085" cy="129539"/>
            <a:chOff x="0" y="3110712"/>
            <a:chExt cx="5760085" cy="129539"/>
          </a:xfrm>
        </p:grpSpPr>
        <p:sp>
          <p:nvSpPr>
            <p:cNvPr id="15" name="object 15" descr=""/>
            <p:cNvSpPr/>
            <p:nvPr/>
          </p:nvSpPr>
          <p:spPr>
            <a:xfrm>
              <a:off x="0" y="3110712"/>
              <a:ext cx="1920239" cy="129539"/>
            </a:xfrm>
            <a:custGeom>
              <a:avLst/>
              <a:gdLst/>
              <a:ahLst/>
              <a:cxnLst/>
              <a:rect l="l" t="t" r="r" b="b"/>
              <a:pathLst>
                <a:path w="1920239" h="129539">
                  <a:moveTo>
                    <a:pt x="1919973" y="0"/>
                  </a:moveTo>
                  <a:lnTo>
                    <a:pt x="0" y="0"/>
                  </a:lnTo>
                  <a:lnTo>
                    <a:pt x="0" y="129286"/>
                  </a:lnTo>
                  <a:lnTo>
                    <a:pt x="1919973" y="129286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1919973" y="3110712"/>
              <a:ext cx="1920239" cy="129539"/>
            </a:xfrm>
            <a:custGeom>
              <a:avLst/>
              <a:gdLst/>
              <a:ahLst/>
              <a:cxnLst/>
              <a:rect l="l" t="t" r="r" b="b"/>
              <a:pathLst>
                <a:path w="1920239" h="129539">
                  <a:moveTo>
                    <a:pt x="1919973" y="0"/>
                  </a:moveTo>
                  <a:lnTo>
                    <a:pt x="0" y="0"/>
                  </a:lnTo>
                  <a:lnTo>
                    <a:pt x="0" y="129286"/>
                  </a:lnTo>
                  <a:lnTo>
                    <a:pt x="1919973" y="129286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 descr=""/>
            <p:cNvSpPr/>
            <p:nvPr/>
          </p:nvSpPr>
          <p:spPr>
            <a:xfrm>
              <a:off x="3839946" y="3110712"/>
              <a:ext cx="1920239" cy="129539"/>
            </a:xfrm>
            <a:custGeom>
              <a:avLst/>
              <a:gdLst/>
              <a:ahLst/>
              <a:cxnLst/>
              <a:rect l="l" t="t" r="r" b="b"/>
              <a:pathLst>
                <a:path w="1920239" h="129539">
                  <a:moveTo>
                    <a:pt x="1919973" y="0"/>
                  </a:moveTo>
                  <a:lnTo>
                    <a:pt x="0" y="0"/>
                  </a:lnTo>
                  <a:lnTo>
                    <a:pt x="0" y="129286"/>
                  </a:lnTo>
                  <a:lnTo>
                    <a:pt x="1919973" y="129286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" name="object 18" descr="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dirty="0"/>
              <a:t>Lê</a:t>
            </a:r>
            <a:r>
              <a:rPr spc="-25" dirty="0"/>
              <a:t> </a:t>
            </a:r>
            <a:r>
              <a:rPr dirty="0"/>
              <a:t>Đình</a:t>
            </a:r>
            <a:r>
              <a:rPr spc="-20" dirty="0"/>
              <a:t> </a:t>
            </a:r>
            <a:r>
              <a:rPr dirty="0"/>
              <a:t>Phùng</a:t>
            </a:r>
            <a:r>
              <a:rPr spc="-25" dirty="0"/>
              <a:t> </a:t>
            </a:r>
            <a:r>
              <a:rPr dirty="0"/>
              <a:t>–</a:t>
            </a:r>
            <a:r>
              <a:rPr spc="-20" dirty="0"/>
              <a:t> </a:t>
            </a:r>
            <a:r>
              <a:rPr spc="-10" dirty="0"/>
              <a:t>18130181</a:t>
            </a:r>
          </a:p>
        </p:txBody>
      </p:sp>
      <p:sp>
        <p:nvSpPr>
          <p:cNvPr id="19" name="object 19" descr=""/>
          <p:cNvSpPr txBox="1"/>
          <p:nvPr/>
        </p:nvSpPr>
        <p:spPr>
          <a:xfrm>
            <a:off x="2584627" y="3115174"/>
            <a:ext cx="591185" cy="119380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600" dirty="0">
                <a:solidFill>
                  <a:srgbClr val="00AEEF"/>
                </a:solidFill>
                <a:latin typeface="Arial"/>
                <a:cs typeface="Arial"/>
                <a:hlinkClick r:id="rId2" action="ppaction://hlinksldjump"/>
              </a:rPr>
              <a:t>Cải</a:t>
            </a:r>
            <a:r>
              <a:rPr sz="600" spc="-30" dirty="0">
                <a:solidFill>
                  <a:srgbClr val="00AEEF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sz="600" dirty="0">
                <a:solidFill>
                  <a:srgbClr val="00AEEF"/>
                </a:solidFill>
                <a:latin typeface="Arial"/>
                <a:cs typeface="Arial"/>
                <a:hlinkClick r:id="rId2" action="ppaction://hlinksldjump"/>
              </a:rPr>
              <a:t>Thiện</a:t>
            </a:r>
            <a:r>
              <a:rPr sz="600" spc="-30" dirty="0">
                <a:solidFill>
                  <a:srgbClr val="00AEEF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sz="600" spc="-10" dirty="0">
                <a:solidFill>
                  <a:srgbClr val="00AEEF"/>
                </a:solidFill>
                <a:latin typeface="Arial"/>
                <a:cs typeface="Arial"/>
                <a:hlinkClick r:id="rId2" action="ppaction://hlinksldjump"/>
              </a:rPr>
              <a:t>Apriori</a:t>
            </a:r>
            <a:endParaRPr sz="600">
              <a:latin typeface="Arial"/>
              <a:cs typeface="Arial"/>
            </a:endParaRPr>
          </a:p>
        </p:txBody>
      </p:sp>
      <p:sp>
        <p:nvSpPr>
          <p:cNvPr id="20" name="object 20" descr="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dirty="0"/>
              <a:t>Năm</a:t>
            </a:r>
            <a:r>
              <a:rPr spc="-30" dirty="0"/>
              <a:t> </a:t>
            </a:r>
            <a:r>
              <a:rPr dirty="0"/>
              <a:t>học</a:t>
            </a:r>
            <a:r>
              <a:rPr spc="-25" dirty="0"/>
              <a:t> </a:t>
            </a:r>
            <a:r>
              <a:rPr spc="-10" dirty="0"/>
              <a:t>2025–2026</a:t>
            </a:r>
          </a:p>
        </p:txBody>
      </p:sp>
      <p:sp>
        <p:nvSpPr>
          <p:cNvPr id="21" name="object 21" descr="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79375">
              <a:lnSpc>
                <a:spcPct val="100000"/>
              </a:lnSpc>
              <a:spcBef>
                <a:spcPts val="70"/>
              </a:spcBef>
            </a:pPr>
            <a:fld id="{81D60167-4931-47E6-BA6A-407CBD079E47}" type="slidenum">
              <a:rPr spc="-10" dirty="0"/>
              <a:t>3</a:t>
            </a:fld>
            <a:r>
              <a:rPr spc="-70" dirty="0"/>
              <a:t> </a:t>
            </a:r>
            <a:r>
              <a:rPr dirty="0"/>
              <a:t>/</a:t>
            </a:r>
            <a:r>
              <a:rPr spc="-65" dirty="0"/>
              <a:t> </a:t>
            </a:r>
            <a:r>
              <a:rPr spc="-25" dirty="0"/>
              <a:t>32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fast">
        <p:cut thruBlk="0"/>
      </p:transition>
    </mc:Choice>
    <mc:Fallback>
      <p:transition spd="fast">
        <p:cut thruBlk="0"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95300" y="40457"/>
            <a:ext cx="4625975" cy="2882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700" dirty="0">
                <a:solidFill>
                  <a:srgbClr val="FFFFFF"/>
                </a:solidFill>
                <a:latin typeface="Arial"/>
                <a:cs typeface="Arial"/>
              </a:rPr>
              <a:t>THAM</a:t>
            </a:r>
            <a:r>
              <a:rPr sz="170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700" dirty="0">
                <a:solidFill>
                  <a:srgbClr val="FFFFFF"/>
                </a:solidFill>
                <a:latin typeface="Arial"/>
                <a:cs typeface="Arial"/>
              </a:rPr>
              <a:t>SỐ</a:t>
            </a:r>
            <a:r>
              <a:rPr sz="1700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700" spc="-25" dirty="0">
                <a:solidFill>
                  <a:srgbClr val="FFFFFF"/>
                </a:solidFill>
                <a:latin typeface="Arial"/>
                <a:cs typeface="Arial"/>
              </a:rPr>
              <a:t>XUẤT</a:t>
            </a:r>
            <a:r>
              <a:rPr sz="1700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700" spc="60" dirty="0">
                <a:solidFill>
                  <a:srgbClr val="FFFFFF"/>
                </a:solidFill>
                <a:latin typeface="Arial"/>
                <a:cs typeface="Arial"/>
              </a:rPr>
              <a:t>HIfiN</a:t>
            </a:r>
            <a:r>
              <a:rPr sz="1700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700" dirty="0">
                <a:solidFill>
                  <a:srgbClr val="FFFFFF"/>
                </a:solidFill>
                <a:latin typeface="Arial"/>
                <a:cs typeface="Arial"/>
              </a:rPr>
              <a:t>CỦA</a:t>
            </a:r>
            <a:r>
              <a:rPr sz="1700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700" dirty="0">
                <a:solidFill>
                  <a:srgbClr val="FFFFFF"/>
                </a:solidFill>
                <a:latin typeface="Arial"/>
                <a:cs typeface="Arial"/>
              </a:rPr>
              <a:t>TỪNG</a:t>
            </a:r>
            <a:r>
              <a:rPr sz="1700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700" dirty="0">
                <a:solidFill>
                  <a:srgbClr val="FFFFFF"/>
                </a:solidFill>
                <a:latin typeface="Arial"/>
                <a:cs typeface="Arial"/>
              </a:rPr>
              <a:t>SẢN</a:t>
            </a:r>
            <a:r>
              <a:rPr sz="1700" spc="-20" dirty="0">
                <a:solidFill>
                  <a:srgbClr val="FFFFFF"/>
                </a:solidFill>
                <a:latin typeface="Arial"/>
                <a:cs typeface="Arial"/>
              </a:rPr>
              <a:t> PHẨM</a:t>
            </a:r>
            <a:endParaRPr sz="1700">
              <a:latin typeface="Arial"/>
              <a:cs typeface="Arial"/>
            </a:endParaRPr>
          </a:p>
        </p:txBody>
      </p:sp>
      <p:pic>
        <p:nvPicPr>
          <p:cNvPr id="3" name="object 3" descr=""/>
          <p:cNvPicPr/>
          <p:nvPr/>
        </p:nvPicPr>
        <p:blipFill>
          <a:blip r:embed="rId2"/>
          <a:stretch>
            <a:fillRect/>
          </a:stretch>
        </p:blipFill>
        <p:spPr>
          <a:xfrm>
            <a:off x="403713" y="794917"/>
            <a:ext cx="4965408" cy="1923613"/>
          </a:xfrm>
          <a:prstGeom prst="rect">
            <a:avLst/>
          </a:prstGeom>
        </p:spPr>
      </p:pic>
      <p:grpSp>
        <p:nvGrpSpPr>
          <p:cNvPr id="4" name="object 4" descr=""/>
          <p:cNvGrpSpPr/>
          <p:nvPr/>
        </p:nvGrpSpPr>
        <p:grpSpPr>
          <a:xfrm>
            <a:off x="0" y="3110712"/>
            <a:ext cx="5760085" cy="129539"/>
            <a:chOff x="0" y="3110712"/>
            <a:chExt cx="5760085" cy="129539"/>
          </a:xfrm>
        </p:grpSpPr>
        <p:sp>
          <p:nvSpPr>
            <p:cNvPr id="5" name="object 5" descr=""/>
            <p:cNvSpPr/>
            <p:nvPr/>
          </p:nvSpPr>
          <p:spPr>
            <a:xfrm>
              <a:off x="0" y="3110712"/>
              <a:ext cx="1920239" cy="129539"/>
            </a:xfrm>
            <a:custGeom>
              <a:avLst/>
              <a:gdLst/>
              <a:ahLst/>
              <a:cxnLst/>
              <a:rect l="l" t="t" r="r" b="b"/>
              <a:pathLst>
                <a:path w="1920239" h="129539">
                  <a:moveTo>
                    <a:pt x="1919973" y="0"/>
                  </a:moveTo>
                  <a:lnTo>
                    <a:pt x="0" y="0"/>
                  </a:lnTo>
                  <a:lnTo>
                    <a:pt x="0" y="129286"/>
                  </a:lnTo>
                  <a:lnTo>
                    <a:pt x="1919973" y="129286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1919973" y="3110712"/>
              <a:ext cx="1920239" cy="129539"/>
            </a:xfrm>
            <a:custGeom>
              <a:avLst/>
              <a:gdLst/>
              <a:ahLst/>
              <a:cxnLst/>
              <a:rect l="l" t="t" r="r" b="b"/>
              <a:pathLst>
                <a:path w="1920239" h="129539">
                  <a:moveTo>
                    <a:pt x="1919973" y="0"/>
                  </a:moveTo>
                  <a:lnTo>
                    <a:pt x="0" y="0"/>
                  </a:lnTo>
                  <a:lnTo>
                    <a:pt x="0" y="129286"/>
                  </a:lnTo>
                  <a:lnTo>
                    <a:pt x="1919973" y="129286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3839946" y="3110712"/>
              <a:ext cx="1920239" cy="129539"/>
            </a:xfrm>
            <a:custGeom>
              <a:avLst/>
              <a:gdLst/>
              <a:ahLst/>
              <a:cxnLst/>
              <a:rect l="l" t="t" r="r" b="b"/>
              <a:pathLst>
                <a:path w="1920239" h="129539">
                  <a:moveTo>
                    <a:pt x="1919973" y="0"/>
                  </a:moveTo>
                  <a:lnTo>
                    <a:pt x="0" y="0"/>
                  </a:lnTo>
                  <a:lnTo>
                    <a:pt x="0" y="129286"/>
                  </a:lnTo>
                  <a:lnTo>
                    <a:pt x="1919973" y="129286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 descr="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dirty="0"/>
              <a:t>Lê</a:t>
            </a:r>
            <a:r>
              <a:rPr spc="-25" dirty="0"/>
              <a:t> </a:t>
            </a:r>
            <a:r>
              <a:rPr dirty="0"/>
              <a:t>Đình</a:t>
            </a:r>
            <a:r>
              <a:rPr spc="-20" dirty="0"/>
              <a:t> </a:t>
            </a:r>
            <a:r>
              <a:rPr dirty="0"/>
              <a:t>Phùng</a:t>
            </a:r>
            <a:r>
              <a:rPr spc="-25" dirty="0"/>
              <a:t> </a:t>
            </a:r>
            <a:r>
              <a:rPr dirty="0"/>
              <a:t>–</a:t>
            </a:r>
            <a:r>
              <a:rPr spc="-20" dirty="0"/>
              <a:t> </a:t>
            </a:r>
            <a:r>
              <a:rPr spc="-10" dirty="0"/>
              <a:t>18130181</a:t>
            </a:r>
          </a:p>
        </p:txBody>
      </p:sp>
      <p:sp>
        <p:nvSpPr>
          <p:cNvPr id="9" name="object 9" descr=""/>
          <p:cNvSpPr txBox="1"/>
          <p:nvPr/>
        </p:nvSpPr>
        <p:spPr>
          <a:xfrm>
            <a:off x="2584627" y="3115174"/>
            <a:ext cx="591185" cy="119380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600" dirty="0">
                <a:solidFill>
                  <a:srgbClr val="00AEEF"/>
                </a:solidFill>
                <a:latin typeface="Arial"/>
                <a:cs typeface="Arial"/>
                <a:hlinkClick r:id="rId3" action="ppaction://hlinksldjump"/>
              </a:rPr>
              <a:t>Cải</a:t>
            </a:r>
            <a:r>
              <a:rPr sz="600" spc="-30" dirty="0">
                <a:solidFill>
                  <a:srgbClr val="00AEE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600" dirty="0">
                <a:solidFill>
                  <a:srgbClr val="00AEEF"/>
                </a:solidFill>
                <a:latin typeface="Arial"/>
                <a:cs typeface="Arial"/>
                <a:hlinkClick r:id="rId3" action="ppaction://hlinksldjump"/>
              </a:rPr>
              <a:t>Thiện</a:t>
            </a:r>
            <a:r>
              <a:rPr sz="600" spc="-30" dirty="0">
                <a:solidFill>
                  <a:srgbClr val="00AEE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600" spc="-10" dirty="0">
                <a:solidFill>
                  <a:srgbClr val="00AEEF"/>
                </a:solidFill>
                <a:latin typeface="Arial"/>
                <a:cs typeface="Arial"/>
                <a:hlinkClick r:id="rId3" action="ppaction://hlinksldjump"/>
              </a:rPr>
              <a:t>Apriori</a:t>
            </a:r>
            <a:endParaRPr sz="600">
              <a:latin typeface="Arial"/>
              <a:cs typeface="Arial"/>
            </a:endParaRPr>
          </a:p>
        </p:txBody>
      </p:sp>
      <p:sp>
        <p:nvSpPr>
          <p:cNvPr id="10" name="object 10" descr="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dirty="0"/>
              <a:t>Năm</a:t>
            </a:r>
            <a:r>
              <a:rPr spc="-30" dirty="0"/>
              <a:t> </a:t>
            </a:r>
            <a:r>
              <a:rPr dirty="0"/>
              <a:t>học</a:t>
            </a:r>
            <a:r>
              <a:rPr spc="-25" dirty="0"/>
              <a:t> </a:t>
            </a:r>
            <a:r>
              <a:rPr spc="-10" dirty="0"/>
              <a:t>2025–2026</a:t>
            </a:r>
          </a:p>
        </p:txBody>
      </p:sp>
      <p:sp>
        <p:nvSpPr>
          <p:cNvPr id="11" name="object 11" descr="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79375">
              <a:lnSpc>
                <a:spcPct val="100000"/>
              </a:lnSpc>
              <a:spcBef>
                <a:spcPts val="70"/>
              </a:spcBef>
            </a:pPr>
            <a:fld id="{81D60167-4931-47E6-BA6A-407CBD079E47}" type="slidenum">
              <a:rPr spc="-10" dirty="0"/>
              <a:t>3</a:t>
            </a:fld>
            <a:r>
              <a:rPr spc="-70" dirty="0"/>
              <a:t> </a:t>
            </a:r>
            <a:r>
              <a:rPr dirty="0"/>
              <a:t>/</a:t>
            </a:r>
            <a:r>
              <a:rPr spc="-65" dirty="0"/>
              <a:t> </a:t>
            </a:r>
            <a:r>
              <a:rPr spc="-25" dirty="0"/>
              <a:t>32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fast">
        <p:cut thruBlk="0"/>
      </p:transition>
    </mc:Choice>
    <mc:Fallback>
      <p:transition spd="fast">
        <p:cut thruBlk="0"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0"/>
            <a:ext cx="5760085" cy="349250"/>
          </a:xfrm>
          <a:custGeom>
            <a:avLst/>
            <a:gdLst/>
            <a:ahLst/>
            <a:cxnLst/>
            <a:rect l="l" t="t" r="r" b="b"/>
            <a:pathLst>
              <a:path w="5760085" h="349250">
                <a:moveTo>
                  <a:pt x="5759996" y="0"/>
                </a:moveTo>
                <a:lnTo>
                  <a:pt x="0" y="0"/>
                </a:lnTo>
                <a:lnTo>
                  <a:pt x="0" y="348729"/>
                </a:lnTo>
                <a:lnTo>
                  <a:pt x="5759996" y="348729"/>
                </a:lnTo>
                <a:lnTo>
                  <a:pt x="5759996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925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pc="-20" dirty="0"/>
              <a:t>THUẬT</a:t>
            </a:r>
            <a:r>
              <a:rPr spc="-85" dirty="0"/>
              <a:t> </a:t>
            </a:r>
            <a:r>
              <a:rPr dirty="0"/>
              <a:t>TOÁN</a:t>
            </a:r>
            <a:r>
              <a:rPr spc="-85" dirty="0"/>
              <a:t> </a:t>
            </a:r>
            <a:r>
              <a:rPr spc="-10" dirty="0"/>
              <a:t>APRIORI</a:t>
            </a:r>
          </a:p>
        </p:txBody>
      </p:sp>
      <p:sp>
        <p:nvSpPr>
          <p:cNvPr id="4" name="object 4" descr=""/>
          <p:cNvSpPr txBox="1"/>
          <p:nvPr/>
        </p:nvSpPr>
        <p:spPr>
          <a:xfrm>
            <a:off x="135928" y="779019"/>
            <a:ext cx="4872355" cy="645795"/>
          </a:xfrm>
          <a:prstGeom prst="rect">
            <a:avLst/>
          </a:prstGeom>
        </p:spPr>
        <p:txBody>
          <a:bodyPr vert="horz" wrap="square" lIns="0" tIns="136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75"/>
              </a:spcBef>
            </a:pPr>
            <a:r>
              <a:rPr sz="1400" dirty="0">
                <a:latin typeface="Arial"/>
                <a:cs typeface="Arial"/>
              </a:rPr>
              <a:t>Nguyên</a:t>
            </a:r>
            <a:r>
              <a:rPr sz="1400" spc="1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tắc</a:t>
            </a:r>
            <a:r>
              <a:rPr sz="1400" spc="1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cơ</a:t>
            </a:r>
            <a:r>
              <a:rPr sz="1400" spc="10" dirty="0">
                <a:latin typeface="Arial"/>
                <a:cs typeface="Arial"/>
              </a:rPr>
              <a:t> </a:t>
            </a:r>
            <a:r>
              <a:rPr sz="1400" spc="-20" dirty="0">
                <a:latin typeface="Arial"/>
                <a:cs typeface="Arial"/>
              </a:rPr>
              <a:t>bản:</a:t>
            </a:r>
            <a:endParaRPr sz="1400">
              <a:latin typeface="Arial"/>
              <a:cs typeface="Arial"/>
            </a:endParaRPr>
          </a:p>
          <a:p>
            <a:pPr marL="610235">
              <a:lnSpc>
                <a:spcPct val="100000"/>
              </a:lnSpc>
              <a:spcBef>
                <a:spcPts val="785"/>
              </a:spcBef>
            </a:pPr>
            <a:r>
              <a:rPr sz="1200" i="1" spc="-25" dirty="0">
                <a:latin typeface="Arial"/>
                <a:cs typeface="Arial"/>
              </a:rPr>
              <a:t>“Tất </a:t>
            </a:r>
            <a:r>
              <a:rPr sz="1200" i="1" dirty="0">
                <a:latin typeface="Arial"/>
                <a:cs typeface="Arial"/>
              </a:rPr>
              <a:t>cả</a:t>
            </a:r>
            <a:r>
              <a:rPr sz="1200" i="1" spc="-20" dirty="0">
                <a:latin typeface="Arial"/>
                <a:cs typeface="Arial"/>
              </a:rPr>
              <a:t> </a:t>
            </a:r>
            <a:r>
              <a:rPr sz="1200" i="1" dirty="0">
                <a:latin typeface="Arial"/>
                <a:cs typeface="Arial"/>
              </a:rPr>
              <a:t>các</a:t>
            </a:r>
            <a:r>
              <a:rPr sz="1200" i="1" spc="-25" dirty="0">
                <a:latin typeface="Arial"/>
                <a:cs typeface="Arial"/>
              </a:rPr>
              <a:t> </a:t>
            </a:r>
            <a:r>
              <a:rPr sz="1200" i="1" dirty="0">
                <a:latin typeface="Arial"/>
                <a:cs typeface="Arial"/>
              </a:rPr>
              <a:t>tập</a:t>
            </a:r>
            <a:r>
              <a:rPr sz="1200" i="1" spc="-20" dirty="0">
                <a:latin typeface="Arial"/>
                <a:cs typeface="Arial"/>
              </a:rPr>
              <a:t> </a:t>
            </a:r>
            <a:r>
              <a:rPr sz="1200" i="1" dirty="0">
                <a:latin typeface="Arial"/>
                <a:cs typeface="Arial"/>
              </a:rPr>
              <a:t>con</a:t>
            </a:r>
            <a:r>
              <a:rPr sz="1200" i="1" spc="-20" dirty="0">
                <a:latin typeface="Arial"/>
                <a:cs typeface="Arial"/>
              </a:rPr>
              <a:t> </a:t>
            </a:r>
            <a:r>
              <a:rPr sz="1200" i="1" dirty="0">
                <a:latin typeface="Arial"/>
                <a:cs typeface="Arial"/>
              </a:rPr>
              <a:t>của</a:t>
            </a:r>
            <a:r>
              <a:rPr sz="1200" i="1" spc="-25" dirty="0">
                <a:latin typeface="Arial"/>
                <a:cs typeface="Arial"/>
              </a:rPr>
              <a:t> </a:t>
            </a:r>
            <a:r>
              <a:rPr sz="1200" i="1" dirty="0">
                <a:latin typeface="Arial"/>
                <a:cs typeface="Arial"/>
              </a:rPr>
              <a:t>một</a:t>
            </a:r>
            <a:r>
              <a:rPr sz="1200" i="1" spc="-20" dirty="0">
                <a:latin typeface="Arial"/>
                <a:cs typeface="Arial"/>
              </a:rPr>
              <a:t> </a:t>
            </a:r>
            <a:r>
              <a:rPr sz="1200" i="1" dirty="0">
                <a:latin typeface="Arial"/>
                <a:cs typeface="Arial"/>
              </a:rPr>
              <a:t>frequent</a:t>
            </a:r>
            <a:r>
              <a:rPr sz="1200" i="1" spc="-25" dirty="0">
                <a:latin typeface="Arial"/>
                <a:cs typeface="Arial"/>
              </a:rPr>
              <a:t> </a:t>
            </a:r>
            <a:r>
              <a:rPr sz="1200" i="1" spc="-10" dirty="0">
                <a:latin typeface="Arial"/>
                <a:cs typeface="Arial"/>
              </a:rPr>
              <a:t>itemset</a:t>
            </a:r>
            <a:r>
              <a:rPr sz="1200" i="1" spc="-20" dirty="0">
                <a:latin typeface="Arial"/>
                <a:cs typeface="Arial"/>
              </a:rPr>
              <a:t> </a:t>
            </a:r>
            <a:r>
              <a:rPr sz="1200" i="1" dirty="0">
                <a:latin typeface="Arial"/>
                <a:cs typeface="Arial"/>
              </a:rPr>
              <a:t>đều</a:t>
            </a:r>
            <a:r>
              <a:rPr sz="1200" i="1" spc="-20" dirty="0">
                <a:latin typeface="Arial"/>
                <a:cs typeface="Arial"/>
              </a:rPr>
              <a:t> </a:t>
            </a:r>
            <a:r>
              <a:rPr sz="1200" i="1" dirty="0">
                <a:latin typeface="Arial"/>
                <a:cs typeface="Arial"/>
              </a:rPr>
              <a:t>phải</a:t>
            </a:r>
            <a:r>
              <a:rPr sz="1200" i="1" spc="-25" dirty="0">
                <a:latin typeface="Arial"/>
                <a:cs typeface="Arial"/>
              </a:rPr>
              <a:t> </a:t>
            </a:r>
            <a:r>
              <a:rPr sz="1200" i="1" spc="-10" dirty="0">
                <a:latin typeface="Arial"/>
                <a:cs typeface="Arial"/>
              </a:rPr>
              <a:t>frequent”</a:t>
            </a:r>
            <a:endParaRPr sz="1200">
              <a:latin typeface="Arial"/>
              <a:cs typeface="Arial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86385" y="1572641"/>
            <a:ext cx="2018664" cy="911225"/>
          </a:xfrm>
          <a:prstGeom prst="rect">
            <a:avLst/>
          </a:prstGeom>
        </p:spPr>
        <p:txBody>
          <a:bodyPr vert="horz" wrap="square" lIns="0" tIns="514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5"/>
              </a:spcBef>
            </a:pPr>
            <a:r>
              <a:rPr sz="1200" b="1" dirty="0">
                <a:latin typeface="Arial"/>
                <a:cs typeface="Arial"/>
              </a:rPr>
              <a:t>Ưu</a:t>
            </a:r>
            <a:r>
              <a:rPr sz="1200" b="1" spc="-25" dirty="0">
                <a:latin typeface="Arial"/>
                <a:cs typeface="Arial"/>
              </a:rPr>
              <a:t> </a:t>
            </a:r>
            <a:r>
              <a:rPr sz="1200" b="1" spc="-10" dirty="0">
                <a:latin typeface="Arial"/>
                <a:cs typeface="Arial"/>
              </a:rPr>
              <a:t>điểm:</a:t>
            </a:r>
            <a:endParaRPr sz="1200">
              <a:latin typeface="Arial"/>
              <a:cs typeface="Arial"/>
            </a:endParaRPr>
          </a:p>
          <a:p>
            <a:pPr marL="307975" indent="-199390">
              <a:lnSpc>
                <a:spcPct val="100000"/>
              </a:lnSpc>
              <a:spcBef>
                <a:spcPts val="300"/>
              </a:spcBef>
              <a:buFont typeface="Segoe UI Emoji"/>
              <a:buChar char="✓"/>
              <a:tabLst>
                <a:tab pos="307975" algn="l"/>
              </a:tabLst>
            </a:pPr>
            <a:r>
              <a:rPr sz="1200" spc="-20" dirty="0">
                <a:latin typeface="Arial"/>
                <a:cs typeface="Arial"/>
              </a:rPr>
              <a:t>Đơn</a:t>
            </a:r>
            <a:r>
              <a:rPr sz="1200" spc="-2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giản,</a:t>
            </a:r>
            <a:r>
              <a:rPr sz="1200" spc="-2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dễ</a:t>
            </a:r>
            <a:r>
              <a:rPr sz="1200" spc="-25" dirty="0">
                <a:latin typeface="Arial"/>
                <a:cs typeface="Arial"/>
              </a:rPr>
              <a:t> </a:t>
            </a:r>
            <a:r>
              <a:rPr sz="1200" spc="-20" dirty="0">
                <a:latin typeface="Arial"/>
                <a:cs typeface="Arial"/>
              </a:rPr>
              <a:t>hiểu</a:t>
            </a:r>
            <a:endParaRPr sz="1200">
              <a:latin typeface="Arial"/>
              <a:cs typeface="Arial"/>
            </a:endParaRPr>
          </a:p>
          <a:p>
            <a:pPr marL="307975" indent="-199390">
              <a:lnSpc>
                <a:spcPct val="100000"/>
              </a:lnSpc>
              <a:spcBef>
                <a:spcPts val="305"/>
              </a:spcBef>
              <a:buFont typeface="Segoe UI Emoji"/>
              <a:buChar char="✓"/>
              <a:tabLst>
                <a:tab pos="307975" algn="l"/>
              </a:tabLst>
            </a:pPr>
            <a:r>
              <a:rPr sz="1200" dirty="0">
                <a:latin typeface="Arial"/>
                <a:cs typeface="Arial"/>
              </a:rPr>
              <a:t>Dễ</a:t>
            </a:r>
            <a:r>
              <a:rPr sz="1200" spc="-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triển</a:t>
            </a:r>
            <a:r>
              <a:rPr sz="1200" spc="-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khai</a:t>
            </a:r>
            <a:r>
              <a:rPr sz="1200" spc="-5" dirty="0">
                <a:latin typeface="Arial"/>
                <a:cs typeface="Arial"/>
              </a:rPr>
              <a:t> </a:t>
            </a:r>
            <a:r>
              <a:rPr sz="1200" spc="-10" dirty="0">
                <a:latin typeface="Arial"/>
                <a:cs typeface="Arial"/>
              </a:rPr>
              <a:t>(implement)</a:t>
            </a:r>
            <a:endParaRPr sz="1200">
              <a:latin typeface="Arial"/>
              <a:cs typeface="Arial"/>
            </a:endParaRPr>
          </a:p>
          <a:p>
            <a:pPr marL="307975" indent="-199390">
              <a:lnSpc>
                <a:spcPct val="100000"/>
              </a:lnSpc>
              <a:spcBef>
                <a:spcPts val="305"/>
              </a:spcBef>
              <a:buFont typeface="Segoe UI Emoji"/>
              <a:buChar char="✓"/>
              <a:tabLst>
                <a:tab pos="307975" algn="l"/>
              </a:tabLst>
            </a:pPr>
            <a:r>
              <a:rPr sz="1200" dirty="0">
                <a:latin typeface="Arial"/>
                <a:cs typeface="Arial"/>
              </a:rPr>
              <a:t>Hiệu</a:t>
            </a:r>
            <a:r>
              <a:rPr sz="1200" spc="-2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quả</a:t>
            </a:r>
            <a:r>
              <a:rPr sz="1200" spc="-25" dirty="0">
                <a:latin typeface="Arial"/>
                <a:cs typeface="Arial"/>
              </a:rPr>
              <a:t> </a:t>
            </a:r>
            <a:r>
              <a:rPr sz="1200" spc="-35" dirty="0">
                <a:latin typeface="Arial"/>
                <a:cs typeface="Arial"/>
              </a:rPr>
              <a:t>với</a:t>
            </a:r>
            <a:r>
              <a:rPr sz="1200" spc="-2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dataset</a:t>
            </a:r>
            <a:r>
              <a:rPr sz="1200" spc="-25" dirty="0">
                <a:latin typeface="Arial"/>
                <a:cs typeface="Arial"/>
              </a:rPr>
              <a:t> nhỏ</a:t>
            </a:r>
            <a:endParaRPr sz="1200">
              <a:latin typeface="Arial"/>
              <a:cs typeface="Arial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2916847" y="1575143"/>
            <a:ext cx="2561590" cy="911225"/>
          </a:xfrm>
          <a:prstGeom prst="rect">
            <a:avLst/>
          </a:prstGeom>
        </p:spPr>
        <p:txBody>
          <a:bodyPr vert="horz" wrap="square" lIns="0" tIns="514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5"/>
              </a:spcBef>
            </a:pPr>
            <a:r>
              <a:rPr sz="1200" b="1" spc="-10" dirty="0">
                <a:latin typeface="Arial"/>
                <a:cs typeface="Arial"/>
              </a:rPr>
              <a:t>Nhược</a:t>
            </a:r>
            <a:r>
              <a:rPr sz="1200" b="1" spc="-35" dirty="0">
                <a:latin typeface="Arial"/>
                <a:cs typeface="Arial"/>
              </a:rPr>
              <a:t> </a:t>
            </a:r>
            <a:r>
              <a:rPr sz="1200" b="1" spc="-10" dirty="0">
                <a:latin typeface="Arial"/>
                <a:cs typeface="Arial"/>
              </a:rPr>
              <a:t>điểm:</a:t>
            </a:r>
            <a:endParaRPr sz="1200">
              <a:latin typeface="Arial"/>
              <a:cs typeface="Arial"/>
            </a:endParaRPr>
          </a:p>
          <a:p>
            <a:pPr marL="117475">
              <a:lnSpc>
                <a:spcPct val="100000"/>
              </a:lnSpc>
              <a:spcBef>
                <a:spcPts val="300"/>
              </a:spcBef>
            </a:pPr>
            <a:r>
              <a:rPr sz="1200" dirty="0">
                <a:latin typeface="Lucida Sans Unicode"/>
                <a:cs typeface="Lucida Sans Unicode"/>
              </a:rPr>
              <a:t>×</a:t>
            </a:r>
            <a:r>
              <a:rPr sz="1200" spc="160" dirty="0">
                <a:latin typeface="Lucida Sans Unicode"/>
                <a:cs typeface="Lucida Sans Unicode"/>
              </a:rPr>
              <a:t> </a:t>
            </a:r>
            <a:r>
              <a:rPr sz="1200" dirty="0">
                <a:latin typeface="Arial"/>
                <a:cs typeface="Arial"/>
              </a:rPr>
              <a:t>Phải</a:t>
            </a:r>
            <a:r>
              <a:rPr sz="1200" spc="-2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quét</a:t>
            </a:r>
            <a:r>
              <a:rPr sz="1200" spc="-25" dirty="0">
                <a:latin typeface="Arial"/>
                <a:cs typeface="Arial"/>
              </a:rPr>
              <a:t> </a:t>
            </a:r>
            <a:r>
              <a:rPr sz="1200" spc="-35" dirty="0">
                <a:latin typeface="Arial"/>
                <a:cs typeface="Arial"/>
              </a:rPr>
              <a:t>cơ</a:t>
            </a:r>
            <a:r>
              <a:rPr sz="1200" spc="-25" dirty="0">
                <a:latin typeface="Arial"/>
                <a:cs typeface="Arial"/>
              </a:rPr>
              <a:t> </a:t>
            </a:r>
            <a:r>
              <a:rPr sz="1200" spc="-35" dirty="0">
                <a:latin typeface="Arial"/>
                <a:cs typeface="Arial"/>
              </a:rPr>
              <a:t>sở</a:t>
            </a:r>
            <a:r>
              <a:rPr sz="1200" spc="-3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dữ</a:t>
            </a:r>
            <a:r>
              <a:rPr sz="1200" spc="-2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liệu</a:t>
            </a:r>
            <a:r>
              <a:rPr sz="1200" spc="-2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nhiều</a:t>
            </a:r>
            <a:r>
              <a:rPr sz="1200" spc="-25" dirty="0">
                <a:latin typeface="Arial"/>
                <a:cs typeface="Arial"/>
              </a:rPr>
              <a:t> lần</a:t>
            </a:r>
            <a:endParaRPr sz="1200">
              <a:latin typeface="Arial"/>
              <a:cs typeface="Arial"/>
            </a:endParaRPr>
          </a:p>
          <a:p>
            <a:pPr marL="117475">
              <a:lnSpc>
                <a:spcPct val="100000"/>
              </a:lnSpc>
              <a:spcBef>
                <a:spcPts val="305"/>
              </a:spcBef>
            </a:pPr>
            <a:r>
              <a:rPr sz="1200" dirty="0">
                <a:latin typeface="Lucida Sans Unicode"/>
                <a:cs typeface="Lucida Sans Unicode"/>
              </a:rPr>
              <a:t>×</a:t>
            </a:r>
            <a:r>
              <a:rPr sz="1200" spc="150" dirty="0">
                <a:latin typeface="Lucida Sans Unicode"/>
                <a:cs typeface="Lucida Sans Unicode"/>
              </a:rPr>
              <a:t> </a:t>
            </a:r>
            <a:r>
              <a:rPr sz="1200" spc="-25" dirty="0">
                <a:latin typeface="Arial"/>
                <a:cs typeface="Arial"/>
              </a:rPr>
              <a:t>Tập</a:t>
            </a:r>
            <a:r>
              <a:rPr sz="1200" spc="-3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ứng</a:t>
            </a:r>
            <a:r>
              <a:rPr sz="1200" spc="-3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viên</a:t>
            </a:r>
            <a:r>
              <a:rPr sz="1200" spc="-3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(candidate</a:t>
            </a:r>
            <a:r>
              <a:rPr sz="1200" spc="-3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sets)</a:t>
            </a:r>
            <a:r>
              <a:rPr sz="1200" spc="-35" dirty="0">
                <a:latin typeface="Arial"/>
                <a:cs typeface="Arial"/>
              </a:rPr>
              <a:t> </a:t>
            </a:r>
            <a:r>
              <a:rPr sz="1200" spc="-25" dirty="0">
                <a:latin typeface="Arial"/>
                <a:cs typeface="Arial"/>
              </a:rPr>
              <a:t>lớn</a:t>
            </a:r>
            <a:endParaRPr sz="1200">
              <a:latin typeface="Arial"/>
              <a:cs typeface="Arial"/>
            </a:endParaRPr>
          </a:p>
          <a:p>
            <a:pPr marL="117475">
              <a:lnSpc>
                <a:spcPct val="100000"/>
              </a:lnSpc>
              <a:spcBef>
                <a:spcPts val="305"/>
              </a:spcBef>
            </a:pPr>
            <a:r>
              <a:rPr sz="1200" dirty="0">
                <a:latin typeface="Lucida Sans Unicode"/>
                <a:cs typeface="Lucida Sans Unicode"/>
              </a:rPr>
              <a:t>×</a:t>
            </a:r>
            <a:r>
              <a:rPr sz="1200" spc="165" dirty="0">
                <a:latin typeface="Lucida Sans Unicode"/>
                <a:cs typeface="Lucida Sans Unicode"/>
              </a:rPr>
              <a:t> </a:t>
            </a:r>
            <a:r>
              <a:rPr sz="1200" spc="-20" dirty="0">
                <a:latin typeface="Arial"/>
                <a:cs typeface="Arial"/>
              </a:rPr>
              <a:t>Tốn </a:t>
            </a:r>
            <a:r>
              <a:rPr sz="1200" dirty="0">
                <a:latin typeface="Arial"/>
                <a:cs typeface="Arial"/>
              </a:rPr>
              <a:t>nhiều</a:t>
            </a:r>
            <a:r>
              <a:rPr sz="1200" spc="-2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bộ</a:t>
            </a:r>
            <a:r>
              <a:rPr sz="1200" spc="-25" dirty="0">
                <a:latin typeface="Arial"/>
                <a:cs typeface="Arial"/>
              </a:rPr>
              <a:t> nhớ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7" name="object 7" descr=""/>
          <p:cNvGrpSpPr/>
          <p:nvPr/>
        </p:nvGrpSpPr>
        <p:grpSpPr>
          <a:xfrm>
            <a:off x="0" y="3110712"/>
            <a:ext cx="5760085" cy="129539"/>
            <a:chOff x="0" y="3110712"/>
            <a:chExt cx="5760085" cy="129539"/>
          </a:xfrm>
        </p:grpSpPr>
        <p:sp>
          <p:nvSpPr>
            <p:cNvPr id="8" name="object 8" descr=""/>
            <p:cNvSpPr/>
            <p:nvPr/>
          </p:nvSpPr>
          <p:spPr>
            <a:xfrm>
              <a:off x="0" y="3110712"/>
              <a:ext cx="1920239" cy="129539"/>
            </a:xfrm>
            <a:custGeom>
              <a:avLst/>
              <a:gdLst/>
              <a:ahLst/>
              <a:cxnLst/>
              <a:rect l="l" t="t" r="r" b="b"/>
              <a:pathLst>
                <a:path w="1920239" h="129539">
                  <a:moveTo>
                    <a:pt x="1919973" y="0"/>
                  </a:moveTo>
                  <a:lnTo>
                    <a:pt x="0" y="0"/>
                  </a:lnTo>
                  <a:lnTo>
                    <a:pt x="0" y="129285"/>
                  </a:lnTo>
                  <a:lnTo>
                    <a:pt x="1919973" y="129285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1919973" y="3110712"/>
              <a:ext cx="1920239" cy="129539"/>
            </a:xfrm>
            <a:custGeom>
              <a:avLst/>
              <a:gdLst/>
              <a:ahLst/>
              <a:cxnLst/>
              <a:rect l="l" t="t" r="r" b="b"/>
              <a:pathLst>
                <a:path w="1920239" h="129539">
                  <a:moveTo>
                    <a:pt x="1919973" y="0"/>
                  </a:moveTo>
                  <a:lnTo>
                    <a:pt x="0" y="0"/>
                  </a:lnTo>
                  <a:lnTo>
                    <a:pt x="0" y="129286"/>
                  </a:lnTo>
                  <a:lnTo>
                    <a:pt x="1919973" y="129286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3839946" y="3110712"/>
              <a:ext cx="1920239" cy="129539"/>
            </a:xfrm>
            <a:custGeom>
              <a:avLst/>
              <a:gdLst/>
              <a:ahLst/>
              <a:cxnLst/>
              <a:rect l="l" t="t" r="r" b="b"/>
              <a:pathLst>
                <a:path w="1920239" h="129539">
                  <a:moveTo>
                    <a:pt x="1919973" y="0"/>
                  </a:moveTo>
                  <a:lnTo>
                    <a:pt x="0" y="0"/>
                  </a:lnTo>
                  <a:lnTo>
                    <a:pt x="0" y="129286"/>
                  </a:lnTo>
                  <a:lnTo>
                    <a:pt x="1919973" y="129286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 descr="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dirty="0"/>
              <a:t>Lê</a:t>
            </a:r>
            <a:r>
              <a:rPr spc="-25" dirty="0"/>
              <a:t> </a:t>
            </a:r>
            <a:r>
              <a:rPr dirty="0"/>
              <a:t>Đình</a:t>
            </a:r>
            <a:r>
              <a:rPr spc="-20" dirty="0"/>
              <a:t> </a:t>
            </a:r>
            <a:r>
              <a:rPr dirty="0"/>
              <a:t>Phùng</a:t>
            </a:r>
            <a:r>
              <a:rPr spc="-25" dirty="0"/>
              <a:t> </a:t>
            </a:r>
            <a:r>
              <a:rPr dirty="0"/>
              <a:t>–</a:t>
            </a:r>
            <a:r>
              <a:rPr spc="-20" dirty="0"/>
              <a:t> </a:t>
            </a:r>
            <a:r>
              <a:rPr spc="-10" dirty="0"/>
              <a:t>18130181</a:t>
            </a:r>
          </a:p>
        </p:txBody>
      </p:sp>
      <p:sp>
        <p:nvSpPr>
          <p:cNvPr id="12" name="object 12" descr=""/>
          <p:cNvSpPr txBox="1"/>
          <p:nvPr/>
        </p:nvSpPr>
        <p:spPr>
          <a:xfrm>
            <a:off x="2584627" y="3115174"/>
            <a:ext cx="591185" cy="119380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600" dirty="0">
                <a:solidFill>
                  <a:srgbClr val="00AEEF"/>
                </a:solidFill>
                <a:latin typeface="Arial"/>
                <a:cs typeface="Arial"/>
                <a:hlinkClick r:id="rId2" action="ppaction://hlinksldjump"/>
              </a:rPr>
              <a:t>Cải</a:t>
            </a:r>
            <a:r>
              <a:rPr sz="600" spc="-30" dirty="0">
                <a:solidFill>
                  <a:srgbClr val="00AEEF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sz="600" dirty="0">
                <a:solidFill>
                  <a:srgbClr val="00AEEF"/>
                </a:solidFill>
                <a:latin typeface="Arial"/>
                <a:cs typeface="Arial"/>
                <a:hlinkClick r:id="rId2" action="ppaction://hlinksldjump"/>
              </a:rPr>
              <a:t>Thiện</a:t>
            </a:r>
            <a:r>
              <a:rPr sz="600" spc="-30" dirty="0">
                <a:solidFill>
                  <a:srgbClr val="00AEEF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sz="600" spc="-10" dirty="0">
                <a:solidFill>
                  <a:srgbClr val="00AEEF"/>
                </a:solidFill>
                <a:latin typeface="Arial"/>
                <a:cs typeface="Arial"/>
                <a:hlinkClick r:id="rId2" action="ppaction://hlinksldjump"/>
              </a:rPr>
              <a:t>Apriori</a:t>
            </a:r>
            <a:endParaRPr sz="600">
              <a:latin typeface="Arial"/>
              <a:cs typeface="Arial"/>
            </a:endParaRPr>
          </a:p>
        </p:txBody>
      </p:sp>
      <p:sp>
        <p:nvSpPr>
          <p:cNvPr id="13" name="object 13" descr="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dirty="0"/>
              <a:t>Năm</a:t>
            </a:r>
            <a:r>
              <a:rPr spc="-30" dirty="0"/>
              <a:t> </a:t>
            </a:r>
            <a:r>
              <a:rPr dirty="0"/>
              <a:t>học</a:t>
            </a:r>
            <a:r>
              <a:rPr spc="-25" dirty="0"/>
              <a:t> </a:t>
            </a:r>
            <a:r>
              <a:rPr spc="-10" dirty="0"/>
              <a:t>2025–2026</a:t>
            </a:r>
          </a:p>
        </p:txBody>
      </p:sp>
      <p:sp>
        <p:nvSpPr>
          <p:cNvPr id="14" name="object 14" descr="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79375">
              <a:lnSpc>
                <a:spcPct val="100000"/>
              </a:lnSpc>
              <a:spcBef>
                <a:spcPts val="70"/>
              </a:spcBef>
            </a:pPr>
            <a:fld id="{81D60167-4931-47E6-BA6A-407CBD079E47}" type="slidenum">
              <a:rPr spc="-10" dirty="0"/>
              <a:t>3</a:t>
            </a:fld>
            <a:r>
              <a:rPr spc="-70" dirty="0"/>
              <a:t> </a:t>
            </a:r>
            <a:r>
              <a:rPr dirty="0"/>
              <a:t>/</a:t>
            </a:r>
            <a:r>
              <a:rPr spc="-65" dirty="0"/>
              <a:t> </a:t>
            </a:r>
            <a:r>
              <a:rPr spc="-25" dirty="0"/>
              <a:t>32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fast">
        <p:cut thruBlk="0"/>
      </p:transition>
    </mc:Choice>
    <mc:Fallback>
      <p:transition spd="fast">
        <p:cut thruBlk="0"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0"/>
            <a:ext cx="5760085" cy="349250"/>
          </a:xfrm>
          <a:custGeom>
            <a:avLst/>
            <a:gdLst/>
            <a:ahLst/>
            <a:cxnLst/>
            <a:rect l="l" t="t" r="r" b="b"/>
            <a:pathLst>
              <a:path w="5760085" h="349250">
                <a:moveTo>
                  <a:pt x="5759996" y="0"/>
                </a:moveTo>
                <a:lnTo>
                  <a:pt x="0" y="0"/>
                </a:lnTo>
                <a:lnTo>
                  <a:pt x="0" y="348729"/>
                </a:lnTo>
                <a:lnTo>
                  <a:pt x="5759996" y="348729"/>
                </a:lnTo>
                <a:lnTo>
                  <a:pt x="5759996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925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/>
              <a:t>CÁC</a:t>
            </a:r>
            <a:r>
              <a:rPr spc="-90" dirty="0"/>
              <a:t> </a:t>
            </a:r>
            <a:r>
              <a:rPr spc="-30" dirty="0"/>
              <a:t>BƯỚC</a:t>
            </a:r>
            <a:r>
              <a:rPr spc="-85" dirty="0"/>
              <a:t> </a:t>
            </a:r>
            <a:r>
              <a:rPr spc="-20" dirty="0"/>
              <a:t>THUẬT</a:t>
            </a:r>
            <a:r>
              <a:rPr spc="-90" dirty="0"/>
              <a:t> </a:t>
            </a:r>
            <a:r>
              <a:rPr spc="-20" dirty="0"/>
              <a:t>TOÁN</a:t>
            </a:r>
          </a:p>
        </p:txBody>
      </p:sp>
      <p:sp>
        <p:nvSpPr>
          <p:cNvPr id="4" name="object 4" descr=""/>
          <p:cNvSpPr txBox="1"/>
          <p:nvPr/>
        </p:nvSpPr>
        <p:spPr>
          <a:xfrm>
            <a:off x="135928" y="625589"/>
            <a:ext cx="4446905" cy="2018664"/>
          </a:xfrm>
          <a:prstGeom prst="rect">
            <a:avLst/>
          </a:prstGeom>
        </p:spPr>
        <p:txBody>
          <a:bodyPr vert="horz" wrap="square" lIns="0" tIns="51435" rIns="0" bIns="0" rtlCol="0">
            <a:spAutoFit/>
          </a:bodyPr>
          <a:lstStyle/>
          <a:p>
            <a:pPr marL="180975" indent="-168275">
              <a:lnSpc>
                <a:spcPct val="100000"/>
              </a:lnSpc>
              <a:spcBef>
                <a:spcPts val="405"/>
              </a:spcBef>
              <a:buAutoNum type="arabicPeriod"/>
              <a:tabLst>
                <a:tab pos="180975" algn="l"/>
              </a:tabLst>
            </a:pPr>
            <a:r>
              <a:rPr sz="1200" b="1" dirty="0">
                <a:latin typeface="Arial"/>
                <a:cs typeface="Arial"/>
              </a:rPr>
              <a:t>Khởi</a:t>
            </a:r>
            <a:r>
              <a:rPr sz="1200" b="1" spc="-45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tạo</a:t>
            </a:r>
            <a:r>
              <a:rPr sz="1200" b="1" spc="-40" dirty="0">
                <a:latin typeface="Arial"/>
                <a:cs typeface="Arial"/>
              </a:rPr>
              <a:t> </a:t>
            </a:r>
            <a:r>
              <a:rPr sz="1200" b="1" spc="-10" dirty="0">
                <a:latin typeface="Arial"/>
                <a:cs typeface="Arial"/>
              </a:rPr>
              <a:t>(Initialization)</a:t>
            </a:r>
            <a:endParaRPr sz="1200">
              <a:latin typeface="Arial"/>
              <a:cs typeface="Arial"/>
            </a:endParaRPr>
          </a:p>
          <a:p>
            <a:pPr marL="309880">
              <a:lnSpc>
                <a:spcPct val="100000"/>
              </a:lnSpc>
              <a:spcBef>
                <a:spcPts val="300"/>
              </a:spcBef>
            </a:pPr>
            <a:r>
              <a:rPr sz="1200" dirty="0">
                <a:latin typeface="Arial"/>
                <a:cs typeface="Arial"/>
              </a:rPr>
              <a:t>Thiết</a:t>
            </a:r>
            <a:r>
              <a:rPr sz="1200" spc="-2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lập</a:t>
            </a:r>
            <a:r>
              <a:rPr sz="1200" spc="-20" dirty="0">
                <a:latin typeface="Arial"/>
                <a:cs typeface="Arial"/>
              </a:rPr>
              <a:t> </a:t>
            </a:r>
            <a:r>
              <a:rPr sz="1200" spc="-25" dirty="0">
                <a:latin typeface="Arial"/>
                <a:cs typeface="Arial"/>
              </a:rPr>
              <a:t>ngưỡng</a:t>
            </a:r>
            <a:r>
              <a:rPr sz="1200" spc="-2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hỗ</a:t>
            </a:r>
            <a:r>
              <a:rPr sz="1200" spc="-20" dirty="0">
                <a:latin typeface="Arial"/>
                <a:cs typeface="Arial"/>
              </a:rPr>
              <a:t> </a:t>
            </a:r>
            <a:r>
              <a:rPr sz="1200" spc="-30" dirty="0">
                <a:latin typeface="Arial"/>
                <a:cs typeface="Arial"/>
              </a:rPr>
              <a:t>trợ</a:t>
            </a:r>
            <a:r>
              <a:rPr sz="1200" spc="-2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tối</a:t>
            </a:r>
            <a:r>
              <a:rPr sz="1200" spc="-2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thiểu</a:t>
            </a:r>
            <a:r>
              <a:rPr sz="1200" spc="-2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(minimum</a:t>
            </a:r>
            <a:r>
              <a:rPr sz="1200" spc="-1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support</a:t>
            </a:r>
            <a:r>
              <a:rPr sz="1200" spc="-20" dirty="0">
                <a:latin typeface="Arial"/>
                <a:cs typeface="Arial"/>
              </a:rPr>
              <a:t> </a:t>
            </a:r>
            <a:r>
              <a:rPr sz="1200" spc="-10" dirty="0">
                <a:latin typeface="Arial"/>
                <a:cs typeface="Arial"/>
              </a:rPr>
              <a:t>threshold)</a:t>
            </a:r>
            <a:endParaRPr sz="1200">
              <a:latin typeface="Arial"/>
              <a:cs typeface="Arial"/>
            </a:endParaRPr>
          </a:p>
          <a:p>
            <a:pPr marL="180975" indent="-168275">
              <a:lnSpc>
                <a:spcPct val="100000"/>
              </a:lnSpc>
              <a:spcBef>
                <a:spcPts val="305"/>
              </a:spcBef>
              <a:buAutoNum type="arabicPeriod" startAt="2"/>
              <a:tabLst>
                <a:tab pos="180975" algn="l"/>
              </a:tabLst>
            </a:pPr>
            <a:r>
              <a:rPr sz="1200" b="1" dirty="0">
                <a:latin typeface="Arial"/>
                <a:cs typeface="Arial"/>
              </a:rPr>
              <a:t>Sinh</a:t>
            </a:r>
            <a:r>
              <a:rPr sz="1200" b="1" spc="-45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ứng</a:t>
            </a:r>
            <a:r>
              <a:rPr sz="1200" b="1" spc="-45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viên</a:t>
            </a:r>
            <a:r>
              <a:rPr sz="1200" b="1" spc="-40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(Generate</a:t>
            </a:r>
            <a:r>
              <a:rPr sz="1200" b="1" spc="-45" dirty="0">
                <a:latin typeface="Arial"/>
                <a:cs typeface="Arial"/>
              </a:rPr>
              <a:t> </a:t>
            </a:r>
            <a:r>
              <a:rPr sz="1200" b="1" spc="-10" dirty="0">
                <a:latin typeface="Arial"/>
                <a:cs typeface="Arial"/>
              </a:rPr>
              <a:t>Candidates)</a:t>
            </a:r>
            <a:endParaRPr sz="1200">
              <a:latin typeface="Arial"/>
              <a:cs typeface="Arial"/>
            </a:endParaRPr>
          </a:p>
          <a:p>
            <a:pPr marL="309880">
              <a:lnSpc>
                <a:spcPct val="100000"/>
              </a:lnSpc>
              <a:spcBef>
                <a:spcPts val="305"/>
              </a:spcBef>
            </a:pPr>
            <a:r>
              <a:rPr sz="1200" spc="-25" dirty="0">
                <a:latin typeface="Arial"/>
                <a:cs typeface="Arial"/>
              </a:rPr>
              <a:t>Tạo</a:t>
            </a:r>
            <a:r>
              <a:rPr sz="1200" spc="-55" dirty="0">
                <a:latin typeface="Arial"/>
                <a:cs typeface="Arial"/>
              </a:rPr>
              <a:t> </a:t>
            </a:r>
            <a:r>
              <a:rPr sz="1200" spc="-30" dirty="0">
                <a:latin typeface="Arial"/>
                <a:cs typeface="Arial"/>
              </a:rPr>
              <a:t>k-</a:t>
            </a:r>
            <a:r>
              <a:rPr sz="1200" dirty="0">
                <a:latin typeface="Arial"/>
                <a:cs typeface="Arial"/>
              </a:rPr>
              <a:t>itemsets</a:t>
            </a:r>
            <a:r>
              <a:rPr sz="1200" spc="-50" dirty="0">
                <a:latin typeface="Arial"/>
                <a:cs typeface="Arial"/>
              </a:rPr>
              <a:t> </a:t>
            </a:r>
            <a:r>
              <a:rPr sz="1200" spc="-10" dirty="0">
                <a:latin typeface="Arial"/>
                <a:cs typeface="Arial"/>
              </a:rPr>
              <a:t>từ</a:t>
            </a:r>
            <a:r>
              <a:rPr sz="1200" spc="-50" dirty="0">
                <a:latin typeface="Arial"/>
                <a:cs typeface="Arial"/>
              </a:rPr>
              <a:t> </a:t>
            </a:r>
            <a:r>
              <a:rPr sz="1200" spc="-30" dirty="0">
                <a:latin typeface="Arial"/>
                <a:cs typeface="Arial"/>
              </a:rPr>
              <a:t>(k-</a:t>
            </a:r>
            <a:r>
              <a:rPr sz="1200" spc="-10" dirty="0">
                <a:latin typeface="Arial"/>
                <a:cs typeface="Arial"/>
              </a:rPr>
              <a:t>1)-itemsets</a:t>
            </a:r>
            <a:endParaRPr sz="1200">
              <a:latin typeface="Arial"/>
              <a:cs typeface="Arial"/>
            </a:endParaRPr>
          </a:p>
          <a:p>
            <a:pPr marL="180975" indent="-168275">
              <a:lnSpc>
                <a:spcPct val="100000"/>
              </a:lnSpc>
              <a:spcBef>
                <a:spcPts val="300"/>
              </a:spcBef>
              <a:buAutoNum type="arabicPeriod" startAt="3"/>
              <a:tabLst>
                <a:tab pos="180975" algn="l"/>
              </a:tabLst>
            </a:pPr>
            <a:r>
              <a:rPr sz="1200" b="1" dirty="0">
                <a:latin typeface="Arial"/>
                <a:cs typeface="Arial"/>
              </a:rPr>
              <a:t>Tỉa</a:t>
            </a:r>
            <a:r>
              <a:rPr sz="1200" b="1" spc="-30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cành</a:t>
            </a:r>
            <a:r>
              <a:rPr sz="1200" b="1" spc="-30" dirty="0">
                <a:latin typeface="Arial"/>
                <a:cs typeface="Arial"/>
              </a:rPr>
              <a:t> </a:t>
            </a:r>
            <a:r>
              <a:rPr sz="1200" b="1" spc="-10" dirty="0">
                <a:latin typeface="Arial"/>
                <a:cs typeface="Arial"/>
              </a:rPr>
              <a:t>(Prune)</a:t>
            </a:r>
            <a:endParaRPr sz="1200">
              <a:latin typeface="Arial"/>
              <a:cs typeface="Arial"/>
            </a:endParaRPr>
          </a:p>
          <a:p>
            <a:pPr marL="309880" marR="930910">
              <a:lnSpc>
                <a:spcPct val="121100"/>
              </a:lnSpc>
            </a:pPr>
            <a:r>
              <a:rPr sz="1200" dirty="0">
                <a:latin typeface="Arial"/>
                <a:cs typeface="Arial"/>
              </a:rPr>
              <a:t>Loại</a:t>
            </a:r>
            <a:r>
              <a:rPr sz="1200" spc="-2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bỏ</a:t>
            </a:r>
            <a:r>
              <a:rPr sz="1200" spc="-1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các</a:t>
            </a:r>
            <a:r>
              <a:rPr sz="1200" spc="-1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items</a:t>
            </a:r>
            <a:r>
              <a:rPr sz="1200" spc="-1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có</a:t>
            </a:r>
            <a:r>
              <a:rPr sz="1200" spc="-1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support</a:t>
            </a:r>
            <a:r>
              <a:rPr sz="1200" spc="-1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&lt;</a:t>
            </a:r>
            <a:r>
              <a:rPr sz="1200" spc="-15" dirty="0">
                <a:latin typeface="Arial"/>
                <a:cs typeface="Arial"/>
              </a:rPr>
              <a:t> </a:t>
            </a:r>
            <a:r>
              <a:rPr sz="1200" spc="-25" dirty="0">
                <a:latin typeface="Arial"/>
                <a:cs typeface="Arial"/>
              </a:rPr>
              <a:t>ngưỡng</a:t>
            </a:r>
            <a:r>
              <a:rPr sz="1200" spc="-1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tối</a:t>
            </a:r>
            <a:r>
              <a:rPr sz="1200" spc="-15" dirty="0">
                <a:latin typeface="Arial"/>
                <a:cs typeface="Arial"/>
              </a:rPr>
              <a:t> </a:t>
            </a:r>
            <a:r>
              <a:rPr sz="1200" spc="-10" dirty="0">
                <a:latin typeface="Arial"/>
                <a:cs typeface="Arial"/>
              </a:rPr>
              <a:t>thiểu </a:t>
            </a:r>
            <a:r>
              <a:rPr sz="1200" dirty="0">
                <a:latin typeface="Arial"/>
                <a:cs typeface="Arial"/>
              </a:rPr>
              <a:t>Áp</a:t>
            </a:r>
            <a:r>
              <a:rPr sz="1200" spc="-2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dụng</a:t>
            </a:r>
            <a:r>
              <a:rPr sz="1200" spc="-1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nguyên</a:t>
            </a:r>
            <a:r>
              <a:rPr sz="1200" spc="-1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tắc</a:t>
            </a:r>
            <a:r>
              <a:rPr sz="1200" spc="-1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Apriori</a:t>
            </a:r>
            <a:r>
              <a:rPr sz="1200" spc="-1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(Apriori</a:t>
            </a:r>
            <a:r>
              <a:rPr sz="1200" spc="-15" dirty="0">
                <a:latin typeface="Arial"/>
                <a:cs typeface="Arial"/>
              </a:rPr>
              <a:t> </a:t>
            </a:r>
            <a:r>
              <a:rPr sz="1200" spc="-10" dirty="0">
                <a:latin typeface="Arial"/>
                <a:cs typeface="Arial"/>
              </a:rPr>
              <a:t>principle)</a:t>
            </a:r>
            <a:endParaRPr sz="1200">
              <a:latin typeface="Arial"/>
              <a:cs typeface="Arial"/>
            </a:endParaRPr>
          </a:p>
          <a:p>
            <a:pPr marL="180975" indent="-168275">
              <a:lnSpc>
                <a:spcPct val="100000"/>
              </a:lnSpc>
              <a:spcBef>
                <a:spcPts val="305"/>
              </a:spcBef>
              <a:buAutoNum type="arabicPeriod" startAt="4"/>
              <a:tabLst>
                <a:tab pos="180975" algn="l"/>
              </a:tabLst>
            </a:pPr>
            <a:r>
              <a:rPr sz="1200" b="1" dirty="0">
                <a:latin typeface="Arial"/>
                <a:cs typeface="Arial"/>
              </a:rPr>
              <a:t>Lặp</a:t>
            </a:r>
            <a:r>
              <a:rPr sz="1200" b="1" spc="-25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lại</a:t>
            </a:r>
            <a:r>
              <a:rPr sz="1200" b="1" spc="-20" dirty="0">
                <a:latin typeface="Arial"/>
                <a:cs typeface="Arial"/>
              </a:rPr>
              <a:t> </a:t>
            </a:r>
            <a:r>
              <a:rPr sz="1200" b="1" spc="-10" dirty="0">
                <a:latin typeface="Arial"/>
                <a:cs typeface="Arial"/>
              </a:rPr>
              <a:t>(Repeat)</a:t>
            </a:r>
            <a:endParaRPr sz="1200">
              <a:latin typeface="Arial"/>
              <a:cs typeface="Arial"/>
            </a:endParaRPr>
          </a:p>
          <a:p>
            <a:pPr marL="309880">
              <a:lnSpc>
                <a:spcPct val="100000"/>
              </a:lnSpc>
              <a:spcBef>
                <a:spcPts val="305"/>
              </a:spcBef>
            </a:pPr>
            <a:r>
              <a:rPr sz="1200" spc="-20" dirty="0">
                <a:latin typeface="Arial"/>
                <a:cs typeface="Arial"/>
              </a:rPr>
              <a:t>Tăng </a:t>
            </a:r>
            <a:r>
              <a:rPr sz="1200" dirty="0">
                <a:latin typeface="Arial"/>
                <a:cs typeface="Arial"/>
              </a:rPr>
              <a:t>k</a:t>
            </a:r>
            <a:r>
              <a:rPr sz="1200" spc="-2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cho</a:t>
            </a:r>
            <a:r>
              <a:rPr sz="1200" spc="-2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đến</a:t>
            </a:r>
            <a:r>
              <a:rPr sz="1200" spc="-2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khi</a:t>
            </a:r>
            <a:r>
              <a:rPr sz="1200" spc="-2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không</a:t>
            </a:r>
            <a:r>
              <a:rPr sz="1200" spc="-2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còn</a:t>
            </a:r>
            <a:r>
              <a:rPr sz="1200" spc="-2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tìm</a:t>
            </a:r>
            <a:r>
              <a:rPr sz="1200" spc="-2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thấy</a:t>
            </a:r>
            <a:r>
              <a:rPr sz="1200" spc="-2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frequent</a:t>
            </a:r>
            <a:r>
              <a:rPr sz="1200" spc="-20" dirty="0">
                <a:latin typeface="Arial"/>
                <a:cs typeface="Arial"/>
              </a:rPr>
              <a:t> </a:t>
            </a:r>
            <a:r>
              <a:rPr sz="1200" spc="-10" dirty="0">
                <a:latin typeface="Arial"/>
                <a:cs typeface="Arial"/>
              </a:rPr>
              <a:t>items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5" name="object 5" descr=""/>
          <p:cNvGrpSpPr/>
          <p:nvPr/>
        </p:nvGrpSpPr>
        <p:grpSpPr>
          <a:xfrm>
            <a:off x="0" y="3110712"/>
            <a:ext cx="5760085" cy="129539"/>
            <a:chOff x="0" y="3110712"/>
            <a:chExt cx="5760085" cy="129539"/>
          </a:xfrm>
        </p:grpSpPr>
        <p:sp>
          <p:nvSpPr>
            <p:cNvPr id="6" name="object 6" descr=""/>
            <p:cNvSpPr/>
            <p:nvPr/>
          </p:nvSpPr>
          <p:spPr>
            <a:xfrm>
              <a:off x="0" y="3110712"/>
              <a:ext cx="1920239" cy="129539"/>
            </a:xfrm>
            <a:custGeom>
              <a:avLst/>
              <a:gdLst/>
              <a:ahLst/>
              <a:cxnLst/>
              <a:rect l="l" t="t" r="r" b="b"/>
              <a:pathLst>
                <a:path w="1920239" h="129539">
                  <a:moveTo>
                    <a:pt x="1919973" y="0"/>
                  </a:moveTo>
                  <a:lnTo>
                    <a:pt x="0" y="0"/>
                  </a:lnTo>
                  <a:lnTo>
                    <a:pt x="0" y="129286"/>
                  </a:lnTo>
                  <a:lnTo>
                    <a:pt x="1919973" y="129286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1919973" y="3110712"/>
              <a:ext cx="1920239" cy="129539"/>
            </a:xfrm>
            <a:custGeom>
              <a:avLst/>
              <a:gdLst/>
              <a:ahLst/>
              <a:cxnLst/>
              <a:rect l="l" t="t" r="r" b="b"/>
              <a:pathLst>
                <a:path w="1920239" h="129539">
                  <a:moveTo>
                    <a:pt x="1919973" y="0"/>
                  </a:moveTo>
                  <a:lnTo>
                    <a:pt x="0" y="0"/>
                  </a:lnTo>
                  <a:lnTo>
                    <a:pt x="0" y="129286"/>
                  </a:lnTo>
                  <a:lnTo>
                    <a:pt x="1919973" y="129286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3839946" y="3110712"/>
              <a:ext cx="1920239" cy="129539"/>
            </a:xfrm>
            <a:custGeom>
              <a:avLst/>
              <a:gdLst/>
              <a:ahLst/>
              <a:cxnLst/>
              <a:rect l="l" t="t" r="r" b="b"/>
              <a:pathLst>
                <a:path w="1920239" h="129539">
                  <a:moveTo>
                    <a:pt x="1919973" y="0"/>
                  </a:moveTo>
                  <a:lnTo>
                    <a:pt x="0" y="0"/>
                  </a:lnTo>
                  <a:lnTo>
                    <a:pt x="0" y="129286"/>
                  </a:lnTo>
                  <a:lnTo>
                    <a:pt x="1919973" y="129286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 descr="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dirty="0"/>
              <a:t>Lê</a:t>
            </a:r>
            <a:r>
              <a:rPr spc="-25" dirty="0"/>
              <a:t> </a:t>
            </a:r>
            <a:r>
              <a:rPr dirty="0"/>
              <a:t>Đình</a:t>
            </a:r>
            <a:r>
              <a:rPr spc="-20" dirty="0"/>
              <a:t> </a:t>
            </a:r>
            <a:r>
              <a:rPr dirty="0"/>
              <a:t>Phùng</a:t>
            </a:r>
            <a:r>
              <a:rPr spc="-25" dirty="0"/>
              <a:t> </a:t>
            </a:r>
            <a:r>
              <a:rPr dirty="0"/>
              <a:t>–</a:t>
            </a:r>
            <a:r>
              <a:rPr spc="-20" dirty="0"/>
              <a:t> </a:t>
            </a:r>
            <a:r>
              <a:rPr spc="-10" dirty="0"/>
              <a:t>18130181</a:t>
            </a:r>
          </a:p>
        </p:txBody>
      </p:sp>
      <p:sp>
        <p:nvSpPr>
          <p:cNvPr id="10" name="object 10" descr=""/>
          <p:cNvSpPr txBox="1"/>
          <p:nvPr/>
        </p:nvSpPr>
        <p:spPr>
          <a:xfrm>
            <a:off x="2584627" y="3115174"/>
            <a:ext cx="591185" cy="119380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600" dirty="0">
                <a:solidFill>
                  <a:srgbClr val="00AEEF"/>
                </a:solidFill>
                <a:latin typeface="Arial"/>
                <a:cs typeface="Arial"/>
                <a:hlinkClick r:id="rId2" action="ppaction://hlinksldjump"/>
              </a:rPr>
              <a:t>Cải</a:t>
            </a:r>
            <a:r>
              <a:rPr sz="600" spc="-30" dirty="0">
                <a:solidFill>
                  <a:srgbClr val="00AEEF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sz="600" dirty="0">
                <a:solidFill>
                  <a:srgbClr val="00AEEF"/>
                </a:solidFill>
                <a:latin typeface="Arial"/>
                <a:cs typeface="Arial"/>
                <a:hlinkClick r:id="rId2" action="ppaction://hlinksldjump"/>
              </a:rPr>
              <a:t>Thiện</a:t>
            </a:r>
            <a:r>
              <a:rPr sz="600" spc="-30" dirty="0">
                <a:solidFill>
                  <a:srgbClr val="00AEEF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sz="600" spc="-10" dirty="0">
                <a:solidFill>
                  <a:srgbClr val="00AEEF"/>
                </a:solidFill>
                <a:latin typeface="Arial"/>
                <a:cs typeface="Arial"/>
                <a:hlinkClick r:id="rId2" action="ppaction://hlinksldjump"/>
              </a:rPr>
              <a:t>Apriori</a:t>
            </a:r>
            <a:endParaRPr sz="600">
              <a:latin typeface="Arial"/>
              <a:cs typeface="Arial"/>
            </a:endParaRPr>
          </a:p>
        </p:txBody>
      </p:sp>
      <p:sp>
        <p:nvSpPr>
          <p:cNvPr id="11" name="object 11" descr="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dirty="0"/>
              <a:t>Năm</a:t>
            </a:r>
            <a:r>
              <a:rPr spc="-30" dirty="0"/>
              <a:t> </a:t>
            </a:r>
            <a:r>
              <a:rPr dirty="0"/>
              <a:t>học</a:t>
            </a:r>
            <a:r>
              <a:rPr spc="-25" dirty="0"/>
              <a:t> </a:t>
            </a:r>
            <a:r>
              <a:rPr spc="-10" dirty="0"/>
              <a:t>2025–2026</a:t>
            </a:r>
          </a:p>
        </p:txBody>
      </p:sp>
      <p:sp>
        <p:nvSpPr>
          <p:cNvPr id="12" name="object 12" descr="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79375">
              <a:lnSpc>
                <a:spcPct val="100000"/>
              </a:lnSpc>
              <a:spcBef>
                <a:spcPts val="70"/>
              </a:spcBef>
            </a:pPr>
            <a:fld id="{81D60167-4931-47E6-BA6A-407CBD079E47}" type="slidenum">
              <a:rPr spc="-10" dirty="0"/>
              <a:t>3</a:t>
            </a:fld>
            <a:r>
              <a:rPr spc="-70" dirty="0"/>
              <a:t> </a:t>
            </a:r>
            <a:r>
              <a:rPr dirty="0"/>
              <a:t>/</a:t>
            </a:r>
            <a:r>
              <a:rPr spc="-65" dirty="0"/>
              <a:t> </a:t>
            </a:r>
            <a:r>
              <a:rPr spc="-25" dirty="0"/>
              <a:t>32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fast">
        <p:cut thruBlk="0"/>
      </p:transition>
    </mc:Choice>
    <mc:Fallback>
      <p:transition spd="fast">
        <p:cut thruBlk="0"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95300" y="40457"/>
            <a:ext cx="2401570" cy="2882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700" dirty="0">
                <a:solidFill>
                  <a:srgbClr val="FFFFFF"/>
                </a:solidFill>
                <a:latin typeface="Arial"/>
                <a:cs typeface="Arial"/>
              </a:rPr>
              <a:t>CÁC</a:t>
            </a:r>
            <a:r>
              <a:rPr sz="1700" spc="-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700" dirty="0">
                <a:solidFill>
                  <a:srgbClr val="FFFFFF"/>
                </a:solidFill>
                <a:latin typeface="Arial"/>
                <a:cs typeface="Arial"/>
              </a:rPr>
              <a:t>CHỈ SỐ ĐÁNH </a:t>
            </a:r>
            <a:r>
              <a:rPr sz="1700" spc="-25" dirty="0">
                <a:solidFill>
                  <a:srgbClr val="FFFFFF"/>
                </a:solidFill>
                <a:latin typeface="Arial"/>
                <a:cs typeface="Arial"/>
              </a:rPr>
              <a:t>GIÁ</a:t>
            </a:r>
            <a:endParaRPr sz="1700">
              <a:latin typeface="Arial"/>
              <a:cs typeface="Arial"/>
            </a:endParaRPr>
          </a:p>
        </p:txBody>
      </p:sp>
      <p:graphicFrame>
        <p:nvGraphicFramePr>
          <p:cNvPr id="3" name="object 3" descr=""/>
          <p:cNvGraphicFramePr>
            <a:graphicFrameLocks xmlns:a="http://schemas.openxmlformats.org/drawingml/2006/main" noGrp="1"/>
          </p:cNvGraphicFramePr>
          <p:nvPr/>
        </p:nvGraphicFramePr>
        <p:xfrm>
          <a:off x="1337678" y="715035"/>
          <a:ext cx="3161030" cy="11455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57885"/>
                <a:gridCol w="778510"/>
                <a:gridCol w="1443990"/>
              </a:tblGrid>
              <a:tr h="193040">
                <a:tc>
                  <a:txBody>
                    <a:bodyPr/>
                    <a:lstStyle/>
                    <a:p>
                      <a:pPr marL="78105">
                        <a:lnSpc>
                          <a:spcPts val="1315"/>
                        </a:lnSpc>
                      </a:pPr>
                      <a:r>
                        <a:rPr sz="1100" b="1" dirty="0">
                          <a:latin typeface="Arial"/>
                          <a:cs typeface="Arial"/>
                        </a:rPr>
                        <a:t>Chỉ</a:t>
                      </a:r>
                      <a:r>
                        <a:rPr sz="1100" b="1" spc="-25" dirty="0">
                          <a:latin typeface="Arial"/>
                          <a:cs typeface="Arial"/>
                        </a:rPr>
                        <a:t> Số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8105">
                        <a:lnSpc>
                          <a:spcPts val="1315"/>
                        </a:lnSpc>
                      </a:pPr>
                      <a:r>
                        <a:rPr sz="1100" b="1" dirty="0">
                          <a:latin typeface="Arial"/>
                          <a:cs typeface="Arial"/>
                        </a:rPr>
                        <a:t>Mô</a:t>
                      </a:r>
                      <a:r>
                        <a:rPr sz="1100" b="1" spc="-25" dirty="0">
                          <a:latin typeface="Arial"/>
                          <a:cs typeface="Arial"/>
                        </a:rPr>
                        <a:t> Tả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8105">
                        <a:lnSpc>
                          <a:spcPts val="1315"/>
                        </a:lnSpc>
                      </a:pPr>
                      <a:r>
                        <a:rPr sz="1100" b="1" dirty="0">
                          <a:latin typeface="Arial"/>
                          <a:cs typeface="Arial"/>
                        </a:rPr>
                        <a:t>Công</a:t>
                      </a:r>
                      <a:r>
                        <a:rPr sz="1100" b="1" spc="-6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100" b="1" spc="-20" dirty="0">
                          <a:latin typeface="Arial"/>
                          <a:cs typeface="Arial"/>
                        </a:rPr>
                        <a:t>Thức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68910">
                <a:tc>
                  <a:txBody>
                    <a:bodyPr/>
                    <a:lstStyle/>
                    <a:p>
                      <a:pPr marL="78105">
                        <a:lnSpc>
                          <a:spcPts val="1235"/>
                        </a:lnSpc>
                      </a:pPr>
                      <a:r>
                        <a:rPr sz="1100" spc="-10" dirty="0">
                          <a:latin typeface="Arial"/>
                          <a:cs typeface="Arial"/>
                        </a:rPr>
                        <a:t>Support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78105">
                        <a:lnSpc>
                          <a:spcPts val="1235"/>
                        </a:lnSpc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Độ</a:t>
                      </a:r>
                      <a:r>
                        <a:rPr sz="110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100" dirty="0">
                          <a:latin typeface="Arial"/>
                          <a:cs typeface="Arial"/>
                        </a:rPr>
                        <a:t>hỗ</a:t>
                      </a:r>
                      <a:r>
                        <a:rPr sz="1100" spc="-25" dirty="0">
                          <a:latin typeface="Arial"/>
                          <a:cs typeface="Arial"/>
                        </a:rPr>
                        <a:t> trợ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 rowSpan="5">
                  <a:txBody>
                    <a:bodyPr/>
                    <a:lstStyle/>
                    <a:p>
                      <a:pPr marL="78105">
                        <a:lnSpc>
                          <a:spcPts val="1240"/>
                        </a:lnSpc>
                      </a:pPr>
                      <a:r>
                        <a:rPr sz="1100" spc="-10" dirty="0">
                          <a:latin typeface="Arial"/>
                          <a:cs typeface="Arial"/>
                        </a:rPr>
                        <a:t>P(A</a:t>
                      </a:r>
                      <a:r>
                        <a:rPr sz="1100" spc="-10" dirty="0">
                          <a:latin typeface="Lucida Sans Unicode"/>
                          <a:cs typeface="Lucida Sans Unicode"/>
                        </a:rPr>
                        <a:t>∪</a:t>
                      </a:r>
                      <a:r>
                        <a:rPr sz="1100" spc="-10" dirty="0">
                          <a:latin typeface="Arial"/>
                          <a:cs typeface="Arial"/>
                        </a:rPr>
                        <a:t>B)</a:t>
                      </a:r>
                      <a:endParaRPr sz="1100">
                        <a:latin typeface="Arial"/>
                        <a:cs typeface="Arial"/>
                      </a:endParaRPr>
                    </a:p>
                    <a:p>
                      <a:pPr marL="78105">
                        <a:lnSpc>
                          <a:spcPts val="1310"/>
                        </a:lnSpc>
                        <a:spcBef>
                          <a:spcPts val="35"/>
                        </a:spcBef>
                      </a:pPr>
                      <a:r>
                        <a:rPr sz="1100" spc="-10" dirty="0">
                          <a:latin typeface="Arial"/>
                          <a:cs typeface="Arial"/>
                        </a:rPr>
                        <a:t>P(B|A)</a:t>
                      </a:r>
                      <a:endParaRPr sz="1100">
                        <a:latin typeface="Arial"/>
                        <a:cs typeface="Arial"/>
                      </a:endParaRPr>
                    </a:p>
                    <a:p>
                      <a:pPr marL="93345">
                        <a:lnSpc>
                          <a:spcPts val="935"/>
                        </a:lnSpc>
                      </a:pPr>
                      <a:r>
                        <a:rPr sz="800" i="1" u="sng" spc="150" dirty="0">
                          <a:uFill>
                            <a:solidFill>
                              <a:srgbClr val="000000"/>
                            </a:solidFill>
                          </a:uFill>
                          <a:latin typeface="Arial"/>
                          <a:cs typeface="Arial"/>
                        </a:rPr>
                        <a:t> </a:t>
                      </a:r>
                      <a:r>
                        <a:rPr sz="800" i="1" u="sng" spc="-10" dirty="0">
                          <a:uFill>
                            <a:solidFill>
                              <a:srgbClr val="000000"/>
                            </a:solidFill>
                          </a:uFill>
                          <a:latin typeface="Arial"/>
                          <a:cs typeface="Arial"/>
                        </a:rPr>
                        <a:t>P</a:t>
                      </a:r>
                      <a:r>
                        <a:rPr sz="800" u="sng" spc="-10" dirty="0">
                          <a:uFill>
                            <a:solidFill>
                              <a:srgbClr val="000000"/>
                            </a:solidFill>
                          </a:uFill>
                          <a:latin typeface="Stencil"/>
                          <a:cs typeface="Stencil"/>
                        </a:rPr>
                        <a:t>(</a:t>
                      </a:r>
                      <a:r>
                        <a:rPr sz="800" i="1" u="sng" spc="-10" dirty="0">
                          <a:uFill>
                            <a:solidFill>
                              <a:srgbClr val="000000"/>
                            </a:solidFill>
                          </a:uFill>
                          <a:latin typeface="Arial"/>
                          <a:cs typeface="Arial"/>
                        </a:rPr>
                        <a:t>A</a:t>
                      </a:r>
                      <a:r>
                        <a:rPr sz="800" u="sng" spc="-10" dirty="0">
                          <a:uFill>
                            <a:solidFill>
                              <a:srgbClr val="000000"/>
                            </a:solidFill>
                          </a:uFill>
                          <a:latin typeface="Lucida Sans Unicode"/>
                          <a:cs typeface="Lucida Sans Unicode"/>
                        </a:rPr>
                        <a:t>∪</a:t>
                      </a:r>
                      <a:r>
                        <a:rPr sz="800" i="1" u="sng" spc="-10" dirty="0">
                          <a:uFill>
                            <a:solidFill>
                              <a:srgbClr val="000000"/>
                            </a:solidFill>
                          </a:uFill>
                          <a:latin typeface="Arial"/>
                          <a:cs typeface="Arial"/>
                        </a:rPr>
                        <a:t>B</a:t>
                      </a:r>
                      <a:r>
                        <a:rPr sz="800" u="sng" spc="-10" dirty="0">
                          <a:uFill>
                            <a:solidFill>
                              <a:srgbClr val="000000"/>
                            </a:solidFill>
                          </a:uFill>
                          <a:latin typeface="Stencil"/>
                          <a:cs typeface="Stencil"/>
                        </a:rPr>
                        <a:t>)</a:t>
                      </a:r>
                      <a:r>
                        <a:rPr sz="800" u="sng" spc="500" dirty="0">
                          <a:uFill>
                            <a:solidFill>
                              <a:srgbClr val="000000"/>
                            </a:solidFill>
                          </a:uFill>
                          <a:latin typeface="Stencil"/>
                          <a:cs typeface="Stencil"/>
                        </a:rPr>
                        <a:t> </a:t>
                      </a:r>
                      <a:endParaRPr sz="800">
                        <a:latin typeface="Stencil"/>
                        <a:cs typeface="Stencil"/>
                      </a:endParaRPr>
                    </a:p>
                    <a:p>
                      <a:pPr marL="93345">
                        <a:lnSpc>
                          <a:spcPts val="915"/>
                        </a:lnSpc>
                      </a:pPr>
                      <a:r>
                        <a:rPr sz="800" i="1" spc="-10" dirty="0">
                          <a:latin typeface="Arial"/>
                          <a:cs typeface="Arial"/>
                        </a:rPr>
                        <a:t>P</a:t>
                      </a:r>
                      <a:r>
                        <a:rPr sz="800" spc="-10" dirty="0">
                          <a:latin typeface="Stencil"/>
                          <a:cs typeface="Stencil"/>
                        </a:rPr>
                        <a:t>(</a:t>
                      </a:r>
                      <a:r>
                        <a:rPr sz="800" i="1" spc="-10" dirty="0">
                          <a:latin typeface="Arial"/>
                          <a:cs typeface="Arial"/>
                        </a:rPr>
                        <a:t>A</a:t>
                      </a:r>
                      <a:r>
                        <a:rPr sz="800" spc="-10" dirty="0">
                          <a:latin typeface="Stencil"/>
                          <a:cs typeface="Stencil"/>
                        </a:rPr>
                        <a:t>)</a:t>
                      </a:r>
                      <a:r>
                        <a:rPr sz="800" i="1" spc="-10" dirty="0">
                          <a:latin typeface="Arial"/>
                          <a:cs typeface="Arial"/>
                        </a:rPr>
                        <a:t>P</a:t>
                      </a:r>
                      <a:r>
                        <a:rPr sz="800" spc="-10" dirty="0">
                          <a:latin typeface="Stencil"/>
                          <a:cs typeface="Stencil"/>
                        </a:rPr>
                        <a:t>(</a:t>
                      </a:r>
                      <a:r>
                        <a:rPr sz="800" i="1" spc="-10" dirty="0">
                          <a:latin typeface="Arial"/>
                          <a:cs typeface="Arial"/>
                        </a:rPr>
                        <a:t>B</a:t>
                      </a:r>
                      <a:r>
                        <a:rPr sz="800" spc="-10" dirty="0">
                          <a:latin typeface="Stencil"/>
                          <a:cs typeface="Stencil"/>
                        </a:rPr>
                        <a:t>)</a:t>
                      </a:r>
                      <a:endParaRPr sz="800">
                        <a:latin typeface="Stencil"/>
                        <a:cs typeface="Stencil"/>
                      </a:endParaRPr>
                    </a:p>
                    <a:p>
                      <a:pPr marL="78105">
                        <a:lnSpc>
                          <a:spcPts val="1285"/>
                        </a:lnSpc>
                      </a:pPr>
                      <a:r>
                        <a:rPr sz="1100" i="1" dirty="0">
                          <a:latin typeface="Arial"/>
                          <a:cs typeface="Arial"/>
                        </a:rPr>
                        <a:t>P</a:t>
                      </a:r>
                      <a:r>
                        <a:rPr sz="1100" dirty="0">
                          <a:latin typeface="Tahoma"/>
                          <a:cs typeface="Tahoma"/>
                        </a:rPr>
                        <a:t>(</a:t>
                      </a:r>
                      <a:r>
                        <a:rPr sz="1100" i="1" dirty="0">
                          <a:latin typeface="Arial"/>
                          <a:cs typeface="Arial"/>
                        </a:rPr>
                        <a:t>A</a:t>
                      </a:r>
                      <a:r>
                        <a:rPr sz="1100" i="1" spc="-14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100" spc="-155" dirty="0">
                          <a:latin typeface="Lucida Sans Unicode"/>
                          <a:cs typeface="Lucida Sans Unicode"/>
                        </a:rPr>
                        <a:t>∪</a:t>
                      </a:r>
                      <a:r>
                        <a:rPr sz="1100" spc="-185" dirty="0"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sz="1100" i="1" dirty="0">
                          <a:latin typeface="Arial"/>
                          <a:cs typeface="Arial"/>
                        </a:rPr>
                        <a:t>B</a:t>
                      </a:r>
                      <a:r>
                        <a:rPr sz="1100" dirty="0">
                          <a:latin typeface="Tahoma"/>
                          <a:cs typeface="Tahoma"/>
                        </a:rPr>
                        <a:t>)</a:t>
                      </a:r>
                      <a:r>
                        <a:rPr sz="1100" spc="-17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100" spc="-35" dirty="0">
                          <a:latin typeface="Lucida Sans Unicode"/>
                          <a:cs typeface="Lucida Sans Unicode"/>
                        </a:rPr>
                        <a:t>−</a:t>
                      </a:r>
                      <a:r>
                        <a:rPr sz="1100" spc="-185" dirty="0"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sz="1100" i="1" spc="-10" dirty="0">
                          <a:latin typeface="Arial"/>
                          <a:cs typeface="Arial"/>
                        </a:rPr>
                        <a:t>P</a:t>
                      </a:r>
                      <a:r>
                        <a:rPr sz="1100" spc="-10" dirty="0">
                          <a:latin typeface="Tahoma"/>
                          <a:cs typeface="Tahoma"/>
                        </a:rPr>
                        <a:t>(</a:t>
                      </a:r>
                      <a:r>
                        <a:rPr sz="1100" i="1" spc="-10" dirty="0">
                          <a:latin typeface="Arial"/>
                          <a:cs typeface="Arial"/>
                        </a:rPr>
                        <a:t>A</a:t>
                      </a:r>
                      <a:r>
                        <a:rPr sz="1100" spc="-10" dirty="0">
                          <a:latin typeface="Tahoma"/>
                          <a:cs typeface="Tahoma"/>
                        </a:rPr>
                        <a:t>)</a:t>
                      </a:r>
                      <a:r>
                        <a:rPr sz="1100" i="1" spc="-10" dirty="0">
                          <a:latin typeface="Arial"/>
                          <a:cs typeface="Arial"/>
                        </a:rPr>
                        <a:t>P</a:t>
                      </a:r>
                      <a:r>
                        <a:rPr sz="1100" spc="-10" dirty="0">
                          <a:latin typeface="Tahoma"/>
                          <a:cs typeface="Tahoma"/>
                        </a:rPr>
                        <a:t>(</a:t>
                      </a:r>
                      <a:r>
                        <a:rPr sz="1100" i="1" spc="-10" dirty="0">
                          <a:latin typeface="Arial"/>
                          <a:cs typeface="Arial"/>
                        </a:rPr>
                        <a:t>B</a:t>
                      </a:r>
                      <a:r>
                        <a:rPr sz="1100" spc="-10" dirty="0">
                          <a:latin typeface="Tahoma"/>
                          <a:cs typeface="Tahoma"/>
                        </a:rPr>
                        <a:t>)</a:t>
                      </a:r>
                      <a:endParaRPr sz="1100">
                        <a:latin typeface="Tahoma"/>
                        <a:cs typeface="Tahoma"/>
                      </a:endParaRPr>
                    </a:p>
                    <a:p>
                      <a:pPr marL="93345">
                        <a:lnSpc>
                          <a:spcPts val="930"/>
                        </a:lnSpc>
                      </a:pPr>
                      <a:r>
                        <a:rPr sz="800" u="sng" spc="-10" dirty="0">
                          <a:uFill>
                            <a:solidFill>
                              <a:srgbClr val="000000"/>
                            </a:solidFill>
                          </a:uFill>
                          <a:latin typeface="Arial"/>
                          <a:cs typeface="Arial"/>
                        </a:rPr>
                        <a:t>1</a:t>
                      </a:r>
                      <a:r>
                        <a:rPr sz="800" u="sng" spc="-10" dirty="0">
                          <a:uFill>
                            <a:solidFill>
                              <a:srgbClr val="000000"/>
                            </a:solidFill>
                          </a:uFill>
                          <a:latin typeface="Lucida Sans Unicode"/>
                          <a:cs typeface="Lucida Sans Unicode"/>
                        </a:rPr>
                        <a:t>−</a:t>
                      </a:r>
                      <a:r>
                        <a:rPr sz="800" i="1" u="sng" spc="-10" dirty="0">
                          <a:uFill>
                            <a:solidFill>
                              <a:srgbClr val="000000"/>
                            </a:solidFill>
                          </a:uFill>
                          <a:latin typeface="Arial"/>
                          <a:cs typeface="Arial"/>
                        </a:rPr>
                        <a:t>P</a:t>
                      </a:r>
                      <a:r>
                        <a:rPr sz="800" u="sng" spc="-10" dirty="0">
                          <a:uFill>
                            <a:solidFill>
                              <a:srgbClr val="000000"/>
                            </a:solidFill>
                          </a:uFill>
                          <a:latin typeface="Stencil"/>
                          <a:cs typeface="Stencil"/>
                        </a:rPr>
                        <a:t>(</a:t>
                      </a:r>
                      <a:r>
                        <a:rPr sz="800" i="1" u="sng" spc="-10" dirty="0">
                          <a:uFill>
                            <a:solidFill>
                              <a:srgbClr val="000000"/>
                            </a:solidFill>
                          </a:uFill>
                          <a:latin typeface="Arial"/>
                          <a:cs typeface="Arial"/>
                        </a:rPr>
                        <a:t>B</a:t>
                      </a:r>
                      <a:r>
                        <a:rPr sz="800" u="sng" spc="-10" dirty="0">
                          <a:uFill>
                            <a:solidFill>
                              <a:srgbClr val="000000"/>
                            </a:solidFill>
                          </a:uFill>
                          <a:latin typeface="Stencil"/>
                          <a:cs typeface="Stencil"/>
                        </a:rPr>
                        <a:t>)</a:t>
                      </a:r>
                      <a:endParaRPr sz="800">
                        <a:latin typeface="Stencil"/>
                        <a:cs typeface="Stencil"/>
                      </a:endParaRPr>
                    </a:p>
                    <a:p>
                      <a:pPr marL="106045">
                        <a:lnSpc>
                          <a:spcPts val="765"/>
                        </a:lnSpc>
                      </a:pPr>
                      <a:r>
                        <a:rPr sz="800" spc="-10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800" spc="-10" dirty="0">
                          <a:latin typeface="Lucida Sans Unicode"/>
                          <a:cs typeface="Lucida Sans Unicode"/>
                        </a:rPr>
                        <a:t>−</a:t>
                      </a:r>
                      <a:r>
                        <a:rPr sz="800" i="1" spc="-10" dirty="0">
                          <a:latin typeface="Arial"/>
                          <a:cs typeface="Arial"/>
                        </a:rPr>
                        <a:t>conf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83515">
                <a:tc>
                  <a:txBody>
                    <a:bodyPr/>
                    <a:lstStyle/>
                    <a:p>
                      <a:pPr marL="78105">
                        <a:lnSpc>
                          <a:spcPts val="1260"/>
                        </a:lnSpc>
                      </a:pPr>
                      <a:r>
                        <a:rPr sz="1100" spc="-10" dirty="0">
                          <a:latin typeface="Arial"/>
                          <a:cs typeface="Arial"/>
                        </a:rPr>
                        <a:t>Confidence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78105">
                        <a:lnSpc>
                          <a:spcPts val="1260"/>
                        </a:lnSpc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Độ</a:t>
                      </a:r>
                      <a:r>
                        <a:rPr sz="11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100" dirty="0">
                          <a:latin typeface="Arial"/>
                          <a:cs typeface="Arial"/>
                        </a:rPr>
                        <a:t>tin</a:t>
                      </a:r>
                      <a:r>
                        <a:rPr sz="1100" spc="-25" dirty="0">
                          <a:latin typeface="Arial"/>
                          <a:cs typeface="Arial"/>
                        </a:rPr>
                        <a:t> cậy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98755">
                <a:tc>
                  <a:txBody>
                    <a:bodyPr/>
                    <a:lstStyle/>
                    <a:p>
                      <a:pPr marL="78105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1100" spc="-20" dirty="0">
                          <a:latin typeface="Arial"/>
                          <a:cs typeface="Arial"/>
                        </a:rPr>
                        <a:t>Lift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444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78105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Độ</a:t>
                      </a:r>
                      <a:r>
                        <a:rPr sz="1100" spc="-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100" spc="-20" dirty="0">
                          <a:latin typeface="Arial"/>
                          <a:cs typeface="Arial"/>
                        </a:rPr>
                        <a:t>nâng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444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98755">
                <a:tc>
                  <a:txBody>
                    <a:bodyPr/>
                    <a:lstStyle/>
                    <a:p>
                      <a:pPr marL="78105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sz="1100" spc="-10" dirty="0">
                          <a:latin typeface="Arial"/>
                          <a:cs typeface="Arial"/>
                        </a:rPr>
                        <a:t>Leverage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762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78105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Đòn</a:t>
                      </a:r>
                      <a:r>
                        <a:rPr sz="1100" spc="-5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100" spc="-25" dirty="0">
                          <a:latin typeface="Arial"/>
                          <a:cs typeface="Arial"/>
                        </a:rPr>
                        <a:t>bẩy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762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02565">
                <a:tc>
                  <a:txBody>
                    <a:bodyPr/>
                    <a:lstStyle/>
                    <a:p>
                      <a:pPr marL="78105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1100" spc="-10" dirty="0">
                          <a:latin typeface="Arial"/>
                          <a:cs typeface="Arial"/>
                        </a:rPr>
                        <a:t>Conviction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444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8105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Độ</a:t>
                      </a:r>
                      <a:r>
                        <a:rPr sz="1100" spc="-4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100" dirty="0">
                          <a:latin typeface="Arial"/>
                          <a:cs typeface="Arial"/>
                        </a:rPr>
                        <a:t>xác</a:t>
                      </a:r>
                      <a:r>
                        <a:rPr sz="1100" spc="-4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100" spc="-25" dirty="0">
                          <a:latin typeface="Arial"/>
                          <a:cs typeface="Arial"/>
                        </a:rPr>
                        <a:t>tín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444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4" name="object 4" descr=""/>
          <p:cNvSpPr txBox="1"/>
          <p:nvPr/>
        </p:nvSpPr>
        <p:spPr>
          <a:xfrm>
            <a:off x="433260" y="2059165"/>
            <a:ext cx="2072639" cy="690245"/>
          </a:xfrm>
          <a:prstGeom prst="rect">
            <a:avLst/>
          </a:prstGeom>
        </p:spPr>
        <p:txBody>
          <a:bodyPr vert="horz" wrap="square" lIns="0" tIns="514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5"/>
              </a:spcBef>
            </a:pPr>
            <a:r>
              <a:rPr sz="1200" b="1" dirty="0">
                <a:latin typeface="Arial"/>
                <a:cs typeface="Arial"/>
              </a:rPr>
              <a:t>Lift</a:t>
            </a:r>
            <a:r>
              <a:rPr sz="1200" b="1" spc="-25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&gt;</a:t>
            </a:r>
            <a:r>
              <a:rPr sz="1200" b="1" spc="-20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1</a:t>
            </a:r>
            <a:r>
              <a:rPr sz="1200" dirty="0">
                <a:latin typeface="Arial"/>
                <a:cs typeface="Arial"/>
              </a:rPr>
              <a:t>:</a:t>
            </a:r>
            <a:r>
              <a:rPr sz="1200" spc="-20" dirty="0">
                <a:latin typeface="Arial"/>
                <a:cs typeface="Arial"/>
              </a:rPr>
              <a:t> </a:t>
            </a:r>
            <a:r>
              <a:rPr sz="1200" spc="-30" dirty="0">
                <a:latin typeface="Arial"/>
                <a:cs typeface="Arial"/>
              </a:rPr>
              <a:t>Tương</a:t>
            </a:r>
            <a:r>
              <a:rPr sz="1200" spc="-2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quan</a:t>
            </a:r>
            <a:r>
              <a:rPr sz="1200" spc="-20" dirty="0">
                <a:latin typeface="Arial"/>
                <a:cs typeface="Arial"/>
              </a:rPr>
              <a:t> </a:t>
            </a:r>
            <a:r>
              <a:rPr sz="1200" spc="-25" dirty="0">
                <a:latin typeface="Arial"/>
                <a:cs typeface="Arial"/>
              </a:rPr>
              <a:t>dương</a:t>
            </a:r>
            <a:r>
              <a:rPr sz="1200" spc="-20" dirty="0">
                <a:latin typeface="Arial"/>
                <a:cs typeface="Arial"/>
              </a:rPr>
              <a:t> </a:t>
            </a:r>
            <a:r>
              <a:rPr sz="1200" spc="40" dirty="0">
                <a:latin typeface="Segoe UI Emoji"/>
                <a:cs typeface="Segoe UI Emoji"/>
              </a:rPr>
              <a:t>✓</a:t>
            </a:r>
            <a:endParaRPr sz="1200">
              <a:latin typeface="Segoe UI Emoji"/>
              <a:cs typeface="Segoe UI Emoji"/>
            </a:endParaRPr>
          </a:p>
          <a:p>
            <a:pPr marL="12700">
              <a:lnSpc>
                <a:spcPct val="100000"/>
              </a:lnSpc>
              <a:spcBef>
                <a:spcPts val="300"/>
              </a:spcBef>
            </a:pPr>
            <a:r>
              <a:rPr sz="1200" b="1" dirty="0">
                <a:latin typeface="Arial"/>
                <a:cs typeface="Arial"/>
              </a:rPr>
              <a:t>Lift</a:t>
            </a:r>
            <a:r>
              <a:rPr sz="1200" b="1" spc="-10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=</a:t>
            </a:r>
            <a:r>
              <a:rPr sz="1200" b="1" spc="-5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1</a:t>
            </a:r>
            <a:r>
              <a:rPr sz="1200" dirty="0">
                <a:latin typeface="Arial"/>
                <a:cs typeface="Arial"/>
              </a:rPr>
              <a:t>:</a:t>
            </a:r>
            <a:r>
              <a:rPr sz="1200" spc="-1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Độc</a:t>
            </a:r>
            <a:r>
              <a:rPr sz="1200" spc="-5" dirty="0">
                <a:latin typeface="Arial"/>
                <a:cs typeface="Arial"/>
              </a:rPr>
              <a:t> </a:t>
            </a:r>
            <a:r>
              <a:rPr sz="1200" spc="-25" dirty="0">
                <a:latin typeface="Arial"/>
                <a:cs typeface="Arial"/>
              </a:rPr>
              <a:t>lập</a:t>
            </a: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305"/>
              </a:spcBef>
            </a:pPr>
            <a:r>
              <a:rPr sz="1200" b="1" dirty="0">
                <a:latin typeface="Arial"/>
                <a:cs typeface="Arial"/>
              </a:rPr>
              <a:t>Lift</a:t>
            </a:r>
            <a:r>
              <a:rPr sz="1200" b="1" spc="-15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&lt;</a:t>
            </a:r>
            <a:r>
              <a:rPr sz="1200" b="1" spc="-15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1</a:t>
            </a:r>
            <a:r>
              <a:rPr sz="1200" dirty="0">
                <a:latin typeface="Arial"/>
                <a:cs typeface="Arial"/>
              </a:rPr>
              <a:t>:</a:t>
            </a:r>
            <a:r>
              <a:rPr sz="1200" spc="-10" dirty="0">
                <a:latin typeface="Arial"/>
                <a:cs typeface="Arial"/>
              </a:rPr>
              <a:t> </a:t>
            </a:r>
            <a:r>
              <a:rPr sz="1200" spc="-30" dirty="0">
                <a:latin typeface="Arial"/>
                <a:cs typeface="Arial"/>
              </a:rPr>
              <a:t>Tương</a:t>
            </a:r>
            <a:r>
              <a:rPr sz="1200" spc="-1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quan</a:t>
            </a:r>
            <a:r>
              <a:rPr sz="1200" spc="-10" dirty="0">
                <a:latin typeface="Arial"/>
                <a:cs typeface="Arial"/>
              </a:rPr>
              <a:t> </a:t>
            </a:r>
            <a:r>
              <a:rPr sz="1200" spc="-25" dirty="0">
                <a:latin typeface="Arial"/>
                <a:cs typeface="Arial"/>
              </a:rPr>
              <a:t>âm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5" name="object 5" descr=""/>
          <p:cNvGrpSpPr/>
          <p:nvPr/>
        </p:nvGrpSpPr>
        <p:grpSpPr>
          <a:xfrm>
            <a:off x="0" y="3110712"/>
            <a:ext cx="5760085" cy="129539"/>
            <a:chOff x="0" y="3110712"/>
            <a:chExt cx="5760085" cy="129539"/>
          </a:xfrm>
        </p:grpSpPr>
        <p:sp>
          <p:nvSpPr>
            <p:cNvPr id="6" name="object 6" descr=""/>
            <p:cNvSpPr/>
            <p:nvPr/>
          </p:nvSpPr>
          <p:spPr>
            <a:xfrm>
              <a:off x="0" y="3110712"/>
              <a:ext cx="1920239" cy="129539"/>
            </a:xfrm>
            <a:custGeom>
              <a:avLst/>
              <a:gdLst/>
              <a:ahLst/>
              <a:cxnLst/>
              <a:rect l="l" t="t" r="r" b="b"/>
              <a:pathLst>
                <a:path w="1920239" h="129539">
                  <a:moveTo>
                    <a:pt x="1919973" y="0"/>
                  </a:moveTo>
                  <a:lnTo>
                    <a:pt x="0" y="0"/>
                  </a:lnTo>
                  <a:lnTo>
                    <a:pt x="0" y="129286"/>
                  </a:lnTo>
                  <a:lnTo>
                    <a:pt x="1919973" y="129286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1919973" y="3110712"/>
              <a:ext cx="1920239" cy="129539"/>
            </a:xfrm>
            <a:custGeom>
              <a:avLst/>
              <a:gdLst/>
              <a:ahLst/>
              <a:cxnLst/>
              <a:rect l="l" t="t" r="r" b="b"/>
              <a:pathLst>
                <a:path w="1920239" h="129539">
                  <a:moveTo>
                    <a:pt x="1919973" y="0"/>
                  </a:moveTo>
                  <a:lnTo>
                    <a:pt x="0" y="0"/>
                  </a:lnTo>
                  <a:lnTo>
                    <a:pt x="0" y="129286"/>
                  </a:lnTo>
                  <a:lnTo>
                    <a:pt x="1919973" y="129286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3839946" y="3110712"/>
              <a:ext cx="1920239" cy="129539"/>
            </a:xfrm>
            <a:custGeom>
              <a:avLst/>
              <a:gdLst/>
              <a:ahLst/>
              <a:cxnLst/>
              <a:rect l="l" t="t" r="r" b="b"/>
              <a:pathLst>
                <a:path w="1920239" h="129539">
                  <a:moveTo>
                    <a:pt x="1919973" y="0"/>
                  </a:moveTo>
                  <a:lnTo>
                    <a:pt x="0" y="0"/>
                  </a:lnTo>
                  <a:lnTo>
                    <a:pt x="0" y="129286"/>
                  </a:lnTo>
                  <a:lnTo>
                    <a:pt x="1919973" y="129286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 descr="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dirty="0"/>
              <a:t>Lê</a:t>
            </a:r>
            <a:r>
              <a:rPr spc="-25" dirty="0"/>
              <a:t> </a:t>
            </a:r>
            <a:r>
              <a:rPr dirty="0"/>
              <a:t>Đình</a:t>
            </a:r>
            <a:r>
              <a:rPr spc="-20" dirty="0"/>
              <a:t> </a:t>
            </a:r>
            <a:r>
              <a:rPr dirty="0"/>
              <a:t>Phùng</a:t>
            </a:r>
            <a:r>
              <a:rPr spc="-25" dirty="0"/>
              <a:t> </a:t>
            </a:r>
            <a:r>
              <a:rPr dirty="0"/>
              <a:t>–</a:t>
            </a:r>
            <a:r>
              <a:rPr spc="-20" dirty="0"/>
              <a:t> </a:t>
            </a:r>
            <a:r>
              <a:rPr spc="-10" dirty="0"/>
              <a:t>18130181</a:t>
            </a:r>
          </a:p>
        </p:txBody>
      </p:sp>
      <p:sp>
        <p:nvSpPr>
          <p:cNvPr id="10" name="object 10" descr=""/>
          <p:cNvSpPr txBox="1"/>
          <p:nvPr/>
        </p:nvSpPr>
        <p:spPr>
          <a:xfrm>
            <a:off x="2584627" y="3115174"/>
            <a:ext cx="591185" cy="119380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600" dirty="0">
                <a:solidFill>
                  <a:srgbClr val="00AEEF"/>
                </a:solidFill>
                <a:latin typeface="Arial"/>
                <a:cs typeface="Arial"/>
                <a:hlinkClick r:id="rId2" action="ppaction://hlinksldjump"/>
              </a:rPr>
              <a:t>Cải</a:t>
            </a:r>
            <a:r>
              <a:rPr sz="600" spc="-30" dirty="0">
                <a:solidFill>
                  <a:srgbClr val="00AEEF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sz="600" dirty="0">
                <a:solidFill>
                  <a:srgbClr val="00AEEF"/>
                </a:solidFill>
                <a:latin typeface="Arial"/>
                <a:cs typeface="Arial"/>
                <a:hlinkClick r:id="rId2" action="ppaction://hlinksldjump"/>
              </a:rPr>
              <a:t>Thiện</a:t>
            </a:r>
            <a:r>
              <a:rPr sz="600" spc="-30" dirty="0">
                <a:solidFill>
                  <a:srgbClr val="00AEEF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sz="600" spc="-10" dirty="0">
                <a:solidFill>
                  <a:srgbClr val="00AEEF"/>
                </a:solidFill>
                <a:latin typeface="Arial"/>
                <a:cs typeface="Arial"/>
                <a:hlinkClick r:id="rId2" action="ppaction://hlinksldjump"/>
              </a:rPr>
              <a:t>Apriori</a:t>
            </a:r>
            <a:endParaRPr sz="600">
              <a:latin typeface="Arial"/>
              <a:cs typeface="Arial"/>
            </a:endParaRPr>
          </a:p>
        </p:txBody>
      </p:sp>
      <p:sp>
        <p:nvSpPr>
          <p:cNvPr id="11" name="object 11" descr="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dirty="0"/>
              <a:t>Năm</a:t>
            </a:r>
            <a:r>
              <a:rPr spc="-30" dirty="0"/>
              <a:t> </a:t>
            </a:r>
            <a:r>
              <a:rPr dirty="0"/>
              <a:t>học</a:t>
            </a:r>
            <a:r>
              <a:rPr spc="-25" dirty="0"/>
              <a:t> </a:t>
            </a:r>
            <a:r>
              <a:rPr spc="-10" dirty="0"/>
              <a:t>2025–2026</a:t>
            </a:r>
          </a:p>
        </p:txBody>
      </p:sp>
      <p:sp>
        <p:nvSpPr>
          <p:cNvPr id="12" name="object 12" descr="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79375">
              <a:lnSpc>
                <a:spcPct val="100000"/>
              </a:lnSpc>
              <a:spcBef>
                <a:spcPts val="70"/>
              </a:spcBef>
            </a:pPr>
            <a:fld id="{81D60167-4931-47E6-BA6A-407CBD079E47}" type="slidenum">
              <a:rPr spc="-10" dirty="0"/>
              <a:t>3</a:t>
            </a:fld>
            <a:r>
              <a:rPr spc="-70" dirty="0"/>
              <a:t> </a:t>
            </a:r>
            <a:r>
              <a:rPr dirty="0"/>
              <a:t>/</a:t>
            </a:r>
            <a:r>
              <a:rPr spc="-65" dirty="0"/>
              <a:t> </a:t>
            </a:r>
            <a:r>
              <a:rPr spc="-25" dirty="0"/>
              <a:t>32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fast">
        <p:cut thruBlk="0"/>
      </p:transition>
    </mc:Choice>
    <mc:Fallback>
      <p:transition spd="fast">
        <p:cut thruBlk="0"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0"/>
            <a:ext cx="5760085" cy="349250"/>
          </a:xfrm>
          <a:custGeom>
            <a:avLst/>
            <a:gdLst/>
            <a:ahLst/>
            <a:cxnLst/>
            <a:rect l="l" t="t" r="r" b="b"/>
            <a:pathLst>
              <a:path w="5760085" h="349250">
                <a:moveTo>
                  <a:pt x="5759996" y="0"/>
                </a:moveTo>
                <a:lnTo>
                  <a:pt x="0" y="0"/>
                </a:lnTo>
                <a:lnTo>
                  <a:pt x="0" y="348729"/>
                </a:lnTo>
                <a:lnTo>
                  <a:pt x="5759996" y="348729"/>
                </a:lnTo>
                <a:lnTo>
                  <a:pt x="5759996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925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/>
              <a:t>PIPELINE</a:t>
            </a:r>
            <a:r>
              <a:rPr spc="-85" dirty="0"/>
              <a:t> </a:t>
            </a:r>
            <a:r>
              <a:rPr dirty="0"/>
              <a:t>XỬ</a:t>
            </a:r>
            <a:r>
              <a:rPr spc="-55" dirty="0"/>
              <a:t> </a:t>
            </a:r>
            <a:r>
              <a:rPr spc="-90" dirty="0"/>
              <a:t>LÝ</a:t>
            </a:r>
            <a:r>
              <a:rPr spc="-30" dirty="0"/>
              <a:t> </a:t>
            </a:r>
            <a:r>
              <a:rPr dirty="0"/>
              <a:t>DỮ</a:t>
            </a:r>
            <a:r>
              <a:rPr spc="-55" dirty="0"/>
              <a:t> </a:t>
            </a:r>
            <a:r>
              <a:rPr spc="50" dirty="0"/>
              <a:t>LIfiU</a:t>
            </a:r>
          </a:p>
        </p:txBody>
      </p:sp>
      <p:grpSp>
        <p:nvGrpSpPr>
          <p:cNvPr id="4" name="object 4" descr=""/>
          <p:cNvGrpSpPr/>
          <p:nvPr/>
        </p:nvGrpSpPr>
        <p:grpSpPr>
          <a:xfrm>
            <a:off x="322338" y="704211"/>
            <a:ext cx="1417320" cy="407670"/>
            <a:chOff x="322338" y="704211"/>
            <a:chExt cx="1417320" cy="407670"/>
          </a:xfrm>
        </p:grpSpPr>
        <p:sp>
          <p:nvSpPr>
            <p:cNvPr id="5" name="object 5" descr=""/>
            <p:cNvSpPr/>
            <p:nvPr/>
          </p:nvSpPr>
          <p:spPr>
            <a:xfrm>
              <a:off x="327418" y="709291"/>
              <a:ext cx="1407160" cy="397510"/>
            </a:xfrm>
            <a:custGeom>
              <a:avLst/>
              <a:gdLst/>
              <a:ahLst/>
              <a:cxnLst/>
              <a:rect l="l" t="t" r="r" b="b"/>
              <a:pathLst>
                <a:path w="1407160" h="397509">
                  <a:moveTo>
                    <a:pt x="1356371" y="0"/>
                  </a:moveTo>
                  <a:lnTo>
                    <a:pt x="50610" y="0"/>
                  </a:lnTo>
                  <a:lnTo>
                    <a:pt x="30910" y="3977"/>
                  </a:lnTo>
                  <a:lnTo>
                    <a:pt x="14823" y="14823"/>
                  </a:lnTo>
                  <a:lnTo>
                    <a:pt x="3977" y="30910"/>
                  </a:lnTo>
                  <a:lnTo>
                    <a:pt x="0" y="50610"/>
                  </a:lnTo>
                  <a:lnTo>
                    <a:pt x="0" y="346271"/>
                  </a:lnTo>
                  <a:lnTo>
                    <a:pt x="3977" y="365971"/>
                  </a:lnTo>
                  <a:lnTo>
                    <a:pt x="14823" y="382059"/>
                  </a:lnTo>
                  <a:lnTo>
                    <a:pt x="30910" y="392905"/>
                  </a:lnTo>
                  <a:lnTo>
                    <a:pt x="50610" y="396882"/>
                  </a:lnTo>
                  <a:lnTo>
                    <a:pt x="1356371" y="396882"/>
                  </a:lnTo>
                  <a:lnTo>
                    <a:pt x="1376071" y="392905"/>
                  </a:lnTo>
                  <a:lnTo>
                    <a:pt x="1392159" y="382059"/>
                  </a:lnTo>
                  <a:lnTo>
                    <a:pt x="1403005" y="365971"/>
                  </a:lnTo>
                  <a:lnTo>
                    <a:pt x="1406982" y="346271"/>
                  </a:lnTo>
                  <a:lnTo>
                    <a:pt x="1406982" y="50610"/>
                  </a:lnTo>
                  <a:lnTo>
                    <a:pt x="1403005" y="30910"/>
                  </a:lnTo>
                  <a:lnTo>
                    <a:pt x="1392159" y="14823"/>
                  </a:lnTo>
                  <a:lnTo>
                    <a:pt x="1376071" y="3977"/>
                  </a:lnTo>
                  <a:lnTo>
                    <a:pt x="1356371" y="0"/>
                  </a:lnTo>
                  <a:close/>
                </a:path>
              </a:pathLst>
            </a:custGeom>
            <a:solidFill>
              <a:srgbClr val="CCCC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327418" y="709291"/>
              <a:ext cx="1407160" cy="397510"/>
            </a:xfrm>
            <a:custGeom>
              <a:avLst/>
              <a:gdLst/>
              <a:ahLst/>
              <a:cxnLst/>
              <a:rect l="l" t="t" r="r" b="b"/>
              <a:pathLst>
                <a:path w="1407160" h="397509">
                  <a:moveTo>
                    <a:pt x="1356371" y="0"/>
                  </a:moveTo>
                  <a:lnTo>
                    <a:pt x="50610" y="0"/>
                  </a:lnTo>
                  <a:lnTo>
                    <a:pt x="30910" y="3977"/>
                  </a:lnTo>
                  <a:lnTo>
                    <a:pt x="14823" y="14823"/>
                  </a:lnTo>
                  <a:lnTo>
                    <a:pt x="3977" y="30910"/>
                  </a:lnTo>
                  <a:lnTo>
                    <a:pt x="0" y="50610"/>
                  </a:lnTo>
                  <a:lnTo>
                    <a:pt x="0" y="346271"/>
                  </a:lnTo>
                  <a:lnTo>
                    <a:pt x="3977" y="365971"/>
                  </a:lnTo>
                  <a:lnTo>
                    <a:pt x="14823" y="382059"/>
                  </a:lnTo>
                  <a:lnTo>
                    <a:pt x="30910" y="392905"/>
                  </a:lnTo>
                  <a:lnTo>
                    <a:pt x="50610" y="396882"/>
                  </a:lnTo>
                  <a:lnTo>
                    <a:pt x="1356371" y="396882"/>
                  </a:lnTo>
                  <a:lnTo>
                    <a:pt x="1376071" y="392905"/>
                  </a:lnTo>
                  <a:lnTo>
                    <a:pt x="1392159" y="382059"/>
                  </a:lnTo>
                  <a:lnTo>
                    <a:pt x="1403005" y="365971"/>
                  </a:lnTo>
                  <a:lnTo>
                    <a:pt x="1406982" y="346271"/>
                  </a:lnTo>
                  <a:lnTo>
                    <a:pt x="1406982" y="50610"/>
                  </a:lnTo>
                  <a:lnTo>
                    <a:pt x="1403005" y="30910"/>
                  </a:lnTo>
                  <a:lnTo>
                    <a:pt x="1392159" y="14823"/>
                  </a:lnTo>
                  <a:lnTo>
                    <a:pt x="1376071" y="3977"/>
                  </a:lnTo>
                  <a:lnTo>
                    <a:pt x="1356371" y="0"/>
                  </a:lnTo>
                  <a:close/>
                </a:path>
              </a:pathLst>
            </a:custGeom>
            <a:grpFill/>
            <a:ln w="10122">
              <a:solidFill>
                <a:srgbClr val="0000B2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 descr=""/>
          <p:cNvSpPr txBox="1"/>
          <p:nvPr/>
        </p:nvSpPr>
        <p:spPr>
          <a:xfrm>
            <a:off x="334468" y="707655"/>
            <a:ext cx="1393190" cy="36385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latin typeface="Arial"/>
                <a:cs typeface="Arial"/>
              </a:rPr>
              <a:t>Load</a:t>
            </a:r>
            <a:r>
              <a:rPr sz="1100" spc="30" dirty="0">
                <a:latin typeface="Arial"/>
                <a:cs typeface="Arial"/>
              </a:rPr>
              <a:t> </a:t>
            </a:r>
            <a:r>
              <a:rPr sz="1100" spc="-20" dirty="0">
                <a:latin typeface="Arial"/>
                <a:cs typeface="Arial"/>
              </a:rPr>
              <a:t>Data</a:t>
            </a:r>
            <a:endParaRPr sz="11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35"/>
              </a:spcBef>
            </a:pPr>
            <a:r>
              <a:rPr sz="1100" spc="-10" dirty="0">
                <a:latin typeface="Courier New"/>
                <a:cs typeface="Courier New"/>
              </a:rPr>
              <a:t>groceries.csv</a:t>
            </a:r>
            <a:endParaRPr sz="1100">
              <a:latin typeface="Courier New"/>
              <a:cs typeface="Courier New"/>
            </a:endParaRPr>
          </a:p>
        </p:txBody>
      </p:sp>
      <p:grpSp>
        <p:nvGrpSpPr>
          <p:cNvPr id="8" name="object 8" descr=""/>
          <p:cNvGrpSpPr/>
          <p:nvPr/>
        </p:nvGrpSpPr>
        <p:grpSpPr>
          <a:xfrm>
            <a:off x="2171447" y="715399"/>
            <a:ext cx="1417320" cy="384810"/>
            <a:chOff x="2171447" y="715399"/>
            <a:chExt cx="1417320" cy="384810"/>
          </a:xfrm>
        </p:grpSpPr>
        <p:sp>
          <p:nvSpPr>
            <p:cNvPr id="9" name="object 9" descr=""/>
            <p:cNvSpPr/>
            <p:nvPr/>
          </p:nvSpPr>
          <p:spPr>
            <a:xfrm>
              <a:off x="2176527" y="720479"/>
              <a:ext cx="1407160" cy="374650"/>
            </a:xfrm>
            <a:custGeom>
              <a:avLst/>
              <a:gdLst/>
              <a:ahLst/>
              <a:cxnLst/>
              <a:rect l="l" t="t" r="r" b="b"/>
              <a:pathLst>
                <a:path w="1407160" h="374650">
                  <a:moveTo>
                    <a:pt x="1356371" y="0"/>
                  </a:moveTo>
                  <a:lnTo>
                    <a:pt x="50610" y="0"/>
                  </a:lnTo>
                  <a:lnTo>
                    <a:pt x="30910" y="3977"/>
                  </a:lnTo>
                  <a:lnTo>
                    <a:pt x="14823" y="14822"/>
                  </a:lnTo>
                  <a:lnTo>
                    <a:pt x="3977" y="30909"/>
                  </a:lnTo>
                  <a:lnTo>
                    <a:pt x="0" y="50609"/>
                  </a:lnTo>
                  <a:lnTo>
                    <a:pt x="0" y="323895"/>
                  </a:lnTo>
                  <a:lnTo>
                    <a:pt x="3977" y="343595"/>
                  </a:lnTo>
                  <a:lnTo>
                    <a:pt x="14823" y="359682"/>
                  </a:lnTo>
                  <a:lnTo>
                    <a:pt x="30910" y="370528"/>
                  </a:lnTo>
                  <a:lnTo>
                    <a:pt x="50610" y="374505"/>
                  </a:lnTo>
                  <a:lnTo>
                    <a:pt x="1356371" y="374505"/>
                  </a:lnTo>
                  <a:lnTo>
                    <a:pt x="1376071" y="370528"/>
                  </a:lnTo>
                  <a:lnTo>
                    <a:pt x="1392158" y="359682"/>
                  </a:lnTo>
                  <a:lnTo>
                    <a:pt x="1403004" y="343595"/>
                  </a:lnTo>
                  <a:lnTo>
                    <a:pt x="1406980" y="323895"/>
                  </a:lnTo>
                  <a:lnTo>
                    <a:pt x="1406980" y="50609"/>
                  </a:lnTo>
                  <a:lnTo>
                    <a:pt x="1403004" y="30909"/>
                  </a:lnTo>
                  <a:lnTo>
                    <a:pt x="1392158" y="14822"/>
                  </a:lnTo>
                  <a:lnTo>
                    <a:pt x="1376071" y="3977"/>
                  </a:lnTo>
                  <a:lnTo>
                    <a:pt x="1356371" y="0"/>
                  </a:lnTo>
                  <a:close/>
                </a:path>
              </a:pathLst>
            </a:custGeom>
            <a:solidFill>
              <a:srgbClr val="CCCC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2176527" y="720479"/>
              <a:ext cx="1407160" cy="374650"/>
            </a:xfrm>
            <a:custGeom>
              <a:avLst/>
              <a:gdLst/>
              <a:ahLst/>
              <a:cxnLst/>
              <a:rect l="l" t="t" r="r" b="b"/>
              <a:pathLst>
                <a:path w="1407160" h="374650">
                  <a:moveTo>
                    <a:pt x="1356371" y="0"/>
                  </a:moveTo>
                  <a:lnTo>
                    <a:pt x="50610" y="0"/>
                  </a:lnTo>
                  <a:lnTo>
                    <a:pt x="30910" y="3977"/>
                  </a:lnTo>
                  <a:lnTo>
                    <a:pt x="14823" y="14822"/>
                  </a:lnTo>
                  <a:lnTo>
                    <a:pt x="3977" y="30909"/>
                  </a:lnTo>
                  <a:lnTo>
                    <a:pt x="0" y="50609"/>
                  </a:lnTo>
                  <a:lnTo>
                    <a:pt x="0" y="323895"/>
                  </a:lnTo>
                  <a:lnTo>
                    <a:pt x="3977" y="343595"/>
                  </a:lnTo>
                  <a:lnTo>
                    <a:pt x="14823" y="359682"/>
                  </a:lnTo>
                  <a:lnTo>
                    <a:pt x="30910" y="370528"/>
                  </a:lnTo>
                  <a:lnTo>
                    <a:pt x="50610" y="374505"/>
                  </a:lnTo>
                  <a:lnTo>
                    <a:pt x="1356371" y="374505"/>
                  </a:lnTo>
                  <a:lnTo>
                    <a:pt x="1376071" y="370528"/>
                  </a:lnTo>
                  <a:lnTo>
                    <a:pt x="1392158" y="359682"/>
                  </a:lnTo>
                  <a:lnTo>
                    <a:pt x="1403004" y="343595"/>
                  </a:lnTo>
                  <a:lnTo>
                    <a:pt x="1406980" y="323895"/>
                  </a:lnTo>
                  <a:lnTo>
                    <a:pt x="1406980" y="50609"/>
                  </a:lnTo>
                  <a:lnTo>
                    <a:pt x="1403004" y="30909"/>
                  </a:lnTo>
                  <a:lnTo>
                    <a:pt x="1392158" y="14822"/>
                  </a:lnTo>
                  <a:lnTo>
                    <a:pt x="1376071" y="3977"/>
                  </a:lnTo>
                  <a:lnTo>
                    <a:pt x="1356371" y="0"/>
                  </a:lnTo>
                  <a:close/>
                </a:path>
              </a:pathLst>
            </a:custGeom>
            <a:grpFill/>
            <a:ln w="10122">
              <a:solidFill>
                <a:srgbClr val="0000B2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 descr=""/>
          <p:cNvSpPr txBox="1"/>
          <p:nvPr/>
        </p:nvSpPr>
        <p:spPr>
          <a:xfrm>
            <a:off x="2183576" y="718831"/>
            <a:ext cx="1393190" cy="363855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59690" marR="52069" indent="401320">
              <a:lnSpc>
                <a:spcPct val="102699"/>
              </a:lnSpc>
              <a:spcBef>
                <a:spcPts val="55"/>
              </a:spcBef>
            </a:pPr>
            <a:r>
              <a:rPr sz="1100" spc="-10" dirty="0">
                <a:latin typeface="Arial"/>
                <a:cs typeface="Arial"/>
              </a:rPr>
              <a:t>Encode Transaction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Encoder</a:t>
            </a:r>
            <a:endParaRPr sz="1100">
              <a:latin typeface="Arial"/>
              <a:cs typeface="Arial"/>
            </a:endParaRPr>
          </a:p>
        </p:txBody>
      </p:sp>
      <p:grpSp>
        <p:nvGrpSpPr>
          <p:cNvPr id="12" name="object 12" descr=""/>
          <p:cNvGrpSpPr/>
          <p:nvPr/>
        </p:nvGrpSpPr>
        <p:grpSpPr>
          <a:xfrm>
            <a:off x="4020553" y="698772"/>
            <a:ext cx="1417320" cy="418465"/>
            <a:chOff x="4020553" y="698772"/>
            <a:chExt cx="1417320" cy="418465"/>
          </a:xfrm>
        </p:grpSpPr>
        <p:sp>
          <p:nvSpPr>
            <p:cNvPr id="13" name="object 13" descr=""/>
            <p:cNvSpPr/>
            <p:nvPr/>
          </p:nvSpPr>
          <p:spPr>
            <a:xfrm>
              <a:off x="4025633" y="703852"/>
              <a:ext cx="1407160" cy="408305"/>
            </a:xfrm>
            <a:custGeom>
              <a:avLst/>
              <a:gdLst/>
              <a:ahLst/>
              <a:cxnLst/>
              <a:rect l="l" t="t" r="r" b="b"/>
              <a:pathLst>
                <a:path w="1407160" h="408305">
                  <a:moveTo>
                    <a:pt x="1356372" y="0"/>
                  </a:moveTo>
                  <a:lnTo>
                    <a:pt x="50609" y="0"/>
                  </a:lnTo>
                  <a:lnTo>
                    <a:pt x="30909" y="3977"/>
                  </a:lnTo>
                  <a:lnTo>
                    <a:pt x="14822" y="14823"/>
                  </a:lnTo>
                  <a:lnTo>
                    <a:pt x="3976" y="30910"/>
                  </a:lnTo>
                  <a:lnTo>
                    <a:pt x="0" y="50610"/>
                  </a:lnTo>
                  <a:lnTo>
                    <a:pt x="0" y="357148"/>
                  </a:lnTo>
                  <a:lnTo>
                    <a:pt x="3976" y="376848"/>
                  </a:lnTo>
                  <a:lnTo>
                    <a:pt x="14822" y="392935"/>
                  </a:lnTo>
                  <a:lnTo>
                    <a:pt x="30909" y="403781"/>
                  </a:lnTo>
                  <a:lnTo>
                    <a:pt x="50609" y="407758"/>
                  </a:lnTo>
                  <a:lnTo>
                    <a:pt x="1356372" y="407758"/>
                  </a:lnTo>
                  <a:lnTo>
                    <a:pt x="1376072" y="403781"/>
                  </a:lnTo>
                  <a:lnTo>
                    <a:pt x="1392159" y="392935"/>
                  </a:lnTo>
                  <a:lnTo>
                    <a:pt x="1403005" y="376848"/>
                  </a:lnTo>
                  <a:lnTo>
                    <a:pt x="1406982" y="357148"/>
                  </a:lnTo>
                  <a:lnTo>
                    <a:pt x="1406982" y="50610"/>
                  </a:lnTo>
                  <a:lnTo>
                    <a:pt x="1403005" y="30910"/>
                  </a:lnTo>
                  <a:lnTo>
                    <a:pt x="1392159" y="14823"/>
                  </a:lnTo>
                  <a:lnTo>
                    <a:pt x="1376072" y="3977"/>
                  </a:lnTo>
                  <a:lnTo>
                    <a:pt x="1356372" y="0"/>
                  </a:lnTo>
                  <a:close/>
                </a:path>
              </a:pathLst>
            </a:custGeom>
            <a:solidFill>
              <a:srgbClr val="CCCC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4025633" y="703852"/>
              <a:ext cx="1407160" cy="408305"/>
            </a:xfrm>
            <a:custGeom>
              <a:avLst/>
              <a:gdLst/>
              <a:ahLst/>
              <a:cxnLst/>
              <a:rect l="l" t="t" r="r" b="b"/>
              <a:pathLst>
                <a:path w="1407160" h="408305">
                  <a:moveTo>
                    <a:pt x="1356372" y="0"/>
                  </a:moveTo>
                  <a:lnTo>
                    <a:pt x="50609" y="0"/>
                  </a:lnTo>
                  <a:lnTo>
                    <a:pt x="30909" y="3977"/>
                  </a:lnTo>
                  <a:lnTo>
                    <a:pt x="14822" y="14823"/>
                  </a:lnTo>
                  <a:lnTo>
                    <a:pt x="3976" y="30910"/>
                  </a:lnTo>
                  <a:lnTo>
                    <a:pt x="0" y="50610"/>
                  </a:lnTo>
                  <a:lnTo>
                    <a:pt x="0" y="357148"/>
                  </a:lnTo>
                  <a:lnTo>
                    <a:pt x="3976" y="376848"/>
                  </a:lnTo>
                  <a:lnTo>
                    <a:pt x="14822" y="392935"/>
                  </a:lnTo>
                  <a:lnTo>
                    <a:pt x="30909" y="403781"/>
                  </a:lnTo>
                  <a:lnTo>
                    <a:pt x="50609" y="407758"/>
                  </a:lnTo>
                  <a:lnTo>
                    <a:pt x="1356372" y="407758"/>
                  </a:lnTo>
                  <a:lnTo>
                    <a:pt x="1376072" y="403781"/>
                  </a:lnTo>
                  <a:lnTo>
                    <a:pt x="1392159" y="392935"/>
                  </a:lnTo>
                  <a:lnTo>
                    <a:pt x="1403005" y="376848"/>
                  </a:lnTo>
                  <a:lnTo>
                    <a:pt x="1406982" y="357148"/>
                  </a:lnTo>
                  <a:lnTo>
                    <a:pt x="1406982" y="50610"/>
                  </a:lnTo>
                  <a:lnTo>
                    <a:pt x="1403005" y="30910"/>
                  </a:lnTo>
                  <a:lnTo>
                    <a:pt x="1392159" y="14823"/>
                  </a:lnTo>
                  <a:lnTo>
                    <a:pt x="1376072" y="3977"/>
                  </a:lnTo>
                  <a:lnTo>
                    <a:pt x="1356372" y="0"/>
                  </a:lnTo>
                  <a:close/>
                </a:path>
              </a:pathLst>
            </a:custGeom>
            <a:grpFill/>
            <a:ln w="10122">
              <a:solidFill>
                <a:srgbClr val="0000B2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" name="object 15" descr=""/>
          <p:cNvSpPr txBox="1"/>
          <p:nvPr/>
        </p:nvSpPr>
        <p:spPr>
          <a:xfrm>
            <a:off x="4032682" y="707896"/>
            <a:ext cx="1393190" cy="36385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0"/>
              </a:spcBef>
            </a:pPr>
            <a:r>
              <a:rPr sz="1100" spc="-10" dirty="0">
                <a:latin typeface="Arial"/>
                <a:cs typeface="Arial"/>
              </a:rPr>
              <a:t>Cleaning</a:t>
            </a:r>
            <a:endParaRPr sz="11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35"/>
              </a:spcBef>
            </a:pPr>
            <a:r>
              <a:rPr sz="1100" spc="-10" dirty="0">
                <a:latin typeface="Arial"/>
                <a:cs typeface="Arial"/>
              </a:rPr>
              <a:t>7-</a:t>
            </a:r>
            <a:r>
              <a:rPr sz="1100" dirty="0">
                <a:latin typeface="Arial"/>
                <a:cs typeface="Arial"/>
              </a:rPr>
              <a:t>step</a:t>
            </a:r>
            <a:r>
              <a:rPr sz="1100" spc="2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process</a:t>
            </a:r>
            <a:endParaRPr sz="1100">
              <a:latin typeface="Arial"/>
              <a:cs typeface="Arial"/>
            </a:endParaRPr>
          </a:p>
        </p:txBody>
      </p:sp>
      <p:grpSp>
        <p:nvGrpSpPr>
          <p:cNvPr id="16" name="object 16" descr=""/>
          <p:cNvGrpSpPr/>
          <p:nvPr/>
        </p:nvGrpSpPr>
        <p:grpSpPr>
          <a:xfrm>
            <a:off x="2171447" y="1424029"/>
            <a:ext cx="1417320" cy="412750"/>
            <a:chOff x="2171447" y="1424029"/>
            <a:chExt cx="1417320" cy="412750"/>
          </a:xfrm>
        </p:grpSpPr>
        <p:sp>
          <p:nvSpPr>
            <p:cNvPr id="17" name="object 17" descr=""/>
            <p:cNvSpPr/>
            <p:nvPr/>
          </p:nvSpPr>
          <p:spPr>
            <a:xfrm>
              <a:off x="2176527" y="1429109"/>
              <a:ext cx="1407160" cy="402590"/>
            </a:xfrm>
            <a:custGeom>
              <a:avLst/>
              <a:gdLst/>
              <a:ahLst/>
              <a:cxnLst/>
              <a:rect l="l" t="t" r="r" b="b"/>
              <a:pathLst>
                <a:path w="1407160" h="402589">
                  <a:moveTo>
                    <a:pt x="1356371" y="0"/>
                  </a:moveTo>
                  <a:lnTo>
                    <a:pt x="50610" y="0"/>
                  </a:lnTo>
                  <a:lnTo>
                    <a:pt x="30910" y="3977"/>
                  </a:lnTo>
                  <a:lnTo>
                    <a:pt x="14823" y="14823"/>
                  </a:lnTo>
                  <a:lnTo>
                    <a:pt x="3977" y="30910"/>
                  </a:lnTo>
                  <a:lnTo>
                    <a:pt x="0" y="50610"/>
                  </a:lnTo>
                  <a:lnTo>
                    <a:pt x="0" y="351467"/>
                  </a:lnTo>
                  <a:lnTo>
                    <a:pt x="3977" y="371167"/>
                  </a:lnTo>
                  <a:lnTo>
                    <a:pt x="14823" y="387255"/>
                  </a:lnTo>
                  <a:lnTo>
                    <a:pt x="30910" y="398101"/>
                  </a:lnTo>
                  <a:lnTo>
                    <a:pt x="50610" y="402078"/>
                  </a:lnTo>
                  <a:lnTo>
                    <a:pt x="1356371" y="402078"/>
                  </a:lnTo>
                  <a:lnTo>
                    <a:pt x="1376071" y="398101"/>
                  </a:lnTo>
                  <a:lnTo>
                    <a:pt x="1392158" y="387255"/>
                  </a:lnTo>
                  <a:lnTo>
                    <a:pt x="1403004" y="371167"/>
                  </a:lnTo>
                  <a:lnTo>
                    <a:pt x="1406980" y="351467"/>
                  </a:lnTo>
                  <a:lnTo>
                    <a:pt x="1406980" y="50610"/>
                  </a:lnTo>
                  <a:lnTo>
                    <a:pt x="1403004" y="30910"/>
                  </a:lnTo>
                  <a:lnTo>
                    <a:pt x="1392158" y="14823"/>
                  </a:lnTo>
                  <a:lnTo>
                    <a:pt x="1376071" y="3977"/>
                  </a:lnTo>
                  <a:lnTo>
                    <a:pt x="1356371" y="0"/>
                  </a:lnTo>
                  <a:close/>
                </a:path>
              </a:pathLst>
            </a:custGeom>
            <a:solidFill>
              <a:srgbClr val="CCCC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 descr=""/>
            <p:cNvSpPr/>
            <p:nvPr/>
          </p:nvSpPr>
          <p:spPr>
            <a:xfrm>
              <a:off x="2176527" y="1429109"/>
              <a:ext cx="1407160" cy="402590"/>
            </a:xfrm>
            <a:custGeom>
              <a:avLst/>
              <a:gdLst/>
              <a:ahLst/>
              <a:cxnLst/>
              <a:rect l="l" t="t" r="r" b="b"/>
              <a:pathLst>
                <a:path w="1407160" h="402589">
                  <a:moveTo>
                    <a:pt x="1356371" y="0"/>
                  </a:moveTo>
                  <a:lnTo>
                    <a:pt x="50610" y="0"/>
                  </a:lnTo>
                  <a:lnTo>
                    <a:pt x="30910" y="3977"/>
                  </a:lnTo>
                  <a:lnTo>
                    <a:pt x="14823" y="14823"/>
                  </a:lnTo>
                  <a:lnTo>
                    <a:pt x="3977" y="30910"/>
                  </a:lnTo>
                  <a:lnTo>
                    <a:pt x="0" y="50610"/>
                  </a:lnTo>
                  <a:lnTo>
                    <a:pt x="0" y="351467"/>
                  </a:lnTo>
                  <a:lnTo>
                    <a:pt x="3977" y="371167"/>
                  </a:lnTo>
                  <a:lnTo>
                    <a:pt x="14823" y="387255"/>
                  </a:lnTo>
                  <a:lnTo>
                    <a:pt x="30910" y="398101"/>
                  </a:lnTo>
                  <a:lnTo>
                    <a:pt x="50610" y="402078"/>
                  </a:lnTo>
                  <a:lnTo>
                    <a:pt x="1356371" y="402078"/>
                  </a:lnTo>
                  <a:lnTo>
                    <a:pt x="1376071" y="398101"/>
                  </a:lnTo>
                  <a:lnTo>
                    <a:pt x="1392158" y="387255"/>
                  </a:lnTo>
                  <a:lnTo>
                    <a:pt x="1403004" y="371167"/>
                  </a:lnTo>
                  <a:lnTo>
                    <a:pt x="1406980" y="351467"/>
                  </a:lnTo>
                  <a:lnTo>
                    <a:pt x="1406980" y="50610"/>
                  </a:lnTo>
                  <a:lnTo>
                    <a:pt x="1403004" y="30910"/>
                  </a:lnTo>
                  <a:lnTo>
                    <a:pt x="1392158" y="14823"/>
                  </a:lnTo>
                  <a:lnTo>
                    <a:pt x="1376071" y="3977"/>
                  </a:lnTo>
                  <a:lnTo>
                    <a:pt x="1356371" y="0"/>
                  </a:lnTo>
                  <a:close/>
                </a:path>
              </a:pathLst>
            </a:custGeom>
            <a:grpFill/>
            <a:ln w="10122">
              <a:solidFill>
                <a:srgbClr val="0000B2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" name="object 19" descr=""/>
          <p:cNvSpPr txBox="1"/>
          <p:nvPr/>
        </p:nvSpPr>
        <p:spPr>
          <a:xfrm>
            <a:off x="2183576" y="1427453"/>
            <a:ext cx="1393190" cy="363855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98425" marR="90805" indent="393065">
              <a:lnSpc>
                <a:spcPct val="102699"/>
              </a:lnSpc>
              <a:spcBef>
                <a:spcPts val="55"/>
              </a:spcBef>
            </a:pPr>
            <a:r>
              <a:rPr sz="1100" spc="-10" dirty="0">
                <a:latin typeface="Arial"/>
                <a:cs typeface="Arial"/>
              </a:rPr>
              <a:t>Mining </a:t>
            </a:r>
            <a:r>
              <a:rPr sz="1100" dirty="0">
                <a:latin typeface="Arial"/>
                <a:cs typeface="Arial"/>
              </a:rPr>
              <a:t>Apriori</a:t>
            </a:r>
            <a:r>
              <a:rPr sz="1100" spc="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/</a:t>
            </a:r>
            <a:r>
              <a:rPr sz="1100" spc="40" dirty="0">
                <a:latin typeface="Arial"/>
                <a:cs typeface="Arial"/>
              </a:rPr>
              <a:t> </a:t>
            </a:r>
            <a:r>
              <a:rPr sz="1100" spc="-35" dirty="0">
                <a:latin typeface="Arial"/>
                <a:cs typeface="Arial"/>
              </a:rPr>
              <a:t>FP-</a:t>
            </a:r>
            <a:r>
              <a:rPr sz="1100" spc="-10" dirty="0">
                <a:latin typeface="Arial"/>
                <a:cs typeface="Arial"/>
              </a:rPr>
              <a:t>Growth</a:t>
            </a:r>
            <a:endParaRPr sz="1100">
              <a:latin typeface="Arial"/>
              <a:cs typeface="Arial"/>
            </a:endParaRPr>
          </a:p>
        </p:txBody>
      </p:sp>
      <p:grpSp>
        <p:nvGrpSpPr>
          <p:cNvPr id="20" name="object 20" descr=""/>
          <p:cNvGrpSpPr/>
          <p:nvPr/>
        </p:nvGrpSpPr>
        <p:grpSpPr>
          <a:xfrm>
            <a:off x="4020553" y="1437815"/>
            <a:ext cx="1417320" cy="384810"/>
            <a:chOff x="4020553" y="1437815"/>
            <a:chExt cx="1417320" cy="384810"/>
          </a:xfrm>
        </p:grpSpPr>
        <p:sp>
          <p:nvSpPr>
            <p:cNvPr id="21" name="object 21" descr=""/>
            <p:cNvSpPr/>
            <p:nvPr/>
          </p:nvSpPr>
          <p:spPr>
            <a:xfrm>
              <a:off x="4025633" y="1442895"/>
              <a:ext cx="1407160" cy="374650"/>
            </a:xfrm>
            <a:custGeom>
              <a:avLst/>
              <a:gdLst/>
              <a:ahLst/>
              <a:cxnLst/>
              <a:rect l="l" t="t" r="r" b="b"/>
              <a:pathLst>
                <a:path w="1407160" h="374650">
                  <a:moveTo>
                    <a:pt x="1356372" y="0"/>
                  </a:moveTo>
                  <a:lnTo>
                    <a:pt x="50609" y="0"/>
                  </a:lnTo>
                  <a:lnTo>
                    <a:pt x="30909" y="3977"/>
                  </a:lnTo>
                  <a:lnTo>
                    <a:pt x="14822" y="14823"/>
                  </a:lnTo>
                  <a:lnTo>
                    <a:pt x="3976" y="30910"/>
                  </a:lnTo>
                  <a:lnTo>
                    <a:pt x="0" y="50610"/>
                  </a:lnTo>
                  <a:lnTo>
                    <a:pt x="0" y="323895"/>
                  </a:lnTo>
                  <a:lnTo>
                    <a:pt x="3976" y="343596"/>
                  </a:lnTo>
                  <a:lnTo>
                    <a:pt x="14822" y="359683"/>
                  </a:lnTo>
                  <a:lnTo>
                    <a:pt x="30909" y="370529"/>
                  </a:lnTo>
                  <a:lnTo>
                    <a:pt x="50609" y="374506"/>
                  </a:lnTo>
                  <a:lnTo>
                    <a:pt x="1356372" y="374506"/>
                  </a:lnTo>
                  <a:lnTo>
                    <a:pt x="1376072" y="370529"/>
                  </a:lnTo>
                  <a:lnTo>
                    <a:pt x="1392159" y="359683"/>
                  </a:lnTo>
                  <a:lnTo>
                    <a:pt x="1403005" y="343596"/>
                  </a:lnTo>
                  <a:lnTo>
                    <a:pt x="1406982" y="323895"/>
                  </a:lnTo>
                  <a:lnTo>
                    <a:pt x="1406982" y="50610"/>
                  </a:lnTo>
                  <a:lnTo>
                    <a:pt x="1403005" y="30910"/>
                  </a:lnTo>
                  <a:lnTo>
                    <a:pt x="1392159" y="14823"/>
                  </a:lnTo>
                  <a:lnTo>
                    <a:pt x="1376072" y="3977"/>
                  </a:lnTo>
                  <a:lnTo>
                    <a:pt x="1356372" y="0"/>
                  </a:lnTo>
                  <a:close/>
                </a:path>
              </a:pathLst>
            </a:custGeom>
            <a:solidFill>
              <a:srgbClr val="CCCC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 descr=""/>
            <p:cNvSpPr/>
            <p:nvPr/>
          </p:nvSpPr>
          <p:spPr>
            <a:xfrm>
              <a:off x="4025633" y="1442895"/>
              <a:ext cx="1407160" cy="374650"/>
            </a:xfrm>
            <a:custGeom>
              <a:avLst/>
              <a:gdLst/>
              <a:ahLst/>
              <a:cxnLst/>
              <a:rect l="l" t="t" r="r" b="b"/>
              <a:pathLst>
                <a:path w="1407160" h="374650">
                  <a:moveTo>
                    <a:pt x="1356372" y="0"/>
                  </a:moveTo>
                  <a:lnTo>
                    <a:pt x="50609" y="0"/>
                  </a:lnTo>
                  <a:lnTo>
                    <a:pt x="30909" y="3977"/>
                  </a:lnTo>
                  <a:lnTo>
                    <a:pt x="14822" y="14823"/>
                  </a:lnTo>
                  <a:lnTo>
                    <a:pt x="3976" y="30910"/>
                  </a:lnTo>
                  <a:lnTo>
                    <a:pt x="0" y="50610"/>
                  </a:lnTo>
                  <a:lnTo>
                    <a:pt x="0" y="323895"/>
                  </a:lnTo>
                  <a:lnTo>
                    <a:pt x="3976" y="343596"/>
                  </a:lnTo>
                  <a:lnTo>
                    <a:pt x="14822" y="359683"/>
                  </a:lnTo>
                  <a:lnTo>
                    <a:pt x="30909" y="370529"/>
                  </a:lnTo>
                  <a:lnTo>
                    <a:pt x="50609" y="374506"/>
                  </a:lnTo>
                  <a:lnTo>
                    <a:pt x="1356372" y="374506"/>
                  </a:lnTo>
                  <a:lnTo>
                    <a:pt x="1376072" y="370529"/>
                  </a:lnTo>
                  <a:lnTo>
                    <a:pt x="1392159" y="359683"/>
                  </a:lnTo>
                  <a:lnTo>
                    <a:pt x="1403005" y="343596"/>
                  </a:lnTo>
                  <a:lnTo>
                    <a:pt x="1406982" y="323895"/>
                  </a:lnTo>
                  <a:lnTo>
                    <a:pt x="1406982" y="50610"/>
                  </a:lnTo>
                  <a:lnTo>
                    <a:pt x="1403005" y="30910"/>
                  </a:lnTo>
                  <a:lnTo>
                    <a:pt x="1392159" y="14823"/>
                  </a:lnTo>
                  <a:lnTo>
                    <a:pt x="1376072" y="3977"/>
                  </a:lnTo>
                  <a:lnTo>
                    <a:pt x="1356372" y="0"/>
                  </a:lnTo>
                  <a:close/>
                </a:path>
              </a:pathLst>
            </a:custGeom>
            <a:grpFill/>
            <a:ln w="10122">
              <a:solidFill>
                <a:srgbClr val="0000B2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3" name="object 23" descr=""/>
          <p:cNvSpPr txBox="1"/>
          <p:nvPr/>
        </p:nvSpPr>
        <p:spPr>
          <a:xfrm>
            <a:off x="4539322" y="1441245"/>
            <a:ext cx="37973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10" dirty="0">
                <a:latin typeface="Arial"/>
                <a:cs typeface="Arial"/>
              </a:rPr>
              <a:t>Rules</a:t>
            </a:r>
            <a:endParaRPr sz="1100">
              <a:latin typeface="Arial"/>
              <a:cs typeface="Arial"/>
            </a:endParaRPr>
          </a:p>
        </p:txBody>
      </p:sp>
      <p:sp>
        <p:nvSpPr>
          <p:cNvPr id="24" name="object 24" descr=""/>
          <p:cNvSpPr txBox="1"/>
          <p:nvPr/>
        </p:nvSpPr>
        <p:spPr>
          <a:xfrm>
            <a:off x="4162044" y="1613317"/>
            <a:ext cx="113411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latin typeface="Arial"/>
                <a:cs typeface="Arial"/>
              </a:rPr>
              <a:t>Association</a:t>
            </a:r>
            <a:r>
              <a:rPr sz="1100" spc="-60" dirty="0">
                <a:latin typeface="Arial"/>
                <a:cs typeface="Arial"/>
              </a:rPr>
              <a:t> </a:t>
            </a:r>
            <a:r>
              <a:rPr sz="1100" spc="-20" dirty="0">
                <a:latin typeface="Arial"/>
                <a:cs typeface="Arial"/>
              </a:rPr>
              <a:t>Rules</a:t>
            </a:r>
            <a:endParaRPr sz="1100">
              <a:latin typeface="Arial"/>
              <a:cs typeface="Arial"/>
            </a:endParaRPr>
          </a:p>
        </p:txBody>
      </p:sp>
      <p:grpSp>
        <p:nvGrpSpPr>
          <p:cNvPr id="25" name="object 25" descr=""/>
          <p:cNvGrpSpPr/>
          <p:nvPr/>
        </p:nvGrpSpPr>
        <p:grpSpPr>
          <a:xfrm>
            <a:off x="1739461" y="883060"/>
            <a:ext cx="2995295" cy="772160"/>
            <a:chOff x="1739461" y="883060"/>
            <a:chExt cx="2995295" cy="772160"/>
          </a:xfrm>
        </p:grpSpPr>
        <p:sp>
          <p:nvSpPr>
            <p:cNvPr id="26" name="object 26" descr=""/>
            <p:cNvSpPr/>
            <p:nvPr/>
          </p:nvSpPr>
          <p:spPr>
            <a:xfrm>
              <a:off x="1739461" y="907732"/>
              <a:ext cx="393065" cy="0"/>
            </a:xfrm>
            <a:custGeom>
              <a:avLst/>
              <a:gdLst/>
              <a:ahLst/>
              <a:cxnLst/>
              <a:rect l="l" t="t" r="r" b="b"/>
              <a:pathLst>
                <a:path w="393064" h="0">
                  <a:moveTo>
                    <a:pt x="0" y="0"/>
                  </a:moveTo>
                  <a:lnTo>
                    <a:pt x="392529" y="0"/>
                  </a:lnTo>
                </a:path>
              </a:pathLst>
            </a:custGeom>
            <a:grpFill/>
            <a:ln w="10122">
              <a:solidFill>
                <a:srgbClr val="0000B2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 descr=""/>
            <p:cNvSpPr/>
            <p:nvPr/>
          </p:nvSpPr>
          <p:spPr>
            <a:xfrm>
              <a:off x="2105673" y="883060"/>
              <a:ext cx="66040" cy="49530"/>
            </a:xfrm>
            <a:custGeom>
              <a:avLst/>
              <a:gdLst/>
              <a:ahLst/>
              <a:cxnLst/>
              <a:rect l="l" t="t" r="r" b="b"/>
              <a:pathLst>
                <a:path w="66039" h="49530">
                  <a:moveTo>
                    <a:pt x="0" y="0"/>
                  </a:moveTo>
                  <a:lnTo>
                    <a:pt x="9252" y="12798"/>
                  </a:lnTo>
                  <a:lnTo>
                    <a:pt x="12336" y="24672"/>
                  </a:lnTo>
                  <a:lnTo>
                    <a:pt x="9252" y="36545"/>
                  </a:lnTo>
                  <a:lnTo>
                    <a:pt x="0" y="49344"/>
                  </a:lnTo>
                  <a:lnTo>
                    <a:pt x="16293" y="39706"/>
                  </a:lnTo>
                  <a:lnTo>
                    <a:pt x="34129" y="32690"/>
                  </a:lnTo>
                  <a:lnTo>
                    <a:pt x="51348" y="27833"/>
                  </a:lnTo>
                  <a:lnTo>
                    <a:pt x="65792" y="24672"/>
                  </a:lnTo>
                  <a:lnTo>
                    <a:pt x="51348" y="21511"/>
                  </a:lnTo>
                  <a:lnTo>
                    <a:pt x="34129" y="16653"/>
                  </a:lnTo>
                  <a:lnTo>
                    <a:pt x="16293" y="963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B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 descr=""/>
            <p:cNvSpPr/>
            <p:nvPr/>
          </p:nvSpPr>
          <p:spPr>
            <a:xfrm>
              <a:off x="3588575" y="907732"/>
              <a:ext cx="393065" cy="0"/>
            </a:xfrm>
            <a:custGeom>
              <a:avLst/>
              <a:gdLst/>
              <a:ahLst/>
              <a:cxnLst/>
              <a:rect l="l" t="t" r="r" b="b"/>
              <a:pathLst>
                <a:path w="393064" h="0">
                  <a:moveTo>
                    <a:pt x="0" y="0"/>
                  </a:moveTo>
                  <a:lnTo>
                    <a:pt x="392518" y="0"/>
                  </a:lnTo>
                </a:path>
              </a:pathLst>
            </a:custGeom>
            <a:grpFill/>
            <a:ln w="10122">
              <a:solidFill>
                <a:srgbClr val="0000B2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 descr=""/>
            <p:cNvSpPr/>
            <p:nvPr/>
          </p:nvSpPr>
          <p:spPr>
            <a:xfrm>
              <a:off x="3954777" y="883060"/>
              <a:ext cx="66040" cy="49530"/>
            </a:xfrm>
            <a:custGeom>
              <a:avLst/>
              <a:gdLst/>
              <a:ahLst/>
              <a:cxnLst/>
              <a:rect l="l" t="t" r="r" b="b"/>
              <a:pathLst>
                <a:path w="66039" h="49530">
                  <a:moveTo>
                    <a:pt x="0" y="0"/>
                  </a:moveTo>
                  <a:lnTo>
                    <a:pt x="9252" y="12798"/>
                  </a:lnTo>
                  <a:lnTo>
                    <a:pt x="12336" y="24672"/>
                  </a:lnTo>
                  <a:lnTo>
                    <a:pt x="9252" y="36545"/>
                  </a:lnTo>
                  <a:lnTo>
                    <a:pt x="0" y="49344"/>
                  </a:lnTo>
                  <a:lnTo>
                    <a:pt x="16293" y="39706"/>
                  </a:lnTo>
                  <a:lnTo>
                    <a:pt x="34129" y="32690"/>
                  </a:lnTo>
                  <a:lnTo>
                    <a:pt x="51348" y="27833"/>
                  </a:lnTo>
                  <a:lnTo>
                    <a:pt x="65792" y="24672"/>
                  </a:lnTo>
                  <a:lnTo>
                    <a:pt x="51348" y="21511"/>
                  </a:lnTo>
                  <a:lnTo>
                    <a:pt x="34129" y="16653"/>
                  </a:lnTo>
                  <a:lnTo>
                    <a:pt x="16293" y="963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B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 descr=""/>
            <p:cNvSpPr/>
            <p:nvPr/>
          </p:nvSpPr>
          <p:spPr>
            <a:xfrm>
              <a:off x="3628047" y="1116672"/>
              <a:ext cx="1101090" cy="513715"/>
            </a:xfrm>
            <a:custGeom>
              <a:avLst/>
              <a:gdLst/>
              <a:ahLst/>
              <a:cxnLst/>
              <a:rect l="l" t="t" r="r" b="b"/>
              <a:pathLst>
                <a:path w="1101089" h="513714">
                  <a:moveTo>
                    <a:pt x="1101077" y="0"/>
                  </a:moveTo>
                  <a:lnTo>
                    <a:pt x="1101077" y="513476"/>
                  </a:lnTo>
                  <a:lnTo>
                    <a:pt x="0" y="513476"/>
                  </a:lnTo>
                </a:path>
              </a:pathLst>
            </a:custGeom>
            <a:grpFill/>
            <a:ln w="10122">
              <a:solidFill>
                <a:srgbClr val="0000B2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 descr=""/>
            <p:cNvSpPr/>
            <p:nvPr/>
          </p:nvSpPr>
          <p:spPr>
            <a:xfrm>
              <a:off x="3588571" y="1605476"/>
              <a:ext cx="66040" cy="49530"/>
            </a:xfrm>
            <a:custGeom>
              <a:avLst/>
              <a:gdLst/>
              <a:ahLst/>
              <a:cxnLst/>
              <a:rect l="l" t="t" r="r" b="b"/>
              <a:pathLst>
                <a:path w="66039" h="49530">
                  <a:moveTo>
                    <a:pt x="65792" y="49344"/>
                  </a:moveTo>
                  <a:lnTo>
                    <a:pt x="56540" y="36545"/>
                  </a:lnTo>
                  <a:lnTo>
                    <a:pt x="53456" y="24672"/>
                  </a:lnTo>
                  <a:lnTo>
                    <a:pt x="56540" y="12798"/>
                  </a:lnTo>
                  <a:lnTo>
                    <a:pt x="65792" y="0"/>
                  </a:lnTo>
                  <a:lnTo>
                    <a:pt x="49498" y="9637"/>
                  </a:lnTo>
                  <a:lnTo>
                    <a:pt x="31662" y="16653"/>
                  </a:lnTo>
                  <a:lnTo>
                    <a:pt x="14443" y="21511"/>
                  </a:lnTo>
                  <a:lnTo>
                    <a:pt x="0" y="24672"/>
                  </a:lnTo>
                  <a:lnTo>
                    <a:pt x="14443" y="27833"/>
                  </a:lnTo>
                  <a:lnTo>
                    <a:pt x="31662" y="32690"/>
                  </a:lnTo>
                  <a:lnTo>
                    <a:pt x="49498" y="39706"/>
                  </a:lnTo>
                  <a:lnTo>
                    <a:pt x="65792" y="49344"/>
                  </a:lnTo>
                  <a:close/>
                </a:path>
              </a:pathLst>
            </a:custGeom>
            <a:solidFill>
              <a:srgbClr val="0000B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 descr=""/>
            <p:cNvSpPr/>
            <p:nvPr/>
          </p:nvSpPr>
          <p:spPr>
            <a:xfrm>
              <a:off x="3588575" y="1630149"/>
              <a:ext cx="393065" cy="0"/>
            </a:xfrm>
            <a:custGeom>
              <a:avLst/>
              <a:gdLst/>
              <a:ahLst/>
              <a:cxnLst/>
              <a:rect l="l" t="t" r="r" b="b"/>
              <a:pathLst>
                <a:path w="393064" h="0">
                  <a:moveTo>
                    <a:pt x="0" y="0"/>
                  </a:moveTo>
                  <a:lnTo>
                    <a:pt x="392518" y="0"/>
                  </a:lnTo>
                </a:path>
              </a:pathLst>
            </a:custGeom>
            <a:grpFill/>
            <a:ln w="10122">
              <a:solidFill>
                <a:srgbClr val="0000B2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 descr=""/>
            <p:cNvSpPr/>
            <p:nvPr/>
          </p:nvSpPr>
          <p:spPr>
            <a:xfrm>
              <a:off x="3954777" y="1605476"/>
              <a:ext cx="66040" cy="49530"/>
            </a:xfrm>
            <a:custGeom>
              <a:avLst/>
              <a:gdLst/>
              <a:ahLst/>
              <a:cxnLst/>
              <a:rect l="l" t="t" r="r" b="b"/>
              <a:pathLst>
                <a:path w="66039" h="49530">
                  <a:moveTo>
                    <a:pt x="0" y="0"/>
                  </a:moveTo>
                  <a:lnTo>
                    <a:pt x="9252" y="12798"/>
                  </a:lnTo>
                  <a:lnTo>
                    <a:pt x="12336" y="24672"/>
                  </a:lnTo>
                  <a:lnTo>
                    <a:pt x="9252" y="36545"/>
                  </a:lnTo>
                  <a:lnTo>
                    <a:pt x="0" y="49344"/>
                  </a:lnTo>
                  <a:lnTo>
                    <a:pt x="16293" y="39706"/>
                  </a:lnTo>
                  <a:lnTo>
                    <a:pt x="34129" y="32690"/>
                  </a:lnTo>
                  <a:lnTo>
                    <a:pt x="51348" y="27833"/>
                  </a:lnTo>
                  <a:lnTo>
                    <a:pt x="65792" y="24672"/>
                  </a:lnTo>
                  <a:lnTo>
                    <a:pt x="51348" y="21511"/>
                  </a:lnTo>
                  <a:lnTo>
                    <a:pt x="34129" y="16653"/>
                  </a:lnTo>
                  <a:lnTo>
                    <a:pt x="16293" y="963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B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4" name="object 34" descr=""/>
          <p:cNvSpPr txBox="1"/>
          <p:nvPr/>
        </p:nvSpPr>
        <p:spPr>
          <a:xfrm>
            <a:off x="433260" y="1923961"/>
            <a:ext cx="2797175" cy="6902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2096135" algn="just">
              <a:lnSpc>
                <a:spcPct val="121100"/>
              </a:lnSpc>
              <a:spcBef>
                <a:spcPts val="100"/>
              </a:spcBef>
            </a:pPr>
            <a:r>
              <a:rPr sz="1200" b="1" dirty="0">
                <a:latin typeface="Arial"/>
                <a:cs typeface="Arial"/>
              </a:rPr>
              <a:t>Tham</a:t>
            </a:r>
            <a:r>
              <a:rPr sz="1200" b="1" spc="-40" dirty="0">
                <a:latin typeface="Arial"/>
                <a:cs typeface="Arial"/>
              </a:rPr>
              <a:t> </a:t>
            </a:r>
            <a:r>
              <a:rPr sz="1200" b="1" spc="-25" dirty="0">
                <a:latin typeface="Arial"/>
                <a:cs typeface="Arial"/>
              </a:rPr>
              <a:t>số: </a:t>
            </a:r>
            <a:r>
              <a:rPr sz="1200" dirty="0">
                <a:latin typeface="Arial"/>
                <a:cs typeface="Arial"/>
              </a:rPr>
              <a:t>Support</a:t>
            </a:r>
            <a:r>
              <a:rPr sz="1200" spc="-2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tối</a:t>
            </a:r>
            <a:r>
              <a:rPr sz="1200" spc="-2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thiểu:</a:t>
            </a:r>
            <a:r>
              <a:rPr sz="1200" spc="-20" dirty="0">
                <a:latin typeface="Arial"/>
                <a:cs typeface="Arial"/>
              </a:rPr>
              <a:t> </a:t>
            </a:r>
            <a:r>
              <a:rPr sz="1200" i="1" dirty="0">
                <a:latin typeface="Arial"/>
                <a:cs typeface="Arial"/>
              </a:rPr>
              <a:t>(run</a:t>
            </a:r>
            <a:r>
              <a:rPr sz="1200" i="1" spc="-20" dirty="0">
                <a:latin typeface="Arial"/>
                <a:cs typeface="Arial"/>
              </a:rPr>
              <a:t> </a:t>
            </a:r>
            <a:r>
              <a:rPr sz="1200" i="1" dirty="0">
                <a:latin typeface="Arial"/>
                <a:cs typeface="Arial"/>
              </a:rPr>
              <a:t>script</a:t>
            </a:r>
            <a:r>
              <a:rPr sz="1200" i="1" spc="-25" dirty="0">
                <a:latin typeface="Arial"/>
                <a:cs typeface="Arial"/>
              </a:rPr>
              <a:t> </a:t>
            </a:r>
            <a:r>
              <a:rPr sz="1200" i="1" dirty="0">
                <a:latin typeface="Arial"/>
                <a:cs typeface="Arial"/>
              </a:rPr>
              <a:t>để</a:t>
            </a:r>
            <a:r>
              <a:rPr sz="1200" i="1" spc="-20" dirty="0">
                <a:latin typeface="Arial"/>
                <a:cs typeface="Arial"/>
              </a:rPr>
              <a:t> </a:t>
            </a:r>
            <a:r>
              <a:rPr sz="1200" i="1" dirty="0">
                <a:latin typeface="Arial"/>
                <a:cs typeface="Arial"/>
              </a:rPr>
              <a:t>xác</a:t>
            </a:r>
            <a:r>
              <a:rPr sz="1200" i="1" spc="-25" dirty="0">
                <a:latin typeface="Arial"/>
                <a:cs typeface="Arial"/>
              </a:rPr>
              <a:t> </a:t>
            </a:r>
            <a:r>
              <a:rPr sz="1200" i="1" spc="-10" dirty="0">
                <a:latin typeface="Arial"/>
                <a:cs typeface="Arial"/>
              </a:rPr>
              <a:t>định) </a:t>
            </a:r>
            <a:r>
              <a:rPr sz="1200" dirty="0">
                <a:latin typeface="Arial"/>
                <a:cs typeface="Arial"/>
              </a:rPr>
              <a:t>Confidence</a:t>
            </a:r>
            <a:r>
              <a:rPr sz="1200" spc="-2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tối</a:t>
            </a:r>
            <a:r>
              <a:rPr sz="1200" spc="-2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thiểu:</a:t>
            </a:r>
            <a:r>
              <a:rPr sz="1200" spc="-25" dirty="0">
                <a:latin typeface="Arial"/>
                <a:cs typeface="Arial"/>
              </a:rPr>
              <a:t> </a:t>
            </a:r>
            <a:r>
              <a:rPr sz="1200" spc="-20" dirty="0">
                <a:latin typeface="Arial"/>
                <a:cs typeface="Arial"/>
              </a:rPr>
              <a:t>0.25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35" name="object 35" descr=""/>
          <p:cNvGrpSpPr/>
          <p:nvPr/>
        </p:nvGrpSpPr>
        <p:grpSpPr>
          <a:xfrm>
            <a:off x="0" y="3110712"/>
            <a:ext cx="5760085" cy="129539"/>
            <a:chOff x="0" y="3110712"/>
            <a:chExt cx="5760085" cy="129539"/>
          </a:xfrm>
        </p:grpSpPr>
        <p:sp>
          <p:nvSpPr>
            <p:cNvPr id="36" name="object 36" descr=""/>
            <p:cNvSpPr/>
            <p:nvPr/>
          </p:nvSpPr>
          <p:spPr>
            <a:xfrm>
              <a:off x="0" y="3110712"/>
              <a:ext cx="1920239" cy="129539"/>
            </a:xfrm>
            <a:custGeom>
              <a:avLst/>
              <a:gdLst/>
              <a:ahLst/>
              <a:cxnLst/>
              <a:rect l="l" t="t" r="r" b="b"/>
              <a:pathLst>
                <a:path w="1920239" h="129539">
                  <a:moveTo>
                    <a:pt x="1919973" y="0"/>
                  </a:moveTo>
                  <a:lnTo>
                    <a:pt x="0" y="0"/>
                  </a:lnTo>
                  <a:lnTo>
                    <a:pt x="0" y="129286"/>
                  </a:lnTo>
                  <a:lnTo>
                    <a:pt x="1919973" y="129286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 descr=""/>
            <p:cNvSpPr/>
            <p:nvPr/>
          </p:nvSpPr>
          <p:spPr>
            <a:xfrm>
              <a:off x="1919973" y="3110712"/>
              <a:ext cx="1920239" cy="129539"/>
            </a:xfrm>
            <a:custGeom>
              <a:avLst/>
              <a:gdLst/>
              <a:ahLst/>
              <a:cxnLst/>
              <a:rect l="l" t="t" r="r" b="b"/>
              <a:pathLst>
                <a:path w="1920239" h="129539">
                  <a:moveTo>
                    <a:pt x="1919973" y="0"/>
                  </a:moveTo>
                  <a:lnTo>
                    <a:pt x="0" y="0"/>
                  </a:lnTo>
                  <a:lnTo>
                    <a:pt x="0" y="129286"/>
                  </a:lnTo>
                  <a:lnTo>
                    <a:pt x="1919973" y="129286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8" descr=""/>
            <p:cNvSpPr/>
            <p:nvPr/>
          </p:nvSpPr>
          <p:spPr>
            <a:xfrm>
              <a:off x="3839946" y="3110712"/>
              <a:ext cx="1920239" cy="129539"/>
            </a:xfrm>
            <a:custGeom>
              <a:avLst/>
              <a:gdLst/>
              <a:ahLst/>
              <a:cxnLst/>
              <a:rect l="l" t="t" r="r" b="b"/>
              <a:pathLst>
                <a:path w="1920239" h="129539">
                  <a:moveTo>
                    <a:pt x="1919973" y="0"/>
                  </a:moveTo>
                  <a:lnTo>
                    <a:pt x="0" y="0"/>
                  </a:lnTo>
                  <a:lnTo>
                    <a:pt x="0" y="129286"/>
                  </a:lnTo>
                  <a:lnTo>
                    <a:pt x="1919973" y="129286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9" name="object 39" descr="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dirty="0"/>
              <a:t>Lê</a:t>
            </a:r>
            <a:r>
              <a:rPr spc="-25" dirty="0"/>
              <a:t> </a:t>
            </a:r>
            <a:r>
              <a:rPr dirty="0"/>
              <a:t>Đình</a:t>
            </a:r>
            <a:r>
              <a:rPr spc="-20" dirty="0"/>
              <a:t> </a:t>
            </a:r>
            <a:r>
              <a:rPr dirty="0"/>
              <a:t>Phùng</a:t>
            </a:r>
            <a:r>
              <a:rPr spc="-25" dirty="0"/>
              <a:t> </a:t>
            </a:r>
            <a:r>
              <a:rPr dirty="0"/>
              <a:t>–</a:t>
            </a:r>
            <a:r>
              <a:rPr spc="-20" dirty="0"/>
              <a:t> </a:t>
            </a:r>
            <a:r>
              <a:rPr spc="-10" dirty="0"/>
              <a:t>18130181</a:t>
            </a:r>
          </a:p>
        </p:txBody>
      </p:sp>
      <p:sp>
        <p:nvSpPr>
          <p:cNvPr id="40" name="object 40" descr=""/>
          <p:cNvSpPr txBox="1"/>
          <p:nvPr/>
        </p:nvSpPr>
        <p:spPr>
          <a:xfrm>
            <a:off x="2584627" y="3115174"/>
            <a:ext cx="591185" cy="119380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600" dirty="0">
                <a:solidFill>
                  <a:srgbClr val="00AEEF"/>
                </a:solidFill>
                <a:latin typeface="Arial"/>
                <a:cs typeface="Arial"/>
                <a:hlinkClick r:id="rId2" action="ppaction://hlinksldjump"/>
              </a:rPr>
              <a:t>Cải</a:t>
            </a:r>
            <a:r>
              <a:rPr sz="600" spc="-30" dirty="0">
                <a:solidFill>
                  <a:srgbClr val="00AEEF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sz="600" dirty="0">
                <a:solidFill>
                  <a:srgbClr val="00AEEF"/>
                </a:solidFill>
                <a:latin typeface="Arial"/>
                <a:cs typeface="Arial"/>
                <a:hlinkClick r:id="rId2" action="ppaction://hlinksldjump"/>
              </a:rPr>
              <a:t>Thiện</a:t>
            </a:r>
            <a:r>
              <a:rPr sz="600" spc="-30" dirty="0">
                <a:solidFill>
                  <a:srgbClr val="00AEEF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sz="600" spc="-10" dirty="0">
                <a:solidFill>
                  <a:srgbClr val="00AEEF"/>
                </a:solidFill>
                <a:latin typeface="Arial"/>
                <a:cs typeface="Arial"/>
                <a:hlinkClick r:id="rId2" action="ppaction://hlinksldjump"/>
              </a:rPr>
              <a:t>Apriori</a:t>
            </a:r>
            <a:endParaRPr sz="600">
              <a:latin typeface="Arial"/>
              <a:cs typeface="Arial"/>
            </a:endParaRPr>
          </a:p>
        </p:txBody>
      </p:sp>
      <p:sp>
        <p:nvSpPr>
          <p:cNvPr id="41" name="object 41" descr="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dirty="0"/>
              <a:t>Năm</a:t>
            </a:r>
            <a:r>
              <a:rPr spc="-30" dirty="0"/>
              <a:t> </a:t>
            </a:r>
            <a:r>
              <a:rPr dirty="0"/>
              <a:t>học</a:t>
            </a:r>
            <a:r>
              <a:rPr spc="-25" dirty="0"/>
              <a:t> </a:t>
            </a:r>
            <a:r>
              <a:rPr spc="-10" dirty="0"/>
              <a:t>2025–2026</a:t>
            </a:r>
          </a:p>
        </p:txBody>
      </p:sp>
      <p:sp>
        <p:nvSpPr>
          <p:cNvPr id="42" name="object 42" descr="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79375">
              <a:lnSpc>
                <a:spcPct val="100000"/>
              </a:lnSpc>
              <a:spcBef>
                <a:spcPts val="70"/>
              </a:spcBef>
            </a:pPr>
            <a:fld id="{81D60167-4931-47E6-BA6A-407CBD079E47}" type="slidenum">
              <a:rPr spc="-10" dirty="0"/>
              <a:t>3</a:t>
            </a:fld>
            <a:r>
              <a:rPr spc="-70" dirty="0"/>
              <a:t> </a:t>
            </a:r>
            <a:r>
              <a:rPr dirty="0"/>
              <a:t>/</a:t>
            </a:r>
            <a:r>
              <a:rPr spc="-65" dirty="0"/>
              <a:t> </a:t>
            </a:r>
            <a:r>
              <a:rPr spc="-25" dirty="0"/>
              <a:t>32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fast">
        <p:cut thruBlk="0"/>
      </p:transition>
    </mc:Choice>
    <mc:Fallback>
      <p:transition spd="fast">
        <p:cut thruBlk="0"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0"/>
            <a:ext cx="5760085" cy="349250"/>
          </a:xfrm>
          <a:custGeom>
            <a:avLst/>
            <a:gdLst/>
            <a:ahLst/>
            <a:cxnLst/>
            <a:rect l="l" t="t" r="r" b="b"/>
            <a:pathLst>
              <a:path w="5760085" h="349250">
                <a:moveTo>
                  <a:pt x="5759996" y="0"/>
                </a:moveTo>
                <a:lnTo>
                  <a:pt x="0" y="0"/>
                </a:lnTo>
                <a:lnTo>
                  <a:pt x="0" y="348729"/>
                </a:lnTo>
                <a:lnTo>
                  <a:pt x="5759996" y="348729"/>
                </a:lnTo>
                <a:lnTo>
                  <a:pt x="5759996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925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/>
              <a:t>CÁC</a:t>
            </a:r>
            <a:r>
              <a:rPr spc="-25" dirty="0"/>
              <a:t> </a:t>
            </a:r>
            <a:r>
              <a:rPr dirty="0"/>
              <a:t>ITEMS</a:t>
            </a:r>
            <a:r>
              <a:rPr spc="-25" dirty="0"/>
              <a:t> XUẤT</a:t>
            </a:r>
            <a:r>
              <a:rPr spc="-20" dirty="0"/>
              <a:t> </a:t>
            </a:r>
            <a:r>
              <a:rPr spc="60" dirty="0"/>
              <a:t>HIfiN</a:t>
            </a:r>
            <a:r>
              <a:rPr spc="-25" dirty="0"/>
              <a:t> THƯỜNG</a:t>
            </a:r>
            <a:r>
              <a:rPr spc="-20" dirty="0"/>
              <a:t> </a:t>
            </a:r>
            <a:r>
              <a:rPr dirty="0"/>
              <a:t>XUYÊN</a:t>
            </a:r>
            <a:r>
              <a:rPr spc="-25" dirty="0"/>
              <a:t> </a:t>
            </a:r>
            <a:r>
              <a:rPr spc="-20" dirty="0"/>
              <a:t>NHẤT</a:t>
            </a:r>
          </a:p>
        </p:txBody>
      </p:sp>
      <p:graphicFrame>
        <p:nvGraphicFramePr>
          <p:cNvPr id="4" name="object 4" descr=""/>
          <p:cNvGraphicFramePr>
            <a:graphicFrameLocks xmlns:a="http://schemas.openxmlformats.org/drawingml/2006/main" noGrp="1"/>
          </p:cNvGraphicFramePr>
          <p:nvPr/>
        </p:nvGraphicFramePr>
        <p:xfrm>
          <a:off x="1540357" y="665340"/>
          <a:ext cx="2755900" cy="105600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09040"/>
                <a:gridCol w="774065"/>
                <a:gridCol w="690880"/>
              </a:tblGrid>
              <a:tr h="193040">
                <a:tc>
                  <a:txBody>
                    <a:bodyPr/>
                    <a:lstStyle/>
                    <a:p>
                      <a:pPr marL="78105">
                        <a:lnSpc>
                          <a:spcPts val="1315"/>
                        </a:lnSpc>
                      </a:pPr>
                      <a:r>
                        <a:rPr sz="1100" b="1" dirty="0">
                          <a:latin typeface="Arial"/>
                          <a:cs typeface="Arial"/>
                        </a:rPr>
                        <a:t>Sản</a:t>
                      </a:r>
                      <a:r>
                        <a:rPr sz="1100" b="1" spc="-5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100" b="1" spc="-20" dirty="0">
                          <a:latin typeface="Arial"/>
                          <a:cs typeface="Arial"/>
                        </a:rPr>
                        <a:t>phẩm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15"/>
                        </a:lnSpc>
                      </a:pPr>
                      <a:r>
                        <a:rPr sz="1100" b="1" dirty="0">
                          <a:latin typeface="Arial"/>
                          <a:cs typeface="Arial"/>
                        </a:rPr>
                        <a:t>Số</a:t>
                      </a:r>
                      <a:r>
                        <a:rPr sz="1100" b="1" spc="-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100" b="1" spc="-10" dirty="0">
                          <a:latin typeface="Arial"/>
                          <a:cs typeface="Arial"/>
                        </a:rPr>
                        <a:t>lượng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15"/>
                        </a:lnSpc>
                      </a:pPr>
                      <a:r>
                        <a:rPr sz="1100" b="1" spc="-10" dirty="0">
                          <a:latin typeface="Arial"/>
                          <a:cs typeface="Arial"/>
                        </a:rPr>
                        <a:t>Support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62560">
                <a:tc>
                  <a:txBody>
                    <a:bodyPr/>
                    <a:lstStyle/>
                    <a:p>
                      <a:pPr marL="78105">
                        <a:lnSpc>
                          <a:spcPts val="1180"/>
                        </a:lnSpc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Whole</a:t>
                      </a:r>
                      <a:r>
                        <a:rPr sz="1100" spc="-7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100" spc="-20" dirty="0">
                          <a:latin typeface="Arial"/>
                          <a:cs typeface="Arial"/>
                        </a:rPr>
                        <a:t>milk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80"/>
                        </a:lnSpc>
                      </a:pPr>
                      <a:r>
                        <a:rPr sz="1100" spc="-20" dirty="0">
                          <a:latin typeface="Arial"/>
                          <a:cs typeface="Arial"/>
                        </a:rPr>
                        <a:t>2222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80"/>
                        </a:lnSpc>
                      </a:pPr>
                      <a:r>
                        <a:rPr sz="1100" spc="-10" dirty="0">
                          <a:latin typeface="Arial"/>
                          <a:cs typeface="Arial"/>
                        </a:rPr>
                        <a:t>31.69%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171450">
                <a:tc>
                  <a:txBody>
                    <a:bodyPr/>
                    <a:lstStyle/>
                    <a:p>
                      <a:pPr marL="78105">
                        <a:lnSpc>
                          <a:spcPts val="1255"/>
                        </a:lnSpc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Other</a:t>
                      </a:r>
                      <a:r>
                        <a:rPr sz="1100" spc="-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100" spc="-10" dirty="0">
                          <a:latin typeface="Arial"/>
                          <a:cs typeface="Arial"/>
                        </a:rPr>
                        <a:t>vegetables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55"/>
                        </a:lnSpc>
                      </a:pPr>
                      <a:r>
                        <a:rPr sz="1100" spc="-20" dirty="0">
                          <a:latin typeface="Arial"/>
                          <a:cs typeface="Arial"/>
                        </a:rPr>
                        <a:t>1766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55"/>
                        </a:lnSpc>
                      </a:pPr>
                      <a:r>
                        <a:rPr sz="1100" spc="-10" dirty="0">
                          <a:latin typeface="Arial"/>
                          <a:cs typeface="Arial"/>
                        </a:rPr>
                        <a:t>25.19%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171450">
                <a:tc>
                  <a:txBody>
                    <a:bodyPr/>
                    <a:lstStyle/>
                    <a:p>
                      <a:pPr marL="78105">
                        <a:lnSpc>
                          <a:spcPts val="1255"/>
                        </a:lnSpc>
                      </a:pPr>
                      <a:r>
                        <a:rPr sz="1100" spc="-10" dirty="0">
                          <a:latin typeface="Arial"/>
                          <a:cs typeface="Arial"/>
                        </a:rPr>
                        <a:t>Rolls/buns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55"/>
                        </a:lnSpc>
                      </a:pPr>
                      <a:r>
                        <a:rPr sz="1100" spc="-20" dirty="0">
                          <a:latin typeface="Arial"/>
                          <a:cs typeface="Arial"/>
                        </a:rPr>
                        <a:t>1483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55"/>
                        </a:lnSpc>
                      </a:pPr>
                      <a:r>
                        <a:rPr sz="1100" spc="-10" dirty="0">
                          <a:latin typeface="Arial"/>
                          <a:cs typeface="Arial"/>
                        </a:rPr>
                        <a:t>21.15%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171450">
                <a:tc>
                  <a:txBody>
                    <a:bodyPr/>
                    <a:lstStyle/>
                    <a:p>
                      <a:pPr marL="78105">
                        <a:lnSpc>
                          <a:spcPts val="1255"/>
                        </a:lnSpc>
                      </a:pPr>
                      <a:r>
                        <a:rPr sz="1100" spc="-20" dirty="0">
                          <a:latin typeface="Arial"/>
                          <a:cs typeface="Arial"/>
                        </a:rPr>
                        <a:t>Soda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55"/>
                        </a:lnSpc>
                      </a:pPr>
                      <a:r>
                        <a:rPr sz="1100" spc="-20" dirty="0">
                          <a:latin typeface="Arial"/>
                          <a:cs typeface="Arial"/>
                        </a:rPr>
                        <a:t>1372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55"/>
                        </a:lnSpc>
                      </a:pPr>
                      <a:r>
                        <a:rPr sz="1100" spc="-10" dirty="0">
                          <a:latin typeface="Arial"/>
                          <a:cs typeface="Arial"/>
                        </a:rPr>
                        <a:t>19.57%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186055">
                <a:tc>
                  <a:txBody>
                    <a:bodyPr/>
                    <a:lstStyle/>
                    <a:p>
                      <a:pPr marL="78105">
                        <a:lnSpc>
                          <a:spcPts val="1260"/>
                        </a:lnSpc>
                      </a:pPr>
                      <a:r>
                        <a:rPr sz="1100" spc="-10" dirty="0">
                          <a:latin typeface="Arial"/>
                          <a:cs typeface="Arial"/>
                        </a:rPr>
                        <a:t>Yogurt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60"/>
                        </a:lnSpc>
                      </a:pPr>
                      <a:r>
                        <a:rPr sz="1100" spc="-20" dirty="0">
                          <a:latin typeface="Arial"/>
                          <a:cs typeface="Arial"/>
                        </a:rPr>
                        <a:t>1264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60"/>
                        </a:lnSpc>
                      </a:pPr>
                      <a:r>
                        <a:rPr sz="1100" spc="-10" dirty="0">
                          <a:latin typeface="Arial"/>
                          <a:cs typeface="Arial"/>
                        </a:rPr>
                        <a:t>18.03%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5" name="object 5" descr=""/>
          <p:cNvSpPr txBox="1"/>
          <p:nvPr/>
        </p:nvSpPr>
        <p:spPr>
          <a:xfrm>
            <a:off x="135928" y="1946500"/>
            <a:ext cx="3424554" cy="77978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dirty="0">
                <a:latin typeface="Arial"/>
                <a:cs typeface="Arial"/>
              </a:rPr>
              <a:t>Nhận</a:t>
            </a:r>
            <a:r>
              <a:rPr sz="1400" spc="70" dirty="0">
                <a:latin typeface="Arial"/>
                <a:cs typeface="Arial"/>
              </a:rPr>
              <a:t> </a:t>
            </a:r>
            <a:r>
              <a:rPr sz="1400" spc="-20" dirty="0">
                <a:latin typeface="Arial"/>
                <a:cs typeface="Arial"/>
              </a:rPr>
              <a:t>xét:</a:t>
            </a:r>
            <a:endParaRPr sz="1400">
              <a:latin typeface="Arial"/>
              <a:cs typeface="Arial"/>
            </a:endParaRPr>
          </a:p>
          <a:p>
            <a:pPr marL="309880">
              <a:lnSpc>
                <a:spcPct val="100000"/>
              </a:lnSpc>
              <a:spcBef>
                <a:spcPts val="1035"/>
              </a:spcBef>
            </a:pPr>
            <a:r>
              <a:rPr sz="1200" dirty="0">
                <a:latin typeface="Arial"/>
                <a:cs typeface="Arial"/>
              </a:rPr>
              <a:t>Whole</a:t>
            </a:r>
            <a:r>
              <a:rPr sz="1200" spc="-1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milk</a:t>
            </a:r>
            <a:r>
              <a:rPr sz="1200" spc="-1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là</a:t>
            </a:r>
            <a:r>
              <a:rPr sz="1200" spc="-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sản</a:t>
            </a:r>
            <a:r>
              <a:rPr sz="1200" spc="-1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phẩm</a:t>
            </a:r>
            <a:r>
              <a:rPr sz="1200" spc="-1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phổ</a:t>
            </a:r>
            <a:r>
              <a:rPr sz="1200" spc="-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biến</a:t>
            </a:r>
            <a:r>
              <a:rPr sz="1200" spc="-10" dirty="0">
                <a:latin typeface="Arial"/>
                <a:cs typeface="Arial"/>
              </a:rPr>
              <a:t> </a:t>
            </a:r>
            <a:r>
              <a:rPr sz="1200" spc="-20" dirty="0">
                <a:latin typeface="Arial"/>
                <a:cs typeface="Arial"/>
              </a:rPr>
              <a:t>nhất</a:t>
            </a:r>
            <a:endParaRPr sz="1200">
              <a:latin typeface="Arial"/>
              <a:cs typeface="Arial"/>
            </a:endParaRPr>
          </a:p>
          <a:p>
            <a:pPr marL="309880">
              <a:lnSpc>
                <a:spcPct val="100000"/>
              </a:lnSpc>
              <a:spcBef>
                <a:spcPts val="305"/>
              </a:spcBef>
            </a:pPr>
            <a:r>
              <a:rPr sz="1200" dirty="0">
                <a:latin typeface="Arial"/>
                <a:cs typeface="Arial"/>
              </a:rPr>
              <a:t>Xuất</a:t>
            </a:r>
            <a:r>
              <a:rPr sz="1200" spc="-2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hiện</a:t>
            </a:r>
            <a:r>
              <a:rPr sz="1200" spc="-2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trong</a:t>
            </a:r>
            <a:r>
              <a:rPr sz="1200" spc="-25" dirty="0">
                <a:latin typeface="Arial"/>
                <a:cs typeface="Arial"/>
              </a:rPr>
              <a:t> </a:t>
            </a:r>
            <a:r>
              <a:rPr sz="1200" dirty="0">
                <a:latin typeface="Lucida Sans Unicode"/>
                <a:cs typeface="Lucida Sans Unicode"/>
              </a:rPr>
              <a:t>∼</a:t>
            </a:r>
            <a:r>
              <a:rPr sz="1200" dirty="0">
                <a:latin typeface="Arial"/>
                <a:cs typeface="Arial"/>
              </a:rPr>
              <a:t>32%</a:t>
            </a:r>
            <a:r>
              <a:rPr sz="1200" spc="-2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giao</a:t>
            </a:r>
            <a:r>
              <a:rPr sz="1200" spc="-2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dịch</a:t>
            </a:r>
            <a:r>
              <a:rPr sz="1200" spc="-25" dirty="0">
                <a:latin typeface="Arial"/>
                <a:cs typeface="Arial"/>
              </a:rPr>
              <a:t> </a:t>
            </a:r>
            <a:r>
              <a:rPr sz="1200" spc="-10" dirty="0">
                <a:latin typeface="Arial"/>
                <a:cs typeface="Arial"/>
              </a:rPr>
              <a:t>(transactions)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6" name="object 6" descr=""/>
          <p:cNvGrpSpPr/>
          <p:nvPr/>
        </p:nvGrpSpPr>
        <p:grpSpPr>
          <a:xfrm>
            <a:off x="0" y="3110712"/>
            <a:ext cx="5760085" cy="129539"/>
            <a:chOff x="0" y="3110712"/>
            <a:chExt cx="5760085" cy="129539"/>
          </a:xfrm>
        </p:grpSpPr>
        <p:sp>
          <p:nvSpPr>
            <p:cNvPr id="7" name="object 7" descr=""/>
            <p:cNvSpPr/>
            <p:nvPr/>
          </p:nvSpPr>
          <p:spPr>
            <a:xfrm>
              <a:off x="0" y="3110712"/>
              <a:ext cx="1920239" cy="129539"/>
            </a:xfrm>
            <a:custGeom>
              <a:avLst/>
              <a:gdLst/>
              <a:ahLst/>
              <a:cxnLst/>
              <a:rect l="l" t="t" r="r" b="b"/>
              <a:pathLst>
                <a:path w="1920239" h="129539">
                  <a:moveTo>
                    <a:pt x="1919973" y="0"/>
                  </a:moveTo>
                  <a:lnTo>
                    <a:pt x="0" y="0"/>
                  </a:lnTo>
                  <a:lnTo>
                    <a:pt x="0" y="129285"/>
                  </a:lnTo>
                  <a:lnTo>
                    <a:pt x="1919973" y="129285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1919973" y="3110712"/>
              <a:ext cx="1920239" cy="129539"/>
            </a:xfrm>
            <a:custGeom>
              <a:avLst/>
              <a:gdLst/>
              <a:ahLst/>
              <a:cxnLst/>
              <a:rect l="l" t="t" r="r" b="b"/>
              <a:pathLst>
                <a:path w="1920239" h="129539">
                  <a:moveTo>
                    <a:pt x="1919973" y="0"/>
                  </a:moveTo>
                  <a:lnTo>
                    <a:pt x="0" y="0"/>
                  </a:lnTo>
                  <a:lnTo>
                    <a:pt x="0" y="129286"/>
                  </a:lnTo>
                  <a:lnTo>
                    <a:pt x="1919973" y="129286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3839946" y="3110712"/>
              <a:ext cx="1920239" cy="129539"/>
            </a:xfrm>
            <a:custGeom>
              <a:avLst/>
              <a:gdLst/>
              <a:ahLst/>
              <a:cxnLst/>
              <a:rect l="l" t="t" r="r" b="b"/>
              <a:pathLst>
                <a:path w="1920239" h="129539">
                  <a:moveTo>
                    <a:pt x="1919973" y="0"/>
                  </a:moveTo>
                  <a:lnTo>
                    <a:pt x="0" y="0"/>
                  </a:lnTo>
                  <a:lnTo>
                    <a:pt x="0" y="129286"/>
                  </a:lnTo>
                  <a:lnTo>
                    <a:pt x="1919973" y="129286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 descr="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dirty="0"/>
              <a:t>Lê</a:t>
            </a:r>
            <a:r>
              <a:rPr spc="-25" dirty="0"/>
              <a:t> </a:t>
            </a:r>
            <a:r>
              <a:rPr dirty="0"/>
              <a:t>Đình</a:t>
            </a:r>
            <a:r>
              <a:rPr spc="-20" dirty="0"/>
              <a:t> </a:t>
            </a:r>
            <a:r>
              <a:rPr dirty="0"/>
              <a:t>Phùng</a:t>
            </a:r>
            <a:r>
              <a:rPr spc="-25" dirty="0"/>
              <a:t> </a:t>
            </a:r>
            <a:r>
              <a:rPr dirty="0"/>
              <a:t>–</a:t>
            </a:r>
            <a:r>
              <a:rPr spc="-20" dirty="0"/>
              <a:t> </a:t>
            </a:r>
            <a:r>
              <a:rPr spc="-10" dirty="0"/>
              <a:t>18130181</a:t>
            </a:r>
          </a:p>
        </p:txBody>
      </p:sp>
      <p:sp>
        <p:nvSpPr>
          <p:cNvPr id="11" name="object 11" descr=""/>
          <p:cNvSpPr txBox="1"/>
          <p:nvPr/>
        </p:nvSpPr>
        <p:spPr>
          <a:xfrm>
            <a:off x="2584627" y="3115174"/>
            <a:ext cx="591185" cy="119380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600" dirty="0">
                <a:solidFill>
                  <a:srgbClr val="00AEEF"/>
                </a:solidFill>
                <a:latin typeface="Arial"/>
                <a:cs typeface="Arial"/>
                <a:hlinkClick r:id="rId2" action="ppaction://hlinksldjump"/>
              </a:rPr>
              <a:t>Cải</a:t>
            </a:r>
            <a:r>
              <a:rPr sz="600" spc="-30" dirty="0">
                <a:solidFill>
                  <a:srgbClr val="00AEEF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sz="600" dirty="0">
                <a:solidFill>
                  <a:srgbClr val="00AEEF"/>
                </a:solidFill>
                <a:latin typeface="Arial"/>
                <a:cs typeface="Arial"/>
                <a:hlinkClick r:id="rId2" action="ppaction://hlinksldjump"/>
              </a:rPr>
              <a:t>Thiện</a:t>
            </a:r>
            <a:r>
              <a:rPr sz="600" spc="-30" dirty="0">
                <a:solidFill>
                  <a:srgbClr val="00AEEF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sz="600" spc="-10" dirty="0">
                <a:solidFill>
                  <a:srgbClr val="00AEEF"/>
                </a:solidFill>
                <a:latin typeface="Arial"/>
                <a:cs typeface="Arial"/>
                <a:hlinkClick r:id="rId2" action="ppaction://hlinksldjump"/>
              </a:rPr>
              <a:t>Apriori</a:t>
            </a:r>
            <a:endParaRPr sz="600">
              <a:latin typeface="Arial"/>
              <a:cs typeface="Arial"/>
            </a:endParaRPr>
          </a:p>
        </p:txBody>
      </p:sp>
      <p:sp>
        <p:nvSpPr>
          <p:cNvPr id="12" name="object 12" descr="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dirty="0"/>
              <a:t>Năm</a:t>
            </a:r>
            <a:r>
              <a:rPr spc="-30" dirty="0"/>
              <a:t> </a:t>
            </a:r>
            <a:r>
              <a:rPr dirty="0"/>
              <a:t>học</a:t>
            </a:r>
            <a:r>
              <a:rPr spc="-25" dirty="0"/>
              <a:t> </a:t>
            </a:r>
            <a:r>
              <a:rPr spc="-10" dirty="0"/>
              <a:t>2025–2026</a:t>
            </a:r>
          </a:p>
        </p:txBody>
      </p:sp>
      <p:sp>
        <p:nvSpPr>
          <p:cNvPr id="13" name="object 13" descr="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70"/>
              </a:spcBef>
            </a:pPr>
            <a:fld id="{81D60167-4931-47E6-BA6A-407CBD079E47}" type="slidenum">
              <a:rPr spc="-10" dirty="0"/>
              <a:t>10</a:t>
            </a:fld>
            <a:r>
              <a:rPr spc="-70" dirty="0"/>
              <a:t> </a:t>
            </a:r>
            <a:r>
              <a:rPr dirty="0"/>
              <a:t>/</a:t>
            </a:r>
            <a:r>
              <a:rPr spc="-65" dirty="0"/>
              <a:t> </a:t>
            </a:r>
            <a:r>
              <a:rPr spc="-25" dirty="0"/>
              <a:t>32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fast">
        <p:cut thruBlk="0"/>
      </p:transition>
    </mc:Choice>
    <mc:Fallback>
      <p:transition spd="fast">
        <p:cut thruBlk="0"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95300" y="40457"/>
            <a:ext cx="4438650" cy="2882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700" dirty="0">
                <a:solidFill>
                  <a:srgbClr val="FFFFFF"/>
                </a:solidFill>
                <a:latin typeface="Arial"/>
                <a:cs typeface="Arial"/>
              </a:rPr>
              <a:t>TOP</a:t>
            </a:r>
            <a:r>
              <a:rPr sz="1700" spc="-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700" dirty="0">
                <a:solidFill>
                  <a:srgbClr val="FFFFFF"/>
                </a:solidFill>
                <a:latin typeface="Arial"/>
                <a:cs typeface="Arial"/>
              </a:rPr>
              <a:t>20 SẢN PHẨM </a:t>
            </a:r>
            <a:r>
              <a:rPr sz="1700" spc="-25" dirty="0">
                <a:solidFill>
                  <a:srgbClr val="FFFFFF"/>
                </a:solidFill>
                <a:latin typeface="Arial"/>
                <a:cs typeface="Arial"/>
              </a:rPr>
              <a:t>THƯỜNG</a:t>
            </a:r>
            <a:r>
              <a:rPr sz="1700" dirty="0">
                <a:solidFill>
                  <a:srgbClr val="FFFFFF"/>
                </a:solidFill>
                <a:latin typeface="Arial"/>
                <a:cs typeface="Arial"/>
              </a:rPr>
              <a:t> XUYÊN </a:t>
            </a:r>
            <a:r>
              <a:rPr sz="1700" spc="-20" dirty="0">
                <a:solidFill>
                  <a:srgbClr val="FFFFFF"/>
                </a:solidFill>
                <a:latin typeface="Arial"/>
                <a:cs typeface="Arial"/>
              </a:rPr>
              <a:t>NHẤT</a:t>
            </a:r>
            <a:endParaRPr sz="1700">
              <a:latin typeface="Arial"/>
              <a:cs typeface="Arial"/>
            </a:endParaRPr>
          </a:p>
        </p:txBody>
      </p:sp>
      <p:pic>
        <p:nvPicPr>
          <p:cNvPr id="3" name="object 3" descr=""/>
          <p:cNvPicPr/>
          <p:nvPr/>
        </p:nvPicPr>
        <p:blipFill>
          <a:blip r:embed="rId2"/>
          <a:stretch>
            <a:fillRect/>
          </a:stretch>
        </p:blipFill>
        <p:spPr>
          <a:xfrm>
            <a:off x="762911" y="767806"/>
            <a:ext cx="4191293" cy="1874300"/>
          </a:xfrm>
          <a:prstGeom prst="rect">
            <a:avLst/>
          </a:prstGeom>
        </p:spPr>
      </p:pic>
      <p:grpSp>
        <p:nvGrpSpPr>
          <p:cNvPr id="4" name="object 4" descr=""/>
          <p:cNvGrpSpPr/>
          <p:nvPr/>
        </p:nvGrpSpPr>
        <p:grpSpPr>
          <a:xfrm>
            <a:off x="0" y="3110712"/>
            <a:ext cx="5760085" cy="129539"/>
            <a:chOff x="0" y="3110712"/>
            <a:chExt cx="5760085" cy="129539"/>
          </a:xfrm>
        </p:grpSpPr>
        <p:sp>
          <p:nvSpPr>
            <p:cNvPr id="5" name="object 5" descr=""/>
            <p:cNvSpPr/>
            <p:nvPr/>
          </p:nvSpPr>
          <p:spPr>
            <a:xfrm>
              <a:off x="0" y="3110712"/>
              <a:ext cx="1920239" cy="129539"/>
            </a:xfrm>
            <a:custGeom>
              <a:avLst/>
              <a:gdLst/>
              <a:ahLst/>
              <a:cxnLst/>
              <a:rect l="l" t="t" r="r" b="b"/>
              <a:pathLst>
                <a:path w="1920239" h="129539">
                  <a:moveTo>
                    <a:pt x="1919973" y="0"/>
                  </a:moveTo>
                  <a:lnTo>
                    <a:pt x="0" y="0"/>
                  </a:lnTo>
                  <a:lnTo>
                    <a:pt x="0" y="129286"/>
                  </a:lnTo>
                  <a:lnTo>
                    <a:pt x="1919973" y="129286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1919973" y="3110712"/>
              <a:ext cx="1920239" cy="129539"/>
            </a:xfrm>
            <a:custGeom>
              <a:avLst/>
              <a:gdLst/>
              <a:ahLst/>
              <a:cxnLst/>
              <a:rect l="l" t="t" r="r" b="b"/>
              <a:pathLst>
                <a:path w="1920239" h="129539">
                  <a:moveTo>
                    <a:pt x="1919973" y="0"/>
                  </a:moveTo>
                  <a:lnTo>
                    <a:pt x="0" y="0"/>
                  </a:lnTo>
                  <a:lnTo>
                    <a:pt x="0" y="129286"/>
                  </a:lnTo>
                  <a:lnTo>
                    <a:pt x="1919973" y="129286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3839946" y="3110712"/>
              <a:ext cx="1920239" cy="129539"/>
            </a:xfrm>
            <a:custGeom>
              <a:avLst/>
              <a:gdLst/>
              <a:ahLst/>
              <a:cxnLst/>
              <a:rect l="l" t="t" r="r" b="b"/>
              <a:pathLst>
                <a:path w="1920239" h="129539">
                  <a:moveTo>
                    <a:pt x="1919973" y="0"/>
                  </a:moveTo>
                  <a:lnTo>
                    <a:pt x="0" y="0"/>
                  </a:lnTo>
                  <a:lnTo>
                    <a:pt x="0" y="129286"/>
                  </a:lnTo>
                  <a:lnTo>
                    <a:pt x="1919973" y="129286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 descr="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dirty="0"/>
              <a:t>Lê</a:t>
            </a:r>
            <a:r>
              <a:rPr spc="-25" dirty="0"/>
              <a:t> </a:t>
            </a:r>
            <a:r>
              <a:rPr dirty="0"/>
              <a:t>Đình</a:t>
            </a:r>
            <a:r>
              <a:rPr spc="-20" dirty="0"/>
              <a:t> </a:t>
            </a:r>
            <a:r>
              <a:rPr dirty="0"/>
              <a:t>Phùng</a:t>
            </a:r>
            <a:r>
              <a:rPr spc="-25" dirty="0"/>
              <a:t> </a:t>
            </a:r>
            <a:r>
              <a:rPr dirty="0"/>
              <a:t>–</a:t>
            </a:r>
            <a:r>
              <a:rPr spc="-20" dirty="0"/>
              <a:t> </a:t>
            </a:r>
            <a:r>
              <a:rPr spc="-10" dirty="0"/>
              <a:t>18130181</a:t>
            </a:r>
          </a:p>
        </p:txBody>
      </p:sp>
      <p:sp>
        <p:nvSpPr>
          <p:cNvPr id="9" name="object 9" descr=""/>
          <p:cNvSpPr txBox="1"/>
          <p:nvPr/>
        </p:nvSpPr>
        <p:spPr>
          <a:xfrm>
            <a:off x="2584627" y="3115174"/>
            <a:ext cx="591185" cy="119380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600" dirty="0">
                <a:solidFill>
                  <a:srgbClr val="00AEEF"/>
                </a:solidFill>
                <a:latin typeface="Arial"/>
                <a:cs typeface="Arial"/>
                <a:hlinkClick r:id="rId3" action="ppaction://hlinksldjump"/>
              </a:rPr>
              <a:t>Cải</a:t>
            </a:r>
            <a:r>
              <a:rPr sz="600" spc="-30" dirty="0">
                <a:solidFill>
                  <a:srgbClr val="00AEE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600" dirty="0">
                <a:solidFill>
                  <a:srgbClr val="00AEEF"/>
                </a:solidFill>
                <a:latin typeface="Arial"/>
                <a:cs typeface="Arial"/>
                <a:hlinkClick r:id="rId3" action="ppaction://hlinksldjump"/>
              </a:rPr>
              <a:t>Thiện</a:t>
            </a:r>
            <a:r>
              <a:rPr sz="600" spc="-30" dirty="0">
                <a:solidFill>
                  <a:srgbClr val="00AEE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600" spc="-10" dirty="0">
                <a:solidFill>
                  <a:srgbClr val="00AEEF"/>
                </a:solidFill>
                <a:latin typeface="Arial"/>
                <a:cs typeface="Arial"/>
                <a:hlinkClick r:id="rId3" action="ppaction://hlinksldjump"/>
              </a:rPr>
              <a:t>Apriori</a:t>
            </a:r>
            <a:endParaRPr sz="600">
              <a:latin typeface="Arial"/>
              <a:cs typeface="Arial"/>
            </a:endParaRPr>
          </a:p>
        </p:txBody>
      </p:sp>
      <p:sp>
        <p:nvSpPr>
          <p:cNvPr id="10" name="object 10" descr="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dirty="0"/>
              <a:t>Năm</a:t>
            </a:r>
            <a:r>
              <a:rPr spc="-30" dirty="0"/>
              <a:t> </a:t>
            </a:r>
            <a:r>
              <a:rPr dirty="0"/>
              <a:t>học</a:t>
            </a:r>
            <a:r>
              <a:rPr spc="-25" dirty="0"/>
              <a:t> </a:t>
            </a:r>
            <a:r>
              <a:rPr spc="-10" dirty="0"/>
              <a:t>2025–2026</a:t>
            </a:r>
          </a:p>
        </p:txBody>
      </p:sp>
      <p:sp>
        <p:nvSpPr>
          <p:cNvPr id="11" name="object 11" descr="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70"/>
              </a:spcBef>
            </a:pPr>
            <a:fld id="{81D60167-4931-47E6-BA6A-407CBD079E47}" type="slidenum">
              <a:rPr spc="-10" dirty="0"/>
              <a:t>10</a:t>
            </a:fld>
            <a:r>
              <a:rPr spc="-70" dirty="0"/>
              <a:t> </a:t>
            </a:r>
            <a:r>
              <a:rPr dirty="0"/>
              <a:t>/</a:t>
            </a:r>
            <a:r>
              <a:rPr spc="-65" dirty="0"/>
              <a:t> </a:t>
            </a:r>
            <a:r>
              <a:rPr spc="-25" dirty="0"/>
              <a:t>32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fast">
        <p:cut thruBlk="0"/>
      </p:transition>
    </mc:Choice>
    <mc:Fallback>
      <p:transition spd="fast">
        <p:cut thruBlk="0"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95300" y="40457"/>
            <a:ext cx="3050540" cy="2882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700" dirty="0">
                <a:solidFill>
                  <a:srgbClr val="FFFFFF"/>
                </a:solidFill>
                <a:latin typeface="Arial"/>
                <a:cs typeface="Arial"/>
              </a:rPr>
              <a:t>PHÂN</a:t>
            </a:r>
            <a:r>
              <a:rPr sz="170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700" dirty="0">
                <a:solidFill>
                  <a:srgbClr val="FFFFFF"/>
                </a:solidFill>
                <a:latin typeface="Arial"/>
                <a:cs typeface="Arial"/>
              </a:rPr>
              <a:t>PHỐI</a:t>
            </a:r>
            <a:r>
              <a:rPr sz="170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700" spc="-10" dirty="0">
                <a:solidFill>
                  <a:srgbClr val="FFFFFF"/>
                </a:solidFill>
                <a:latin typeface="Arial"/>
                <a:cs typeface="Arial"/>
              </a:rPr>
              <a:t>TẦN</a:t>
            </a:r>
            <a:r>
              <a:rPr sz="1700" spc="-25" dirty="0">
                <a:solidFill>
                  <a:srgbClr val="FFFFFF"/>
                </a:solidFill>
                <a:latin typeface="Arial"/>
                <a:cs typeface="Arial"/>
              </a:rPr>
              <a:t> SUẤT </a:t>
            </a:r>
            <a:r>
              <a:rPr sz="1700" spc="-10" dirty="0">
                <a:solidFill>
                  <a:srgbClr val="FFFFFF"/>
                </a:solidFill>
                <a:latin typeface="Arial"/>
                <a:cs typeface="Arial"/>
              </a:rPr>
              <a:t>ITEMS</a:t>
            </a:r>
            <a:endParaRPr sz="1700">
              <a:latin typeface="Arial"/>
              <a:cs typeface="Arial"/>
            </a:endParaRPr>
          </a:p>
        </p:txBody>
      </p:sp>
      <p:pic>
        <p:nvPicPr>
          <p:cNvPr id="3" name="object 3" descr=""/>
          <p:cNvPicPr/>
          <p:nvPr/>
        </p:nvPicPr>
        <p:blipFill>
          <a:blip r:embed="rId2"/>
          <a:stretch>
            <a:fillRect/>
          </a:stretch>
        </p:blipFill>
        <p:spPr>
          <a:xfrm>
            <a:off x="440856" y="961340"/>
            <a:ext cx="4688008" cy="1405537"/>
          </a:xfrm>
          <a:prstGeom prst="rect">
            <a:avLst/>
          </a:prstGeom>
        </p:spPr>
      </p:pic>
      <p:grpSp>
        <p:nvGrpSpPr>
          <p:cNvPr id="4" name="object 4" descr=""/>
          <p:cNvGrpSpPr/>
          <p:nvPr/>
        </p:nvGrpSpPr>
        <p:grpSpPr>
          <a:xfrm>
            <a:off x="0" y="3110712"/>
            <a:ext cx="5760085" cy="129539"/>
            <a:chOff x="0" y="3110712"/>
            <a:chExt cx="5760085" cy="129539"/>
          </a:xfrm>
        </p:grpSpPr>
        <p:sp>
          <p:nvSpPr>
            <p:cNvPr id="5" name="object 5" descr=""/>
            <p:cNvSpPr/>
            <p:nvPr/>
          </p:nvSpPr>
          <p:spPr>
            <a:xfrm>
              <a:off x="0" y="3110712"/>
              <a:ext cx="1920239" cy="129539"/>
            </a:xfrm>
            <a:custGeom>
              <a:avLst/>
              <a:gdLst/>
              <a:ahLst/>
              <a:cxnLst/>
              <a:rect l="l" t="t" r="r" b="b"/>
              <a:pathLst>
                <a:path w="1920239" h="129539">
                  <a:moveTo>
                    <a:pt x="1919973" y="0"/>
                  </a:moveTo>
                  <a:lnTo>
                    <a:pt x="0" y="0"/>
                  </a:lnTo>
                  <a:lnTo>
                    <a:pt x="0" y="129286"/>
                  </a:lnTo>
                  <a:lnTo>
                    <a:pt x="1919973" y="129286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1919973" y="3110712"/>
              <a:ext cx="1920239" cy="129539"/>
            </a:xfrm>
            <a:custGeom>
              <a:avLst/>
              <a:gdLst/>
              <a:ahLst/>
              <a:cxnLst/>
              <a:rect l="l" t="t" r="r" b="b"/>
              <a:pathLst>
                <a:path w="1920239" h="129539">
                  <a:moveTo>
                    <a:pt x="1919973" y="0"/>
                  </a:moveTo>
                  <a:lnTo>
                    <a:pt x="0" y="0"/>
                  </a:lnTo>
                  <a:lnTo>
                    <a:pt x="0" y="129286"/>
                  </a:lnTo>
                  <a:lnTo>
                    <a:pt x="1919973" y="129286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3839946" y="3110712"/>
              <a:ext cx="1920239" cy="129539"/>
            </a:xfrm>
            <a:custGeom>
              <a:avLst/>
              <a:gdLst/>
              <a:ahLst/>
              <a:cxnLst/>
              <a:rect l="l" t="t" r="r" b="b"/>
              <a:pathLst>
                <a:path w="1920239" h="129539">
                  <a:moveTo>
                    <a:pt x="1919973" y="0"/>
                  </a:moveTo>
                  <a:lnTo>
                    <a:pt x="0" y="0"/>
                  </a:lnTo>
                  <a:lnTo>
                    <a:pt x="0" y="129286"/>
                  </a:lnTo>
                  <a:lnTo>
                    <a:pt x="1919973" y="129286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 descr="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dirty="0"/>
              <a:t>Lê</a:t>
            </a:r>
            <a:r>
              <a:rPr spc="-25" dirty="0"/>
              <a:t> </a:t>
            </a:r>
            <a:r>
              <a:rPr dirty="0"/>
              <a:t>Đình</a:t>
            </a:r>
            <a:r>
              <a:rPr spc="-20" dirty="0"/>
              <a:t> </a:t>
            </a:r>
            <a:r>
              <a:rPr dirty="0"/>
              <a:t>Phùng</a:t>
            </a:r>
            <a:r>
              <a:rPr spc="-25" dirty="0"/>
              <a:t> </a:t>
            </a:r>
            <a:r>
              <a:rPr dirty="0"/>
              <a:t>–</a:t>
            </a:r>
            <a:r>
              <a:rPr spc="-20" dirty="0"/>
              <a:t> </a:t>
            </a:r>
            <a:r>
              <a:rPr spc="-10" dirty="0"/>
              <a:t>18130181</a:t>
            </a:r>
          </a:p>
        </p:txBody>
      </p:sp>
      <p:sp>
        <p:nvSpPr>
          <p:cNvPr id="9" name="object 9" descr=""/>
          <p:cNvSpPr txBox="1"/>
          <p:nvPr/>
        </p:nvSpPr>
        <p:spPr>
          <a:xfrm>
            <a:off x="2584627" y="3115174"/>
            <a:ext cx="591185" cy="119380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600" dirty="0">
                <a:solidFill>
                  <a:srgbClr val="00AEEF"/>
                </a:solidFill>
                <a:latin typeface="Arial"/>
                <a:cs typeface="Arial"/>
                <a:hlinkClick r:id="rId3" action="ppaction://hlinksldjump"/>
              </a:rPr>
              <a:t>Cải</a:t>
            </a:r>
            <a:r>
              <a:rPr sz="600" spc="-30" dirty="0">
                <a:solidFill>
                  <a:srgbClr val="00AEE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600" dirty="0">
                <a:solidFill>
                  <a:srgbClr val="00AEEF"/>
                </a:solidFill>
                <a:latin typeface="Arial"/>
                <a:cs typeface="Arial"/>
                <a:hlinkClick r:id="rId3" action="ppaction://hlinksldjump"/>
              </a:rPr>
              <a:t>Thiện</a:t>
            </a:r>
            <a:r>
              <a:rPr sz="600" spc="-30" dirty="0">
                <a:solidFill>
                  <a:srgbClr val="00AEE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600" spc="-10" dirty="0">
                <a:solidFill>
                  <a:srgbClr val="00AEEF"/>
                </a:solidFill>
                <a:latin typeface="Arial"/>
                <a:cs typeface="Arial"/>
                <a:hlinkClick r:id="rId3" action="ppaction://hlinksldjump"/>
              </a:rPr>
              <a:t>Apriori</a:t>
            </a:r>
            <a:endParaRPr sz="600">
              <a:latin typeface="Arial"/>
              <a:cs typeface="Arial"/>
            </a:endParaRPr>
          </a:p>
        </p:txBody>
      </p:sp>
      <p:sp>
        <p:nvSpPr>
          <p:cNvPr id="10" name="object 10" descr="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dirty="0"/>
              <a:t>Năm</a:t>
            </a:r>
            <a:r>
              <a:rPr spc="-30" dirty="0"/>
              <a:t> </a:t>
            </a:r>
            <a:r>
              <a:rPr dirty="0"/>
              <a:t>học</a:t>
            </a:r>
            <a:r>
              <a:rPr spc="-25" dirty="0"/>
              <a:t> </a:t>
            </a:r>
            <a:r>
              <a:rPr spc="-10" dirty="0"/>
              <a:t>2025–2026</a:t>
            </a:r>
          </a:p>
        </p:txBody>
      </p:sp>
      <p:sp>
        <p:nvSpPr>
          <p:cNvPr id="11" name="object 11" descr="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70"/>
              </a:spcBef>
            </a:pPr>
            <a:fld id="{81D60167-4931-47E6-BA6A-407CBD079E47}" type="slidenum">
              <a:rPr spc="-10" dirty="0"/>
              <a:t>10</a:t>
            </a:fld>
            <a:r>
              <a:rPr spc="-70" dirty="0"/>
              <a:t> </a:t>
            </a:r>
            <a:r>
              <a:rPr dirty="0"/>
              <a:t>/</a:t>
            </a:r>
            <a:r>
              <a:rPr spc="-65" dirty="0"/>
              <a:t> </a:t>
            </a:r>
            <a:r>
              <a:rPr spc="-25" dirty="0"/>
              <a:t>32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fast">
        <p:cut thruBlk="0"/>
      </p:transition>
    </mc:Choice>
    <mc:Fallback>
      <p:transition spd="fast">
        <p:cut thruBlk="0"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0"/>
            <a:ext cx="5760085" cy="349250"/>
          </a:xfrm>
          <a:custGeom>
            <a:avLst/>
            <a:gdLst/>
            <a:ahLst/>
            <a:cxnLst/>
            <a:rect l="l" t="t" r="r" b="b"/>
            <a:pathLst>
              <a:path w="5760085" h="349250">
                <a:moveTo>
                  <a:pt x="5759996" y="0"/>
                </a:moveTo>
                <a:lnTo>
                  <a:pt x="0" y="0"/>
                </a:lnTo>
                <a:lnTo>
                  <a:pt x="0" y="348729"/>
                </a:lnTo>
                <a:lnTo>
                  <a:pt x="5759996" y="348729"/>
                </a:lnTo>
                <a:lnTo>
                  <a:pt x="5759996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925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pc="-55" dirty="0"/>
              <a:t>LUẬT</a:t>
            </a:r>
            <a:r>
              <a:rPr spc="-5" dirty="0"/>
              <a:t> </a:t>
            </a:r>
            <a:r>
              <a:rPr dirty="0"/>
              <a:t>KẾT</a:t>
            </a:r>
            <a:r>
              <a:rPr spc="-5" dirty="0"/>
              <a:t> </a:t>
            </a:r>
            <a:r>
              <a:rPr spc="-25" dirty="0"/>
              <a:t>HỢP</a:t>
            </a:r>
          </a:p>
        </p:txBody>
      </p:sp>
      <p:sp>
        <p:nvSpPr>
          <p:cNvPr id="4" name="object 4" descr=""/>
          <p:cNvSpPr txBox="1"/>
          <p:nvPr/>
        </p:nvSpPr>
        <p:spPr>
          <a:xfrm>
            <a:off x="86385" y="684301"/>
            <a:ext cx="2049145" cy="1220470"/>
          </a:xfrm>
          <a:prstGeom prst="rect">
            <a:avLst/>
          </a:prstGeom>
        </p:spPr>
        <p:txBody>
          <a:bodyPr vert="horz" wrap="square" lIns="0" tIns="94615" rIns="0" bIns="0" rtlCol="0">
            <a:spAutoFit/>
          </a:bodyPr>
          <a:lstStyle/>
          <a:p>
            <a:pPr marL="62230">
              <a:lnSpc>
                <a:spcPct val="100000"/>
              </a:lnSpc>
              <a:spcBef>
                <a:spcPts val="745"/>
              </a:spcBef>
            </a:pPr>
            <a:r>
              <a:rPr sz="1200" b="1" dirty="0">
                <a:latin typeface="Arial"/>
                <a:cs typeface="Arial"/>
              </a:rPr>
              <a:t>Ví</a:t>
            </a:r>
            <a:r>
              <a:rPr sz="1200" b="1" spc="-20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dụ</a:t>
            </a:r>
            <a:r>
              <a:rPr sz="1200" b="1" spc="-15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các</a:t>
            </a:r>
            <a:r>
              <a:rPr sz="1200" b="1" spc="-20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luật</a:t>
            </a:r>
            <a:r>
              <a:rPr sz="1200" b="1" spc="-15" dirty="0">
                <a:latin typeface="Arial"/>
                <a:cs typeface="Arial"/>
              </a:rPr>
              <a:t> </a:t>
            </a:r>
            <a:r>
              <a:rPr sz="1200" b="1" spc="-10" dirty="0">
                <a:latin typeface="Arial"/>
                <a:cs typeface="Arial"/>
              </a:rPr>
              <a:t>(Rules):</a:t>
            </a:r>
            <a:endParaRPr sz="1200">
              <a:latin typeface="Arial"/>
              <a:cs typeface="Arial"/>
            </a:endParaRPr>
          </a:p>
          <a:p>
            <a:pPr marL="309880" marR="5080" indent="-297815">
              <a:lnSpc>
                <a:spcPct val="121100"/>
              </a:lnSpc>
              <a:spcBef>
                <a:spcPts val="345"/>
              </a:spcBef>
            </a:pPr>
            <a:r>
              <a:rPr sz="1200" b="1" dirty="0">
                <a:latin typeface="Arial"/>
                <a:cs typeface="Arial"/>
              </a:rPr>
              <a:t>Rule</a:t>
            </a:r>
            <a:r>
              <a:rPr sz="1200" b="1" spc="-15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1:</a:t>
            </a:r>
            <a:r>
              <a:rPr sz="1200" b="1" spc="-1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{rolls/buns}</a:t>
            </a:r>
            <a:r>
              <a:rPr sz="1200" spc="-10" dirty="0">
                <a:latin typeface="Arial"/>
                <a:cs typeface="Arial"/>
              </a:rPr>
              <a:t> </a:t>
            </a:r>
            <a:r>
              <a:rPr sz="1200" spc="65" dirty="0">
                <a:latin typeface="Lucida Sans Unicode"/>
                <a:cs typeface="Lucida Sans Unicode"/>
              </a:rPr>
              <a:t>→</a:t>
            </a:r>
            <a:r>
              <a:rPr sz="1200" spc="-50" dirty="0">
                <a:latin typeface="Lucida Sans Unicode"/>
                <a:cs typeface="Lucida Sans Unicode"/>
              </a:rPr>
              <a:t> </a:t>
            </a:r>
            <a:r>
              <a:rPr sz="1200" spc="-10" dirty="0">
                <a:latin typeface="Arial"/>
                <a:cs typeface="Arial"/>
              </a:rPr>
              <a:t>{butter} </a:t>
            </a:r>
            <a:r>
              <a:rPr sz="1200" dirty="0">
                <a:latin typeface="Arial"/>
                <a:cs typeface="Arial"/>
              </a:rPr>
              <a:t>Support:</a:t>
            </a:r>
            <a:r>
              <a:rPr sz="1200" spc="-25" dirty="0">
                <a:latin typeface="Arial"/>
                <a:cs typeface="Arial"/>
              </a:rPr>
              <a:t> </a:t>
            </a:r>
            <a:r>
              <a:rPr sz="1200" spc="-10" dirty="0">
                <a:latin typeface="Arial"/>
                <a:cs typeface="Arial"/>
              </a:rPr>
              <a:t>[value] </a:t>
            </a:r>
            <a:r>
              <a:rPr sz="1200" dirty="0">
                <a:latin typeface="Arial"/>
                <a:cs typeface="Arial"/>
              </a:rPr>
              <a:t>Confidence:</a:t>
            </a:r>
            <a:r>
              <a:rPr sz="1200" spc="-5" dirty="0">
                <a:latin typeface="Arial"/>
                <a:cs typeface="Arial"/>
              </a:rPr>
              <a:t> </a:t>
            </a:r>
            <a:r>
              <a:rPr sz="1200" spc="-10" dirty="0">
                <a:latin typeface="Arial"/>
                <a:cs typeface="Arial"/>
              </a:rPr>
              <a:t>[value]</a:t>
            </a:r>
            <a:endParaRPr sz="1200">
              <a:latin typeface="Arial"/>
              <a:cs typeface="Arial"/>
            </a:endParaRPr>
          </a:p>
          <a:p>
            <a:pPr marL="309880">
              <a:lnSpc>
                <a:spcPct val="100000"/>
              </a:lnSpc>
              <a:spcBef>
                <a:spcPts val="305"/>
              </a:spcBef>
            </a:pPr>
            <a:r>
              <a:rPr sz="1200" dirty="0">
                <a:latin typeface="Arial"/>
                <a:cs typeface="Arial"/>
              </a:rPr>
              <a:t>Lift:</a:t>
            </a:r>
            <a:r>
              <a:rPr sz="1200" spc="-45" dirty="0">
                <a:latin typeface="Arial"/>
                <a:cs typeface="Arial"/>
              </a:rPr>
              <a:t> </a:t>
            </a:r>
            <a:r>
              <a:rPr sz="1200" spc="-10" dirty="0">
                <a:latin typeface="Arial"/>
                <a:cs typeface="Arial"/>
              </a:rPr>
              <a:t>[value]</a:t>
            </a:r>
            <a:endParaRPr sz="1200">
              <a:latin typeface="Arial"/>
              <a:cs typeface="Arial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2916847" y="993102"/>
            <a:ext cx="2139950" cy="9112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09880" marR="5080" indent="-297815">
              <a:lnSpc>
                <a:spcPct val="121100"/>
              </a:lnSpc>
              <a:spcBef>
                <a:spcPts val="100"/>
              </a:spcBef>
            </a:pPr>
            <a:r>
              <a:rPr sz="1200" b="1" dirty="0">
                <a:latin typeface="Arial"/>
                <a:cs typeface="Arial"/>
              </a:rPr>
              <a:t>Rule</a:t>
            </a:r>
            <a:r>
              <a:rPr sz="1200" b="1" spc="-20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2:</a:t>
            </a:r>
            <a:r>
              <a:rPr sz="1200" b="1" spc="-2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{milk,</a:t>
            </a:r>
            <a:r>
              <a:rPr sz="1200" spc="-2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bread}</a:t>
            </a:r>
            <a:r>
              <a:rPr sz="1200" spc="-15" dirty="0">
                <a:latin typeface="Arial"/>
                <a:cs typeface="Arial"/>
              </a:rPr>
              <a:t> </a:t>
            </a:r>
            <a:r>
              <a:rPr sz="1200" spc="65" dirty="0">
                <a:latin typeface="Lucida Sans Unicode"/>
                <a:cs typeface="Lucida Sans Unicode"/>
              </a:rPr>
              <a:t>→</a:t>
            </a:r>
            <a:r>
              <a:rPr sz="1200" spc="-60" dirty="0">
                <a:latin typeface="Lucida Sans Unicode"/>
                <a:cs typeface="Lucida Sans Unicode"/>
              </a:rPr>
              <a:t> </a:t>
            </a:r>
            <a:r>
              <a:rPr sz="1200" spc="-10" dirty="0">
                <a:latin typeface="Arial"/>
                <a:cs typeface="Arial"/>
              </a:rPr>
              <a:t>{butter} </a:t>
            </a:r>
            <a:r>
              <a:rPr sz="1200" dirty="0">
                <a:latin typeface="Arial"/>
                <a:cs typeface="Arial"/>
              </a:rPr>
              <a:t>Support:</a:t>
            </a:r>
            <a:r>
              <a:rPr sz="1200" spc="-25" dirty="0">
                <a:latin typeface="Arial"/>
                <a:cs typeface="Arial"/>
              </a:rPr>
              <a:t> </a:t>
            </a:r>
            <a:r>
              <a:rPr sz="1200" spc="-10" dirty="0">
                <a:latin typeface="Arial"/>
                <a:cs typeface="Arial"/>
              </a:rPr>
              <a:t>[value] </a:t>
            </a:r>
            <a:r>
              <a:rPr sz="1200" dirty="0">
                <a:latin typeface="Arial"/>
                <a:cs typeface="Arial"/>
              </a:rPr>
              <a:t>Confidence:</a:t>
            </a:r>
            <a:r>
              <a:rPr sz="1200" spc="-5" dirty="0">
                <a:latin typeface="Arial"/>
                <a:cs typeface="Arial"/>
              </a:rPr>
              <a:t> </a:t>
            </a:r>
            <a:r>
              <a:rPr sz="1200" spc="-10" dirty="0">
                <a:latin typeface="Arial"/>
                <a:cs typeface="Arial"/>
              </a:rPr>
              <a:t>[value]</a:t>
            </a:r>
            <a:endParaRPr sz="1200">
              <a:latin typeface="Arial"/>
              <a:cs typeface="Arial"/>
            </a:endParaRPr>
          </a:p>
          <a:p>
            <a:pPr marL="309880">
              <a:lnSpc>
                <a:spcPct val="100000"/>
              </a:lnSpc>
              <a:spcBef>
                <a:spcPts val="300"/>
              </a:spcBef>
            </a:pPr>
            <a:r>
              <a:rPr sz="1200" dirty="0">
                <a:latin typeface="Arial"/>
                <a:cs typeface="Arial"/>
              </a:rPr>
              <a:t>Lift:</a:t>
            </a:r>
            <a:r>
              <a:rPr sz="1200" spc="-45" dirty="0">
                <a:latin typeface="Arial"/>
                <a:cs typeface="Arial"/>
              </a:rPr>
              <a:t> </a:t>
            </a:r>
            <a:r>
              <a:rPr sz="1200" spc="-10" dirty="0">
                <a:latin typeface="Arial"/>
                <a:cs typeface="Arial"/>
              </a:rPr>
              <a:t>[value]</a:t>
            </a:r>
            <a:endParaRPr sz="1200">
              <a:latin typeface="Arial"/>
              <a:cs typeface="Arial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1441538" y="2192423"/>
            <a:ext cx="2877185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b="1" spc="-20" dirty="0">
                <a:latin typeface="Arial"/>
                <a:cs typeface="Arial"/>
              </a:rPr>
              <a:t>Tổng</a:t>
            </a:r>
            <a:r>
              <a:rPr sz="1200" b="1" spc="-25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cộng:</a:t>
            </a:r>
            <a:r>
              <a:rPr sz="1200" b="1" spc="-2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Phát</a:t>
            </a:r>
            <a:r>
              <a:rPr sz="1200" spc="-2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hiện</a:t>
            </a:r>
            <a:r>
              <a:rPr sz="1200" spc="-20" dirty="0">
                <a:latin typeface="Arial"/>
                <a:cs typeface="Arial"/>
              </a:rPr>
              <a:t> </a:t>
            </a:r>
            <a:r>
              <a:rPr sz="1200" spc="-40" dirty="0">
                <a:latin typeface="Arial"/>
                <a:cs typeface="Arial"/>
              </a:rPr>
              <a:t>được</a:t>
            </a:r>
            <a:r>
              <a:rPr sz="1200" spc="-2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90</a:t>
            </a:r>
            <a:r>
              <a:rPr sz="1200" spc="-2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luật</a:t>
            </a:r>
            <a:r>
              <a:rPr sz="1200" spc="-20" dirty="0">
                <a:latin typeface="Arial"/>
                <a:cs typeface="Arial"/>
              </a:rPr>
              <a:t> </a:t>
            </a:r>
            <a:r>
              <a:rPr sz="1200" spc="-10" dirty="0">
                <a:latin typeface="Arial"/>
                <a:cs typeface="Arial"/>
              </a:rPr>
              <a:t>(rules)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7" name="object 7" descr=""/>
          <p:cNvGrpSpPr/>
          <p:nvPr/>
        </p:nvGrpSpPr>
        <p:grpSpPr>
          <a:xfrm>
            <a:off x="0" y="3110712"/>
            <a:ext cx="5760085" cy="129539"/>
            <a:chOff x="0" y="3110712"/>
            <a:chExt cx="5760085" cy="129539"/>
          </a:xfrm>
        </p:grpSpPr>
        <p:sp>
          <p:nvSpPr>
            <p:cNvPr id="8" name="object 8" descr=""/>
            <p:cNvSpPr/>
            <p:nvPr/>
          </p:nvSpPr>
          <p:spPr>
            <a:xfrm>
              <a:off x="0" y="3110712"/>
              <a:ext cx="1920239" cy="129539"/>
            </a:xfrm>
            <a:custGeom>
              <a:avLst/>
              <a:gdLst/>
              <a:ahLst/>
              <a:cxnLst/>
              <a:rect l="l" t="t" r="r" b="b"/>
              <a:pathLst>
                <a:path w="1920239" h="129539">
                  <a:moveTo>
                    <a:pt x="1919973" y="0"/>
                  </a:moveTo>
                  <a:lnTo>
                    <a:pt x="0" y="0"/>
                  </a:lnTo>
                  <a:lnTo>
                    <a:pt x="0" y="129286"/>
                  </a:lnTo>
                  <a:lnTo>
                    <a:pt x="1919973" y="129286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1919973" y="3110712"/>
              <a:ext cx="1920239" cy="129539"/>
            </a:xfrm>
            <a:custGeom>
              <a:avLst/>
              <a:gdLst/>
              <a:ahLst/>
              <a:cxnLst/>
              <a:rect l="l" t="t" r="r" b="b"/>
              <a:pathLst>
                <a:path w="1920239" h="129539">
                  <a:moveTo>
                    <a:pt x="1919973" y="0"/>
                  </a:moveTo>
                  <a:lnTo>
                    <a:pt x="0" y="0"/>
                  </a:lnTo>
                  <a:lnTo>
                    <a:pt x="0" y="129285"/>
                  </a:lnTo>
                  <a:lnTo>
                    <a:pt x="1919973" y="129285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3839946" y="3110712"/>
              <a:ext cx="1920239" cy="129539"/>
            </a:xfrm>
            <a:custGeom>
              <a:avLst/>
              <a:gdLst/>
              <a:ahLst/>
              <a:cxnLst/>
              <a:rect l="l" t="t" r="r" b="b"/>
              <a:pathLst>
                <a:path w="1920239" h="129539">
                  <a:moveTo>
                    <a:pt x="1919973" y="0"/>
                  </a:moveTo>
                  <a:lnTo>
                    <a:pt x="0" y="0"/>
                  </a:lnTo>
                  <a:lnTo>
                    <a:pt x="0" y="129285"/>
                  </a:lnTo>
                  <a:lnTo>
                    <a:pt x="1919973" y="129285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 descr="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dirty="0"/>
              <a:t>Lê</a:t>
            </a:r>
            <a:r>
              <a:rPr spc="-25" dirty="0"/>
              <a:t> </a:t>
            </a:r>
            <a:r>
              <a:rPr dirty="0"/>
              <a:t>Đình</a:t>
            </a:r>
            <a:r>
              <a:rPr spc="-20" dirty="0"/>
              <a:t> </a:t>
            </a:r>
            <a:r>
              <a:rPr dirty="0"/>
              <a:t>Phùng</a:t>
            </a:r>
            <a:r>
              <a:rPr spc="-25" dirty="0"/>
              <a:t> </a:t>
            </a:r>
            <a:r>
              <a:rPr dirty="0"/>
              <a:t>–</a:t>
            </a:r>
            <a:r>
              <a:rPr spc="-20" dirty="0"/>
              <a:t> </a:t>
            </a:r>
            <a:r>
              <a:rPr spc="-10" dirty="0"/>
              <a:t>18130181</a:t>
            </a:r>
          </a:p>
        </p:txBody>
      </p:sp>
      <p:sp>
        <p:nvSpPr>
          <p:cNvPr id="12" name="object 12" descr=""/>
          <p:cNvSpPr txBox="1"/>
          <p:nvPr/>
        </p:nvSpPr>
        <p:spPr>
          <a:xfrm>
            <a:off x="2584627" y="3115174"/>
            <a:ext cx="591185" cy="119380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600" dirty="0">
                <a:solidFill>
                  <a:srgbClr val="00AEEF"/>
                </a:solidFill>
                <a:latin typeface="Arial"/>
                <a:cs typeface="Arial"/>
                <a:hlinkClick r:id="rId2" action="ppaction://hlinksldjump"/>
              </a:rPr>
              <a:t>Cải</a:t>
            </a:r>
            <a:r>
              <a:rPr sz="600" spc="-30" dirty="0">
                <a:solidFill>
                  <a:srgbClr val="00AEEF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sz="600" dirty="0">
                <a:solidFill>
                  <a:srgbClr val="00AEEF"/>
                </a:solidFill>
                <a:latin typeface="Arial"/>
                <a:cs typeface="Arial"/>
                <a:hlinkClick r:id="rId2" action="ppaction://hlinksldjump"/>
              </a:rPr>
              <a:t>Thiện</a:t>
            </a:r>
            <a:r>
              <a:rPr sz="600" spc="-30" dirty="0">
                <a:solidFill>
                  <a:srgbClr val="00AEEF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sz="600" spc="-10" dirty="0">
                <a:solidFill>
                  <a:srgbClr val="00AEEF"/>
                </a:solidFill>
                <a:latin typeface="Arial"/>
                <a:cs typeface="Arial"/>
                <a:hlinkClick r:id="rId2" action="ppaction://hlinksldjump"/>
              </a:rPr>
              <a:t>Apriori</a:t>
            </a:r>
            <a:endParaRPr sz="600">
              <a:latin typeface="Arial"/>
              <a:cs typeface="Arial"/>
            </a:endParaRPr>
          </a:p>
        </p:txBody>
      </p:sp>
      <p:sp>
        <p:nvSpPr>
          <p:cNvPr id="13" name="object 13" descr="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dirty="0"/>
              <a:t>Năm</a:t>
            </a:r>
            <a:r>
              <a:rPr spc="-30" dirty="0"/>
              <a:t> </a:t>
            </a:r>
            <a:r>
              <a:rPr dirty="0"/>
              <a:t>học</a:t>
            </a:r>
            <a:r>
              <a:rPr spc="-25" dirty="0"/>
              <a:t> </a:t>
            </a:r>
            <a:r>
              <a:rPr spc="-10" dirty="0"/>
              <a:t>2025–2026</a:t>
            </a:r>
          </a:p>
        </p:txBody>
      </p:sp>
      <p:sp>
        <p:nvSpPr>
          <p:cNvPr id="14" name="object 14" descr="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70"/>
              </a:spcBef>
            </a:pPr>
            <a:fld id="{81D60167-4931-47E6-BA6A-407CBD079E47}" type="slidenum">
              <a:rPr spc="-10" dirty="0"/>
              <a:t>10</a:t>
            </a:fld>
            <a:r>
              <a:rPr spc="-70" dirty="0"/>
              <a:t> </a:t>
            </a:r>
            <a:r>
              <a:rPr dirty="0"/>
              <a:t>/</a:t>
            </a:r>
            <a:r>
              <a:rPr spc="-65" dirty="0"/>
              <a:t> </a:t>
            </a:r>
            <a:r>
              <a:rPr spc="-25" dirty="0"/>
              <a:t>32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fast">
        <p:cut thruBlk="0"/>
      </p:transition>
    </mc:Choice>
    <mc:Fallback>
      <p:transition spd="fast">
        <p:cut thruBlk="0"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95300" y="40457"/>
            <a:ext cx="3231515" cy="2882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700" dirty="0">
                <a:solidFill>
                  <a:srgbClr val="FFFFFF"/>
                </a:solidFill>
                <a:latin typeface="Arial"/>
                <a:cs typeface="Arial"/>
              </a:rPr>
              <a:t>PHÂN</a:t>
            </a:r>
            <a:r>
              <a:rPr sz="1700" spc="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700" dirty="0">
                <a:solidFill>
                  <a:srgbClr val="FFFFFF"/>
                </a:solidFill>
                <a:latin typeface="Arial"/>
                <a:cs typeface="Arial"/>
              </a:rPr>
              <a:t>PHỐI</a:t>
            </a:r>
            <a:r>
              <a:rPr sz="1700" spc="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700" dirty="0">
                <a:solidFill>
                  <a:srgbClr val="FFFFFF"/>
                </a:solidFill>
                <a:latin typeface="Arial"/>
                <a:cs typeface="Arial"/>
              </a:rPr>
              <a:t>TOP</a:t>
            </a:r>
            <a:r>
              <a:rPr sz="1700" spc="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700" dirty="0">
                <a:solidFill>
                  <a:srgbClr val="FFFFFF"/>
                </a:solidFill>
                <a:latin typeface="Arial"/>
                <a:cs typeface="Arial"/>
              </a:rPr>
              <a:t>10</a:t>
            </a:r>
            <a:r>
              <a:rPr sz="1700" spc="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700" dirty="0">
                <a:solidFill>
                  <a:srgbClr val="FFFFFF"/>
                </a:solidFill>
                <a:latin typeface="Arial"/>
                <a:cs typeface="Arial"/>
              </a:rPr>
              <a:t>SẢN</a:t>
            </a:r>
            <a:r>
              <a:rPr sz="1700" spc="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700" spc="-20" dirty="0">
                <a:solidFill>
                  <a:srgbClr val="FFFFFF"/>
                </a:solidFill>
                <a:latin typeface="Arial"/>
                <a:cs typeface="Arial"/>
              </a:rPr>
              <a:t>PHẨM</a:t>
            </a:r>
            <a:endParaRPr sz="1700">
              <a:latin typeface="Arial"/>
              <a:cs typeface="Arial"/>
            </a:endParaRPr>
          </a:p>
        </p:txBody>
      </p:sp>
      <p:pic>
        <p:nvPicPr>
          <p:cNvPr id="3" name="object 3" descr=""/>
          <p:cNvPicPr/>
          <p:nvPr/>
        </p:nvPicPr>
        <p:blipFill>
          <a:blip r:embed="rId2"/>
          <a:stretch>
            <a:fillRect/>
          </a:stretch>
        </p:blipFill>
        <p:spPr>
          <a:xfrm>
            <a:off x="913417" y="898967"/>
            <a:ext cx="4089799" cy="1391187"/>
          </a:xfrm>
          <a:prstGeom prst="rect">
            <a:avLst/>
          </a:prstGeom>
        </p:spPr>
      </p:pic>
      <p:grpSp>
        <p:nvGrpSpPr>
          <p:cNvPr id="4" name="object 4" descr=""/>
          <p:cNvGrpSpPr/>
          <p:nvPr/>
        </p:nvGrpSpPr>
        <p:grpSpPr>
          <a:xfrm>
            <a:off x="0" y="3110712"/>
            <a:ext cx="5760085" cy="129539"/>
            <a:chOff x="0" y="3110712"/>
            <a:chExt cx="5760085" cy="129539"/>
          </a:xfrm>
        </p:grpSpPr>
        <p:sp>
          <p:nvSpPr>
            <p:cNvPr id="5" name="object 5" descr=""/>
            <p:cNvSpPr/>
            <p:nvPr/>
          </p:nvSpPr>
          <p:spPr>
            <a:xfrm>
              <a:off x="0" y="3110712"/>
              <a:ext cx="1920239" cy="129539"/>
            </a:xfrm>
            <a:custGeom>
              <a:avLst/>
              <a:gdLst/>
              <a:ahLst/>
              <a:cxnLst/>
              <a:rect l="l" t="t" r="r" b="b"/>
              <a:pathLst>
                <a:path w="1920239" h="129539">
                  <a:moveTo>
                    <a:pt x="1919973" y="0"/>
                  </a:moveTo>
                  <a:lnTo>
                    <a:pt x="0" y="0"/>
                  </a:lnTo>
                  <a:lnTo>
                    <a:pt x="0" y="129286"/>
                  </a:lnTo>
                  <a:lnTo>
                    <a:pt x="1919973" y="129286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1919973" y="3110712"/>
              <a:ext cx="1920239" cy="129539"/>
            </a:xfrm>
            <a:custGeom>
              <a:avLst/>
              <a:gdLst/>
              <a:ahLst/>
              <a:cxnLst/>
              <a:rect l="l" t="t" r="r" b="b"/>
              <a:pathLst>
                <a:path w="1920239" h="129539">
                  <a:moveTo>
                    <a:pt x="1919973" y="0"/>
                  </a:moveTo>
                  <a:lnTo>
                    <a:pt x="0" y="0"/>
                  </a:lnTo>
                  <a:lnTo>
                    <a:pt x="0" y="129286"/>
                  </a:lnTo>
                  <a:lnTo>
                    <a:pt x="1919973" y="129286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3839946" y="3110712"/>
              <a:ext cx="1920239" cy="129539"/>
            </a:xfrm>
            <a:custGeom>
              <a:avLst/>
              <a:gdLst/>
              <a:ahLst/>
              <a:cxnLst/>
              <a:rect l="l" t="t" r="r" b="b"/>
              <a:pathLst>
                <a:path w="1920239" h="129539">
                  <a:moveTo>
                    <a:pt x="1919973" y="0"/>
                  </a:moveTo>
                  <a:lnTo>
                    <a:pt x="0" y="0"/>
                  </a:lnTo>
                  <a:lnTo>
                    <a:pt x="0" y="129286"/>
                  </a:lnTo>
                  <a:lnTo>
                    <a:pt x="1919973" y="129286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 descr="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dirty="0"/>
              <a:t>Lê</a:t>
            </a:r>
            <a:r>
              <a:rPr spc="-25" dirty="0"/>
              <a:t> </a:t>
            </a:r>
            <a:r>
              <a:rPr dirty="0"/>
              <a:t>Đình</a:t>
            </a:r>
            <a:r>
              <a:rPr spc="-20" dirty="0"/>
              <a:t> </a:t>
            </a:r>
            <a:r>
              <a:rPr dirty="0"/>
              <a:t>Phùng</a:t>
            </a:r>
            <a:r>
              <a:rPr spc="-25" dirty="0"/>
              <a:t> </a:t>
            </a:r>
            <a:r>
              <a:rPr dirty="0"/>
              <a:t>–</a:t>
            </a:r>
            <a:r>
              <a:rPr spc="-20" dirty="0"/>
              <a:t> </a:t>
            </a:r>
            <a:r>
              <a:rPr spc="-10" dirty="0"/>
              <a:t>18130181</a:t>
            </a:r>
          </a:p>
        </p:txBody>
      </p:sp>
      <p:sp>
        <p:nvSpPr>
          <p:cNvPr id="9" name="object 9" descr=""/>
          <p:cNvSpPr txBox="1"/>
          <p:nvPr/>
        </p:nvSpPr>
        <p:spPr>
          <a:xfrm>
            <a:off x="2584627" y="3115174"/>
            <a:ext cx="591185" cy="119380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600" dirty="0">
                <a:solidFill>
                  <a:srgbClr val="00AEEF"/>
                </a:solidFill>
                <a:latin typeface="Arial"/>
                <a:cs typeface="Arial"/>
                <a:hlinkClick r:id="rId3" action="ppaction://hlinksldjump"/>
              </a:rPr>
              <a:t>Cải</a:t>
            </a:r>
            <a:r>
              <a:rPr sz="600" spc="-30" dirty="0">
                <a:solidFill>
                  <a:srgbClr val="00AEE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600" dirty="0">
                <a:solidFill>
                  <a:srgbClr val="00AEEF"/>
                </a:solidFill>
                <a:latin typeface="Arial"/>
                <a:cs typeface="Arial"/>
                <a:hlinkClick r:id="rId3" action="ppaction://hlinksldjump"/>
              </a:rPr>
              <a:t>Thiện</a:t>
            </a:r>
            <a:r>
              <a:rPr sz="600" spc="-30" dirty="0">
                <a:solidFill>
                  <a:srgbClr val="00AEE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600" spc="-10" dirty="0">
                <a:solidFill>
                  <a:srgbClr val="00AEEF"/>
                </a:solidFill>
                <a:latin typeface="Arial"/>
                <a:cs typeface="Arial"/>
                <a:hlinkClick r:id="rId3" action="ppaction://hlinksldjump"/>
              </a:rPr>
              <a:t>Apriori</a:t>
            </a:r>
            <a:endParaRPr sz="600">
              <a:latin typeface="Arial"/>
              <a:cs typeface="Arial"/>
            </a:endParaRPr>
          </a:p>
        </p:txBody>
      </p:sp>
      <p:sp>
        <p:nvSpPr>
          <p:cNvPr id="10" name="object 10" descr="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dirty="0"/>
              <a:t>Năm</a:t>
            </a:r>
            <a:r>
              <a:rPr spc="-30" dirty="0"/>
              <a:t> </a:t>
            </a:r>
            <a:r>
              <a:rPr dirty="0"/>
              <a:t>học</a:t>
            </a:r>
            <a:r>
              <a:rPr spc="-25" dirty="0"/>
              <a:t> </a:t>
            </a:r>
            <a:r>
              <a:rPr spc="-10" dirty="0"/>
              <a:t>2025–2026</a:t>
            </a:r>
          </a:p>
        </p:txBody>
      </p:sp>
      <p:sp>
        <p:nvSpPr>
          <p:cNvPr id="11" name="object 11" descr="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70"/>
              </a:spcBef>
            </a:pPr>
            <a:fld id="{81D60167-4931-47E6-BA6A-407CBD079E47}" type="slidenum">
              <a:rPr spc="-10" dirty="0"/>
              <a:t>10</a:t>
            </a:fld>
            <a:r>
              <a:rPr spc="-70" dirty="0"/>
              <a:t> </a:t>
            </a:r>
            <a:r>
              <a:rPr dirty="0"/>
              <a:t>/</a:t>
            </a:r>
            <a:r>
              <a:rPr spc="-65" dirty="0"/>
              <a:t> </a:t>
            </a:r>
            <a:r>
              <a:rPr spc="-25" dirty="0"/>
              <a:t>32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fast">
        <p:cut thruBlk="0"/>
      </p:transition>
    </mc:Choice>
    <mc:Fallback>
      <p:transition spd="fast">
        <p:cut thruBlk="0"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95300" y="40457"/>
            <a:ext cx="3388995" cy="2882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700" dirty="0">
                <a:solidFill>
                  <a:srgbClr val="FFFFFF"/>
                </a:solidFill>
                <a:latin typeface="Arial"/>
                <a:cs typeface="Arial"/>
              </a:rPr>
              <a:t>SUPPORT SO</a:t>
            </a:r>
            <a:r>
              <a:rPr sz="1700" spc="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700" spc="-45" dirty="0">
                <a:solidFill>
                  <a:srgbClr val="FFFFFF"/>
                </a:solidFill>
                <a:latin typeface="Arial"/>
                <a:cs typeface="Arial"/>
              </a:rPr>
              <a:t>VỚI</a:t>
            </a:r>
            <a:r>
              <a:rPr sz="1700" spc="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700" spc="-10" dirty="0">
                <a:solidFill>
                  <a:srgbClr val="FFFFFF"/>
                </a:solidFill>
                <a:latin typeface="Arial"/>
                <a:cs typeface="Arial"/>
              </a:rPr>
              <a:t>CONFIDENCE</a:t>
            </a:r>
            <a:endParaRPr sz="1700">
              <a:latin typeface="Arial"/>
              <a:cs typeface="Arial"/>
            </a:endParaRPr>
          </a:p>
        </p:txBody>
      </p:sp>
      <p:pic>
        <p:nvPicPr>
          <p:cNvPr id="3" name="object 3" descr=""/>
          <p:cNvPicPr/>
          <p:nvPr/>
        </p:nvPicPr>
        <p:blipFill>
          <a:blip r:embed="rId2"/>
          <a:stretch>
            <a:fillRect/>
          </a:stretch>
        </p:blipFill>
        <p:spPr>
          <a:xfrm>
            <a:off x="416566" y="794917"/>
            <a:ext cx="4952556" cy="1820792"/>
          </a:xfrm>
          <a:prstGeom prst="rect">
            <a:avLst/>
          </a:prstGeom>
        </p:spPr>
      </p:pic>
      <p:grpSp>
        <p:nvGrpSpPr>
          <p:cNvPr id="4" name="object 4" descr=""/>
          <p:cNvGrpSpPr/>
          <p:nvPr/>
        </p:nvGrpSpPr>
        <p:grpSpPr>
          <a:xfrm>
            <a:off x="0" y="3110712"/>
            <a:ext cx="5760085" cy="129539"/>
            <a:chOff x="0" y="3110712"/>
            <a:chExt cx="5760085" cy="129539"/>
          </a:xfrm>
        </p:grpSpPr>
        <p:sp>
          <p:nvSpPr>
            <p:cNvPr id="5" name="object 5" descr=""/>
            <p:cNvSpPr/>
            <p:nvPr/>
          </p:nvSpPr>
          <p:spPr>
            <a:xfrm>
              <a:off x="0" y="3110712"/>
              <a:ext cx="1920239" cy="129539"/>
            </a:xfrm>
            <a:custGeom>
              <a:avLst/>
              <a:gdLst/>
              <a:ahLst/>
              <a:cxnLst/>
              <a:rect l="l" t="t" r="r" b="b"/>
              <a:pathLst>
                <a:path w="1920239" h="129539">
                  <a:moveTo>
                    <a:pt x="1919973" y="0"/>
                  </a:moveTo>
                  <a:lnTo>
                    <a:pt x="0" y="0"/>
                  </a:lnTo>
                  <a:lnTo>
                    <a:pt x="0" y="129286"/>
                  </a:lnTo>
                  <a:lnTo>
                    <a:pt x="1919973" y="129286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1919973" y="3110712"/>
              <a:ext cx="1920239" cy="129539"/>
            </a:xfrm>
            <a:custGeom>
              <a:avLst/>
              <a:gdLst/>
              <a:ahLst/>
              <a:cxnLst/>
              <a:rect l="l" t="t" r="r" b="b"/>
              <a:pathLst>
                <a:path w="1920239" h="129539">
                  <a:moveTo>
                    <a:pt x="1919973" y="0"/>
                  </a:moveTo>
                  <a:lnTo>
                    <a:pt x="0" y="0"/>
                  </a:lnTo>
                  <a:lnTo>
                    <a:pt x="0" y="129286"/>
                  </a:lnTo>
                  <a:lnTo>
                    <a:pt x="1919973" y="129286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3839946" y="3110712"/>
              <a:ext cx="1920239" cy="129539"/>
            </a:xfrm>
            <a:custGeom>
              <a:avLst/>
              <a:gdLst/>
              <a:ahLst/>
              <a:cxnLst/>
              <a:rect l="l" t="t" r="r" b="b"/>
              <a:pathLst>
                <a:path w="1920239" h="129539">
                  <a:moveTo>
                    <a:pt x="1919973" y="0"/>
                  </a:moveTo>
                  <a:lnTo>
                    <a:pt x="0" y="0"/>
                  </a:lnTo>
                  <a:lnTo>
                    <a:pt x="0" y="129286"/>
                  </a:lnTo>
                  <a:lnTo>
                    <a:pt x="1919973" y="129286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 descr="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dirty="0"/>
              <a:t>Lê</a:t>
            </a:r>
            <a:r>
              <a:rPr spc="-25" dirty="0"/>
              <a:t> </a:t>
            </a:r>
            <a:r>
              <a:rPr dirty="0"/>
              <a:t>Đình</a:t>
            </a:r>
            <a:r>
              <a:rPr spc="-20" dirty="0"/>
              <a:t> </a:t>
            </a:r>
            <a:r>
              <a:rPr dirty="0"/>
              <a:t>Phùng</a:t>
            </a:r>
            <a:r>
              <a:rPr spc="-25" dirty="0"/>
              <a:t> </a:t>
            </a:r>
            <a:r>
              <a:rPr dirty="0"/>
              <a:t>–</a:t>
            </a:r>
            <a:r>
              <a:rPr spc="-20" dirty="0"/>
              <a:t> </a:t>
            </a:r>
            <a:r>
              <a:rPr spc="-10" dirty="0"/>
              <a:t>18130181</a:t>
            </a:r>
          </a:p>
        </p:txBody>
      </p:sp>
      <p:sp>
        <p:nvSpPr>
          <p:cNvPr id="9" name="object 9" descr=""/>
          <p:cNvSpPr txBox="1"/>
          <p:nvPr/>
        </p:nvSpPr>
        <p:spPr>
          <a:xfrm>
            <a:off x="2584627" y="3115174"/>
            <a:ext cx="591185" cy="119380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600" dirty="0">
                <a:solidFill>
                  <a:srgbClr val="00AEEF"/>
                </a:solidFill>
                <a:latin typeface="Arial"/>
                <a:cs typeface="Arial"/>
                <a:hlinkClick r:id="rId3" action="ppaction://hlinksldjump"/>
              </a:rPr>
              <a:t>Cải</a:t>
            </a:r>
            <a:r>
              <a:rPr sz="600" spc="-30" dirty="0">
                <a:solidFill>
                  <a:srgbClr val="00AEE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600" dirty="0">
                <a:solidFill>
                  <a:srgbClr val="00AEEF"/>
                </a:solidFill>
                <a:latin typeface="Arial"/>
                <a:cs typeface="Arial"/>
                <a:hlinkClick r:id="rId3" action="ppaction://hlinksldjump"/>
              </a:rPr>
              <a:t>Thiện</a:t>
            </a:r>
            <a:r>
              <a:rPr sz="600" spc="-30" dirty="0">
                <a:solidFill>
                  <a:srgbClr val="00AEE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600" spc="-10" dirty="0">
                <a:solidFill>
                  <a:srgbClr val="00AEEF"/>
                </a:solidFill>
                <a:latin typeface="Arial"/>
                <a:cs typeface="Arial"/>
                <a:hlinkClick r:id="rId3" action="ppaction://hlinksldjump"/>
              </a:rPr>
              <a:t>Apriori</a:t>
            </a:r>
            <a:endParaRPr sz="600">
              <a:latin typeface="Arial"/>
              <a:cs typeface="Arial"/>
            </a:endParaRPr>
          </a:p>
        </p:txBody>
      </p:sp>
      <p:sp>
        <p:nvSpPr>
          <p:cNvPr id="10" name="object 10" descr="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dirty="0"/>
              <a:t>Năm</a:t>
            </a:r>
            <a:r>
              <a:rPr spc="-30" dirty="0"/>
              <a:t> </a:t>
            </a:r>
            <a:r>
              <a:rPr dirty="0"/>
              <a:t>học</a:t>
            </a:r>
            <a:r>
              <a:rPr spc="-25" dirty="0"/>
              <a:t> </a:t>
            </a:r>
            <a:r>
              <a:rPr spc="-10" dirty="0"/>
              <a:t>2025–2026</a:t>
            </a:r>
          </a:p>
        </p:txBody>
      </p:sp>
      <p:sp>
        <p:nvSpPr>
          <p:cNvPr id="11" name="object 11" descr="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70"/>
              </a:spcBef>
            </a:pPr>
            <a:fld id="{81D60167-4931-47E6-BA6A-407CBD079E47}" type="slidenum">
              <a:rPr spc="-10" dirty="0"/>
              <a:t>10</a:t>
            </a:fld>
            <a:r>
              <a:rPr spc="-70" dirty="0"/>
              <a:t> </a:t>
            </a:r>
            <a:r>
              <a:rPr dirty="0"/>
              <a:t>/</a:t>
            </a:r>
            <a:r>
              <a:rPr spc="-65" dirty="0"/>
              <a:t> </a:t>
            </a:r>
            <a:r>
              <a:rPr spc="-25" dirty="0"/>
              <a:t>32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fast">
        <p:cut thruBlk="0"/>
      </p:transition>
    </mc:Choice>
    <mc:Fallback>
      <p:transition spd="fast">
        <p:cut thruBlk="0"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95300" y="40457"/>
            <a:ext cx="2532380" cy="2882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700" dirty="0">
                <a:solidFill>
                  <a:srgbClr val="FFFFFF"/>
                </a:solidFill>
                <a:latin typeface="Arial"/>
                <a:cs typeface="Arial"/>
              </a:rPr>
              <a:t>TOP</a:t>
            </a:r>
            <a:r>
              <a:rPr sz="1700" spc="-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700" dirty="0">
                <a:solidFill>
                  <a:srgbClr val="FFFFFF"/>
                </a:solidFill>
                <a:latin typeface="Arial"/>
                <a:cs typeface="Arial"/>
              </a:rPr>
              <a:t>20</a:t>
            </a:r>
            <a:r>
              <a:rPr sz="1700" spc="-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700" spc="-55" dirty="0">
                <a:solidFill>
                  <a:srgbClr val="FFFFFF"/>
                </a:solidFill>
                <a:latin typeface="Arial"/>
                <a:cs typeface="Arial"/>
              </a:rPr>
              <a:t>LUẬT</a:t>
            </a:r>
            <a:r>
              <a:rPr sz="1700" spc="-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700" dirty="0">
                <a:solidFill>
                  <a:srgbClr val="FFFFFF"/>
                </a:solidFill>
                <a:latin typeface="Arial"/>
                <a:cs typeface="Arial"/>
              </a:rPr>
              <a:t>THEO</a:t>
            </a:r>
            <a:r>
              <a:rPr sz="1700" spc="-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700" spc="-20" dirty="0">
                <a:solidFill>
                  <a:srgbClr val="FFFFFF"/>
                </a:solidFill>
                <a:latin typeface="Arial"/>
                <a:cs typeface="Arial"/>
              </a:rPr>
              <a:t>LIFT</a:t>
            </a:r>
            <a:endParaRPr sz="1700">
              <a:latin typeface="Arial"/>
              <a:cs typeface="Arial"/>
            </a:endParaRPr>
          </a:p>
        </p:txBody>
      </p:sp>
      <p:pic>
        <p:nvPicPr>
          <p:cNvPr id="3" name="object 3" descr=""/>
          <p:cNvPicPr/>
          <p:nvPr/>
        </p:nvPicPr>
        <p:blipFill>
          <a:blip r:embed="rId2"/>
          <a:stretch>
            <a:fillRect/>
          </a:stretch>
        </p:blipFill>
        <p:spPr>
          <a:xfrm>
            <a:off x="1062313" y="748424"/>
            <a:ext cx="3595576" cy="1903360"/>
          </a:xfrm>
          <a:prstGeom prst="rect">
            <a:avLst/>
          </a:prstGeom>
        </p:spPr>
      </p:pic>
      <p:grpSp>
        <p:nvGrpSpPr>
          <p:cNvPr id="4" name="object 4" descr=""/>
          <p:cNvGrpSpPr/>
          <p:nvPr/>
        </p:nvGrpSpPr>
        <p:grpSpPr>
          <a:xfrm>
            <a:off x="0" y="3110712"/>
            <a:ext cx="5760085" cy="129539"/>
            <a:chOff x="0" y="3110712"/>
            <a:chExt cx="5760085" cy="129539"/>
          </a:xfrm>
        </p:grpSpPr>
        <p:sp>
          <p:nvSpPr>
            <p:cNvPr id="5" name="object 5" descr=""/>
            <p:cNvSpPr/>
            <p:nvPr/>
          </p:nvSpPr>
          <p:spPr>
            <a:xfrm>
              <a:off x="0" y="3110712"/>
              <a:ext cx="1920239" cy="129539"/>
            </a:xfrm>
            <a:custGeom>
              <a:avLst/>
              <a:gdLst/>
              <a:ahLst/>
              <a:cxnLst/>
              <a:rect l="l" t="t" r="r" b="b"/>
              <a:pathLst>
                <a:path w="1920239" h="129539">
                  <a:moveTo>
                    <a:pt x="1919973" y="0"/>
                  </a:moveTo>
                  <a:lnTo>
                    <a:pt x="0" y="0"/>
                  </a:lnTo>
                  <a:lnTo>
                    <a:pt x="0" y="129286"/>
                  </a:lnTo>
                  <a:lnTo>
                    <a:pt x="1919973" y="129286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1919973" y="3110712"/>
              <a:ext cx="1920239" cy="129539"/>
            </a:xfrm>
            <a:custGeom>
              <a:avLst/>
              <a:gdLst/>
              <a:ahLst/>
              <a:cxnLst/>
              <a:rect l="l" t="t" r="r" b="b"/>
              <a:pathLst>
                <a:path w="1920239" h="129539">
                  <a:moveTo>
                    <a:pt x="1919973" y="0"/>
                  </a:moveTo>
                  <a:lnTo>
                    <a:pt x="0" y="0"/>
                  </a:lnTo>
                  <a:lnTo>
                    <a:pt x="0" y="129286"/>
                  </a:lnTo>
                  <a:lnTo>
                    <a:pt x="1919973" y="129286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3839946" y="3110712"/>
              <a:ext cx="1920239" cy="129539"/>
            </a:xfrm>
            <a:custGeom>
              <a:avLst/>
              <a:gdLst/>
              <a:ahLst/>
              <a:cxnLst/>
              <a:rect l="l" t="t" r="r" b="b"/>
              <a:pathLst>
                <a:path w="1920239" h="129539">
                  <a:moveTo>
                    <a:pt x="1919973" y="0"/>
                  </a:moveTo>
                  <a:lnTo>
                    <a:pt x="0" y="0"/>
                  </a:lnTo>
                  <a:lnTo>
                    <a:pt x="0" y="129286"/>
                  </a:lnTo>
                  <a:lnTo>
                    <a:pt x="1919973" y="129286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 descr="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dirty="0"/>
              <a:t>Lê</a:t>
            </a:r>
            <a:r>
              <a:rPr spc="-25" dirty="0"/>
              <a:t> </a:t>
            </a:r>
            <a:r>
              <a:rPr dirty="0"/>
              <a:t>Đình</a:t>
            </a:r>
            <a:r>
              <a:rPr spc="-20" dirty="0"/>
              <a:t> </a:t>
            </a:r>
            <a:r>
              <a:rPr dirty="0"/>
              <a:t>Phùng</a:t>
            </a:r>
            <a:r>
              <a:rPr spc="-25" dirty="0"/>
              <a:t> </a:t>
            </a:r>
            <a:r>
              <a:rPr dirty="0"/>
              <a:t>–</a:t>
            </a:r>
            <a:r>
              <a:rPr spc="-20" dirty="0"/>
              <a:t> </a:t>
            </a:r>
            <a:r>
              <a:rPr spc="-10" dirty="0"/>
              <a:t>18130181</a:t>
            </a:r>
          </a:p>
        </p:txBody>
      </p:sp>
      <p:sp>
        <p:nvSpPr>
          <p:cNvPr id="9" name="object 9" descr=""/>
          <p:cNvSpPr txBox="1"/>
          <p:nvPr/>
        </p:nvSpPr>
        <p:spPr>
          <a:xfrm>
            <a:off x="2584627" y="3115174"/>
            <a:ext cx="591185" cy="119380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600" dirty="0">
                <a:solidFill>
                  <a:srgbClr val="00AEEF"/>
                </a:solidFill>
                <a:latin typeface="Arial"/>
                <a:cs typeface="Arial"/>
                <a:hlinkClick r:id="rId3" action="ppaction://hlinksldjump"/>
              </a:rPr>
              <a:t>Cải</a:t>
            </a:r>
            <a:r>
              <a:rPr sz="600" spc="-30" dirty="0">
                <a:solidFill>
                  <a:srgbClr val="00AEE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600" dirty="0">
                <a:solidFill>
                  <a:srgbClr val="00AEEF"/>
                </a:solidFill>
                <a:latin typeface="Arial"/>
                <a:cs typeface="Arial"/>
                <a:hlinkClick r:id="rId3" action="ppaction://hlinksldjump"/>
              </a:rPr>
              <a:t>Thiện</a:t>
            </a:r>
            <a:r>
              <a:rPr sz="600" spc="-30" dirty="0">
                <a:solidFill>
                  <a:srgbClr val="00AEE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600" spc="-10" dirty="0">
                <a:solidFill>
                  <a:srgbClr val="00AEEF"/>
                </a:solidFill>
                <a:latin typeface="Arial"/>
                <a:cs typeface="Arial"/>
                <a:hlinkClick r:id="rId3" action="ppaction://hlinksldjump"/>
              </a:rPr>
              <a:t>Apriori</a:t>
            </a:r>
            <a:endParaRPr sz="600">
              <a:latin typeface="Arial"/>
              <a:cs typeface="Arial"/>
            </a:endParaRPr>
          </a:p>
        </p:txBody>
      </p:sp>
      <p:sp>
        <p:nvSpPr>
          <p:cNvPr id="10" name="object 10" descr="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dirty="0"/>
              <a:t>Năm</a:t>
            </a:r>
            <a:r>
              <a:rPr spc="-30" dirty="0"/>
              <a:t> </a:t>
            </a:r>
            <a:r>
              <a:rPr dirty="0"/>
              <a:t>học</a:t>
            </a:r>
            <a:r>
              <a:rPr spc="-25" dirty="0"/>
              <a:t> </a:t>
            </a:r>
            <a:r>
              <a:rPr spc="-10" dirty="0"/>
              <a:t>2025–2026</a:t>
            </a:r>
          </a:p>
        </p:txBody>
      </p:sp>
      <p:sp>
        <p:nvSpPr>
          <p:cNvPr id="11" name="object 11" descr="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70"/>
              </a:spcBef>
            </a:pPr>
            <a:fld id="{81D60167-4931-47E6-BA6A-407CBD079E47}" type="slidenum">
              <a:rPr spc="-10" dirty="0"/>
              <a:t>10</a:t>
            </a:fld>
            <a:r>
              <a:rPr spc="-70" dirty="0"/>
              <a:t> </a:t>
            </a:r>
            <a:r>
              <a:rPr dirty="0"/>
              <a:t>/</a:t>
            </a:r>
            <a:r>
              <a:rPr spc="-65" dirty="0"/>
              <a:t> </a:t>
            </a:r>
            <a:r>
              <a:rPr spc="-25" dirty="0"/>
              <a:t>32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fast">
        <p:cut thruBlk="0"/>
      </p:transition>
    </mc:Choice>
    <mc:Fallback>
      <p:transition spd="fast">
        <p:cut thruBlk="0"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95300" y="40457"/>
            <a:ext cx="3645535" cy="2882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700" dirty="0">
                <a:solidFill>
                  <a:srgbClr val="FFFFFF"/>
                </a:solidFill>
                <a:latin typeface="Arial"/>
                <a:cs typeface="Arial"/>
              </a:rPr>
              <a:t>PHÂN PHỐI CÁC CHỈ SỐ</a:t>
            </a:r>
            <a:r>
              <a:rPr sz="1700" spc="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700" dirty="0">
                <a:solidFill>
                  <a:srgbClr val="FFFFFF"/>
                </a:solidFill>
                <a:latin typeface="Arial"/>
                <a:cs typeface="Arial"/>
              </a:rPr>
              <a:t>CỦA </a:t>
            </a:r>
            <a:r>
              <a:rPr sz="1700" spc="-35" dirty="0">
                <a:solidFill>
                  <a:srgbClr val="FFFFFF"/>
                </a:solidFill>
                <a:latin typeface="Arial"/>
                <a:cs typeface="Arial"/>
              </a:rPr>
              <a:t>LUẬT</a:t>
            </a:r>
            <a:endParaRPr sz="1700">
              <a:latin typeface="Arial"/>
              <a:cs typeface="Arial"/>
            </a:endParaRPr>
          </a:p>
        </p:txBody>
      </p:sp>
      <p:pic>
        <p:nvPicPr>
          <p:cNvPr id="3" name="object 3" descr=""/>
          <p:cNvPicPr/>
          <p:nvPr/>
        </p:nvPicPr>
        <p:blipFill>
          <a:blip r:embed="rId2"/>
          <a:stretch>
            <a:fillRect/>
          </a:stretch>
        </p:blipFill>
        <p:spPr>
          <a:xfrm>
            <a:off x="446555" y="794917"/>
            <a:ext cx="4922566" cy="1705118"/>
          </a:xfrm>
          <a:prstGeom prst="rect">
            <a:avLst/>
          </a:prstGeom>
        </p:spPr>
      </p:pic>
      <p:grpSp>
        <p:nvGrpSpPr>
          <p:cNvPr id="4" name="object 4" descr=""/>
          <p:cNvGrpSpPr/>
          <p:nvPr/>
        </p:nvGrpSpPr>
        <p:grpSpPr>
          <a:xfrm>
            <a:off x="0" y="3110712"/>
            <a:ext cx="5760085" cy="129539"/>
            <a:chOff x="0" y="3110712"/>
            <a:chExt cx="5760085" cy="129539"/>
          </a:xfrm>
        </p:grpSpPr>
        <p:sp>
          <p:nvSpPr>
            <p:cNvPr id="5" name="object 5" descr=""/>
            <p:cNvSpPr/>
            <p:nvPr/>
          </p:nvSpPr>
          <p:spPr>
            <a:xfrm>
              <a:off x="0" y="3110712"/>
              <a:ext cx="1920239" cy="129539"/>
            </a:xfrm>
            <a:custGeom>
              <a:avLst/>
              <a:gdLst/>
              <a:ahLst/>
              <a:cxnLst/>
              <a:rect l="l" t="t" r="r" b="b"/>
              <a:pathLst>
                <a:path w="1920239" h="129539">
                  <a:moveTo>
                    <a:pt x="1919973" y="0"/>
                  </a:moveTo>
                  <a:lnTo>
                    <a:pt x="0" y="0"/>
                  </a:lnTo>
                  <a:lnTo>
                    <a:pt x="0" y="129286"/>
                  </a:lnTo>
                  <a:lnTo>
                    <a:pt x="1919973" y="129286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1919973" y="3110712"/>
              <a:ext cx="1920239" cy="129539"/>
            </a:xfrm>
            <a:custGeom>
              <a:avLst/>
              <a:gdLst/>
              <a:ahLst/>
              <a:cxnLst/>
              <a:rect l="l" t="t" r="r" b="b"/>
              <a:pathLst>
                <a:path w="1920239" h="129539">
                  <a:moveTo>
                    <a:pt x="1919973" y="0"/>
                  </a:moveTo>
                  <a:lnTo>
                    <a:pt x="0" y="0"/>
                  </a:lnTo>
                  <a:lnTo>
                    <a:pt x="0" y="129286"/>
                  </a:lnTo>
                  <a:lnTo>
                    <a:pt x="1919973" y="129286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3839946" y="3110712"/>
              <a:ext cx="1920239" cy="129539"/>
            </a:xfrm>
            <a:custGeom>
              <a:avLst/>
              <a:gdLst/>
              <a:ahLst/>
              <a:cxnLst/>
              <a:rect l="l" t="t" r="r" b="b"/>
              <a:pathLst>
                <a:path w="1920239" h="129539">
                  <a:moveTo>
                    <a:pt x="1919973" y="0"/>
                  </a:moveTo>
                  <a:lnTo>
                    <a:pt x="0" y="0"/>
                  </a:lnTo>
                  <a:lnTo>
                    <a:pt x="0" y="129286"/>
                  </a:lnTo>
                  <a:lnTo>
                    <a:pt x="1919973" y="129286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 descr="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dirty="0"/>
              <a:t>Lê</a:t>
            </a:r>
            <a:r>
              <a:rPr spc="-25" dirty="0"/>
              <a:t> </a:t>
            </a:r>
            <a:r>
              <a:rPr dirty="0"/>
              <a:t>Đình</a:t>
            </a:r>
            <a:r>
              <a:rPr spc="-20" dirty="0"/>
              <a:t> </a:t>
            </a:r>
            <a:r>
              <a:rPr dirty="0"/>
              <a:t>Phùng</a:t>
            </a:r>
            <a:r>
              <a:rPr spc="-25" dirty="0"/>
              <a:t> </a:t>
            </a:r>
            <a:r>
              <a:rPr dirty="0"/>
              <a:t>–</a:t>
            </a:r>
            <a:r>
              <a:rPr spc="-20" dirty="0"/>
              <a:t> </a:t>
            </a:r>
            <a:r>
              <a:rPr spc="-10" dirty="0"/>
              <a:t>18130181</a:t>
            </a:r>
          </a:p>
        </p:txBody>
      </p:sp>
      <p:sp>
        <p:nvSpPr>
          <p:cNvPr id="9" name="object 9" descr=""/>
          <p:cNvSpPr txBox="1"/>
          <p:nvPr/>
        </p:nvSpPr>
        <p:spPr>
          <a:xfrm>
            <a:off x="2584627" y="3115174"/>
            <a:ext cx="591185" cy="119380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600" dirty="0">
                <a:solidFill>
                  <a:srgbClr val="00AEEF"/>
                </a:solidFill>
                <a:latin typeface="Arial"/>
                <a:cs typeface="Arial"/>
                <a:hlinkClick r:id="rId3" action="ppaction://hlinksldjump"/>
              </a:rPr>
              <a:t>Cải</a:t>
            </a:r>
            <a:r>
              <a:rPr sz="600" spc="-30" dirty="0">
                <a:solidFill>
                  <a:srgbClr val="00AEE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600" dirty="0">
                <a:solidFill>
                  <a:srgbClr val="00AEEF"/>
                </a:solidFill>
                <a:latin typeface="Arial"/>
                <a:cs typeface="Arial"/>
                <a:hlinkClick r:id="rId3" action="ppaction://hlinksldjump"/>
              </a:rPr>
              <a:t>Thiện</a:t>
            </a:r>
            <a:r>
              <a:rPr sz="600" spc="-30" dirty="0">
                <a:solidFill>
                  <a:srgbClr val="00AEE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600" spc="-10" dirty="0">
                <a:solidFill>
                  <a:srgbClr val="00AEEF"/>
                </a:solidFill>
                <a:latin typeface="Arial"/>
                <a:cs typeface="Arial"/>
                <a:hlinkClick r:id="rId3" action="ppaction://hlinksldjump"/>
              </a:rPr>
              <a:t>Apriori</a:t>
            </a:r>
            <a:endParaRPr sz="600">
              <a:latin typeface="Arial"/>
              <a:cs typeface="Arial"/>
            </a:endParaRPr>
          </a:p>
        </p:txBody>
      </p:sp>
      <p:sp>
        <p:nvSpPr>
          <p:cNvPr id="10" name="object 10" descr="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dirty="0"/>
              <a:t>Năm</a:t>
            </a:r>
            <a:r>
              <a:rPr spc="-30" dirty="0"/>
              <a:t> </a:t>
            </a:r>
            <a:r>
              <a:rPr dirty="0"/>
              <a:t>học</a:t>
            </a:r>
            <a:r>
              <a:rPr spc="-25" dirty="0"/>
              <a:t> </a:t>
            </a:r>
            <a:r>
              <a:rPr spc="-10" dirty="0"/>
              <a:t>2025–2026</a:t>
            </a:r>
          </a:p>
        </p:txBody>
      </p:sp>
      <p:sp>
        <p:nvSpPr>
          <p:cNvPr id="11" name="object 11" descr="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70"/>
              </a:spcBef>
            </a:pPr>
            <a:fld id="{81D60167-4931-47E6-BA6A-407CBD079E47}" type="slidenum">
              <a:rPr spc="-10" dirty="0"/>
              <a:t>10</a:t>
            </a:fld>
            <a:r>
              <a:rPr spc="-70" dirty="0"/>
              <a:t> </a:t>
            </a:r>
            <a:r>
              <a:rPr dirty="0"/>
              <a:t>/</a:t>
            </a:r>
            <a:r>
              <a:rPr spc="-65" dirty="0"/>
              <a:t> </a:t>
            </a:r>
            <a:r>
              <a:rPr spc="-25" dirty="0"/>
              <a:t>32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fast">
        <p:cut thruBlk="0"/>
      </p:transition>
    </mc:Choice>
    <mc:Fallback>
      <p:transition spd="fast">
        <p:cut thruBlk="0"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95300" y="40457"/>
            <a:ext cx="4507865" cy="2882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700" dirty="0">
                <a:solidFill>
                  <a:srgbClr val="FFFFFF"/>
                </a:solidFill>
                <a:latin typeface="Arial"/>
                <a:cs typeface="Arial"/>
              </a:rPr>
              <a:t>BIỂU</a:t>
            </a:r>
            <a:r>
              <a:rPr sz="1700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700" dirty="0">
                <a:solidFill>
                  <a:srgbClr val="FFFFFF"/>
                </a:solidFill>
                <a:latin typeface="Arial"/>
                <a:cs typeface="Arial"/>
              </a:rPr>
              <a:t>ĐỒ</a:t>
            </a:r>
            <a:r>
              <a:rPr sz="1700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700" spc="55" dirty="0">
                <a:solidFill>
                  <a:srgbClr val="FFFFFF"/>
                </a:solidFill>
                <a:latin typeface="Arial"/>
                <a:cs typeface="Arial"/>
              </a:rPr>
              <a:t>NHIfiT</a:t>
            </a:r>
            <a:r>
              <a:rPr sz="1700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700" spc="-20" dirty="0">
                <a:solidFill>
                  <a:srgbClr val="FFFFFF"/>
                </a:solidFill>
                <a:latin typeface="Arial"/>
                <a:cs typeface="Arial"/>
              </a:rPr>
              <a:t>TƯƠNG</a:t>
            </a:r>
            <a:r>
              <a:rPr sz="1700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700" dirty="0">
                <a:solidFill>
                  <a:srgbClr val="FFFFFF"/>
                </a:solidFill>
                <a:latin typeface="Arial"/>
                <a:cs typeface="Arial"/>
              </a:rPr>
              <a:t>QUAN</a:t>
            </a:r>
            <a:r>
              <a:rPr sz="1700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700" dirty="0">
                <a:solidFill>
                  <a:srgbClr val="FFFFFF"/>
                </a:solidFill>
                <a:latin typeface="Arial"/>
                <a:cs typeface="Arial"/>
              </a:rPr>
              <a:t>CÁC</a:t>
            </a:r>
            <a:r>
              <a:rPr sz="1700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700" dirty="0">
                <a:solidFill>
                  <a:srgbClr val="FFFFFF"/>
                </a:solidFill>
                <a:latin typeface="Arial"/>
                <a:cs typeface="Arial"/>
              </a:rPr>
              <a:t>CHỈ</a:t>
            </a:r>
            <a:r>
              <a:rPr sz="1700" spc="-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700" spc="-25" dirty="0">
                <a:solidFill>
                  <a:srgbClr val="FFFFFF"/>
                </a:solidFill>
                <a:latin typeface="Arial"/>
                <a:cs typeface="Arial"/>
              </a:rPr>
              <a:t>SỐ</a:t>
            </a:r>
            <a:endParaRPr sz="1700">
              <a:latin typeface="Arial"/>
              <a:cs typeface="Arial"/>
            </a:endParaRPr>
          </a:p>
        </p:txBody>
      </p:sp>
      <p:pic>
        <p:nvPicPr>
          <p:cNvPr id="3" name="object 3" descr=""/>
          <p:cNvPicPr/>
          <p:nvPr/>
        </p:nvPicPr>
        <p:blipFill>
          <a:blip r:embed="rId2"/>
          <a:stretch>
            <a:fillRect/>
          </a:stretch>
        </p:blipFill>
        <p:spPr>
          <a:xfrm>
            <a:off x="1034952" y="972692"/>
            <a:ext cx="3696553" cy="1268300"/>
          </a:xfrm>
          <a:prstGeom prst="rect">
            <a:avLst/>
          </a:prstGeom>
        </p:spPr>
      </p:pic>
      <p:grpSp>
        <p:nvGrpSpPr>
          <p:cNvPr id="4" name="object 4" descr=""/>
          <p:cNvGrpSpPr/>
          <p:nvPr/>
        </p:nvGrpSpPr>
        <p:grpSpPr>
          <a:xfrm>
            <a:off x="0" y="3110712"/>
            <a:ext cx="5760085" cy="129539"/>
            <a:chOff x="0" y="3110712"/>
            <a:chExt cx="5760085" cy="129539"/>
          </a:xfrm>
        </p:grpSpPr>
        <p:sp>
          <p:nvSpPr>
            <p:cNvPr id="5" name="object 5" descr=""/>
            <p:cNvSpPr/>
            <p:nvPr/>
          </p:nvSpPr>
          <p:spPr>
            <a:xfrm>
              <a:off x="0" y="3110712"/>
              <a:ext cx="1920239" cy="129539"/>
            </a:xfrm>
            <a:custGeom>
              <a:avLst/>
              <a:gdLst/>
              <a:ahLst/>
              <a:cxnLst/>
              <a:rect l="l" t="t" r="r" b="b"/>
              <a:pathLst>
                <a:path w="1920239" h="129539">
                  <a:moveTo>
                    <a:pt x="1919973" y="0"/>
                  </a:moveTo>
                  <a:lnTo>
                    <a:pt x="0" y="0"/>
                  </a:lnTo>
                  <a:lnTo>
                    <a:pt x="0" y="129286"/>
                  </a:lnTo>
                  <a:lnTo>
                    <a:pt x="1919973" y="129286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1919973" y="3110712"/>
              <a:ext cx="1920239" cy="129539"/>
            </a:xfrm>
            <a:custGeom>
              <a:avLst/>
              <a:gdLst/>
              <a:ahLst/>
              <a:cxnLst/>
              <a:rect l="l" t="t" r="r" b="b"/>
              <a:pathLst>
                <a:path w="1920239" h="129539">
                  <a:moveTo>
                    <a:pt x="1919973" y="0"/>
                  </a:moveTo>
                  <a:lnTo>
                    <a:pt x="0" y="0"/>
                  </a:lnTo>
                  <a:lnTo>
                    <a:pt x="0" y="129286"/>
                  </a:lnTo>
                  <a:lnTo>
                    <a:pt x="1919973" y="129286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3839946" y="3110712"/>
              <a:ext cx="1920239" cy="129539"/>
            </a:xfrm>
            <a:custGeom>
              <a:avLst/>
              <a:gdLst/>
              <a:ahLst/>
              <a:cxnLst/>
              <a:rect l="l" t="t" r="r" b="b"/>
              <a:pathLst>
                <a:path w="1920239" h="129539">
                  <a:moveTo>
                    <a:pt x="1919973" y="0"/>
                  </a:moveTo>
                  <a:lnTo>
                    <a:pt x="0" y="0"/>
                  </a:lnTo>
                  <a:lnTo>
                    <a:pt x="0" y="129286"/>
                  </a:lnTo>
                  <a:lnTo>
                    <a:pt x="1919973" y="129286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 descr="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dirty="0"/>
              <a:t>Lê</a:t>
            </a:r>
            <a:r>
              <a:rPr spc="-25" dirty="0"/>
              <a:t> </a:t>
            </a:r>
            <a:r>
              <a:rPr dirty="0"/>
              <a:t>Đình</a:t>
            </a:r>
            <a:r>
              <a:rPr spc="-20" dirty="0"/>
              <a:t> </a:t>
            </a:r>
            <a:r>
              <a:rPr dirty="0"/>
              <a:t>Phùng</a:t>
            </a:r>
            <a:r>
              <a:rPr spc="-25" dirty="0"/>
              <a:t> </a:t>
            </a:r>
            <a:r>
              <a:rPr dirty="0"/>
              <a:t>–</a:t>
            </a:r>
            <a:r>
              <a:rPr spc="-20" dirty="0"/>
              <a:t> </a:t>
            </a:r>
            <a:r>
              <a:rPr spc="-10" dirty="0"/>
              <a:t>18130181</a:t>
            </a:r>
          </a:p>
        </p:txBody>
      </p:sp>
      <p:sp>
        <p:nvSpPr>
          <p:cNvPr id="9" name="object 9" descr=""/>
          <p:cNvSpPr txBox="1"/>
          <p:nvPr/>
        </p:nvSpPr>
        <p:spPr>
          <a:xfrm>
            <a:off x="2584627" y="3115174"/>
            <a:ext cx="591185" cy="119380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600" dirty="0">
                <a:solidFill>
                  <a:srgbClr val="00AEEF"/>
                </a:solidFill>
                <a:latin typeface="Arial"/>
                <a:cs typeface="Arial"/>
                <a:hlinkClick r:id="rId3" action="ppaction://hlinksldjump"/>
              </a:rPr>
              <a:t>Cải</a:t>
            </a:r>
            <a:r>
              <a:rPr sz="600" spc="-30" dirty="0">
                <a:solidFill>
                  <a:srgbClr val="00AEE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600" dirty="0">
                <a:solidFill>
                  <a:srgbClr val="00AEEF"/>
                </a:solidFill>
                <a:latin typeface="Arial"/>
                <a:cs typeface="Arial"/>
                <a:hlinkClick r:id="rId3" action="ppaction://hlinksldjump"/>
              </a:rPr>
              <a:t>Thiện</a:t>
            </a:r>
            <a:r>
              <a:rPr sz="600" spc="-30" dirty="0">
                <a:solidFill>
                  <a:srgbClr val="00AEE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600" spc="-10" dirty="0">
                <a:solidFill>
                  <a:srgbClr val="00AEEF"/>
                </a:solidFill>
                <a:latin typeface="Arial"/>
                <a:cs typeface="Arial"/>
                <a:hlinkClick r:id="rId3" action="ppaction://hlinksldjump"/>
              </a:rPr>
              <a:t>Apriori</a:t>
            </a:r>
            <a:endParaRPr sz="600">
              <a:latin typeface="Arial"/>
              <a:cs typeface="Arial"/>
            </a:endParaRPr>
          </a:p>
        </p:txBody>
      </p:sp>
      <p:sp>
        <p:nvSpPr>
          <p:cNvPr id="10" name="object 10" descr="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dirty="0"/>
              <a:t>Năm</a:t>
            </a:r>
            <a:r>
              <a:rPr spc="-30" dirty="0"/>
              <a:t> </a:t>
            </a:r>
            <a:r>
              <a:rPr dirty="0"/>
              <a:t>học</a:t>
            </a:r>
            <a:r>
              <a:rPr spc="-25" dirty="0"/>
              <a:t> </a:t>
            </a:r>
            <a:r>
              <a:rPr spc="-10" dirty="0"/>
              <a:t>2025–2026</a:t>
            </a:r>
          </a:p>
        </p:txBody>
      </p:sp>
      <p:sp>
        <p:nvSpPr>
          <p:cNvPr id="11" name="object 11" descr="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70"/>
              </a:spcBef>
            </a:pPr>
            <a:fld id="{81D60167-4931-47E6-BA6A-407CBD079E47}" type="slidenum">
              <a:rPr spc="-10" dirty="0"/>
              <a:t>10</a:t>
            </a:fld>
            <a:r>
              <a:rPr spc="-70" dirty="0"/>
              <a:t> </a:t>
            </a:r>
            <a:r>
              <a:rPr dirty="0"/>
              <a:t>/</a:t>
            </a:r>
            <a:r>
              <a:rPr spc="-65" dirty="0"/>
              <a:t> </a:t>
            </a:r>
            <a:r>
              <a:rPr spc="-25" dirty="0"/>
              <a:t>32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fast">
        <p:cut thruBlk="0"/>
      </p:transition>
    </mc:Choice>
    <mc:Fallback>
      <p:transition spd="fast">
        <p:cut thruBlk="0"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0"/>
            <a:ext cx="5760085" cy="349250"/>
          </a:xfrm>
          <a:custGeom>
            <a:avLst/>
            <a:gdLst/>
            <a:ahLst/>
            <a:cxnLst/>
            <a:rect l="l" t="t" r="r" b="b"/>
            <a:pathLst>
              <a:path w="5760085" h="349250">
                <a:moveTo>
                  <a:pt x="5759996" y="0"/>
                </a:moveTo>
                <a:lnTo>
                  <a:pt x="0" y="0"/>
                </a:lnTo>
                <a:lnTo>
                  <a:pt x="0" y="348729"/>
                </a:lnTo>
                <a:lnTo>
                  <a:pt x="5759996" y="348729"/>
                </a:lnTo>
                <a:lnTo>
                  <a:pt x="5759996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925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/>
              <a:t>SO</a:t>
            </a:r>
            <a:r>
              <a:rPr spc="-35" dirty="0"/>
              <a:t> </a:t>
            </a:r>
            <a:r>
              <a:rPr dirty="0"/>
              <a:t>SÁNH</a:t>
            </a:r>
            <a:r>
              <a:rPr spc="-30" dirty="0"/>
              <a:t> </a:t>
            </a:r>
            <a:r>
              <a:rPr spc="60" dirty="0"/>
              <a:t>HIfiU</a:t>
            </a:r>
            <a:r>
              <a:rPr spc="-30" dirty="0"/>
              <a:t> </a:t>
            </a:r>
            <a:r>
              <a:rPr spc="-25" dirty="0"/>
              <a:t>SUẤT</a:t>
            </a:r>
            <a:r>
              <a:rPr spc="-30" dirty="0"/>
              <a:t> </a:t>
            </a:r>
            <a:r>
              <a:rPr dirty="0"/>
              <a:t>CƠ</a:t>
            </a:r>
            <a:r>
              <a:rPr spc="-35" dirty="0"/>
              <a:t> </a:t>
            </a:r>
            <a:r>
              <a:rPr spc="-25" dirty="0"/>
              <a:t>BẢN</a:t>
            </a:r>
          </a:p>
        </p:txBody>
      </p:sp>
      <p:graphicFrame>
        <p:nvGraphicFramePr>
          <p:cNvPr id="4" name="object 4" descr=""/>
          <p:cNvGraphicFramePr>
            <a:graphicFrameLocks xmlns:a="http://schemas.openxmlformats.org/drawingml/2006/main" noGrp="1"/>
          </p:cNvGraphicFramePr>
          <p:nvPr/>
        </p:nvGraphicFramePr>
        <p:xfrm>
          <a:off x="951572" y="801446"/>
          <a:ext cx="3933190" cy="71818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64869"/>
                <a:gridCol w="782319"/>
                <a:gridCol w="814069"/>
                <a:gridCol w="1390015"/>
              </a:tblGrid>
              <a:tr h="176530">
                <a:tc>
                  <a:txBody>
                    <a:bodyPr/>
                    <a:lstStyle/>
                    <a:p>
                      <a:pPr marL="78105">
                        <a:lnSpc>
                          <a:spcPts val="1190"/>
                        </a:lnSpc>
                      </a:pPr>
                      <a:r>
                        <a:rPr sz="1100" b="1" dirty="0">
                          <a:latin typeface="Arial"/>
                          <a:cs typeface="Arial"/>
                        </a:rPr>
                        <a:t>Thuật</a:t>
                      </a:r>
                      <a:r>
                        <a:rPr sz="1100" b="1" spc="-6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100" b="1" spc="-20" dirty="0">
                          <a:latin typeface="Arial"/>
                          <a:cs typeface="Arial"/>
                        </a:rPr>
                        <a:t>toán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8105">
                        <a:lnSpc>
                          <a:spcPts val="1190"/>
                        </a:lnSpc>
                      </a:pPr>
                      <a:r>
                        <a:rPr sz="1100" b="1" spc="-10" dirty="0">
                          <a:latin typeface="Arial"/>
                          <a:cs typeface="Arial"/>
                        </a:rPr>
                        <a:t>Thời</a:t>
                      </a:r>
                      <a:r>
                        <a:rPr sz="1100" b="1" spc="-4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100" b="1" spc="-20" dirty="0">
                          <a:latin typeface="Arial"/>
                          <a:cs typeface="Arial"/>
                        </a:rPr>
                        <a:t>gian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63195">
                        <a:lnSpc>
                          <a:spcPts val="1190"/>
                        </a:lnSpc>
                      </a:pPr>
                      <a:r>
                        <a:rPr sz="1100" b="1" dirty="0">
                          <a:latin typeface="Arial"/>
                          <a:cs typeface="Arial"/>
                        </a:rPr>
                        <a:t>Bộ</a:t>
                      </a:r>
                      <a:r>
                        <a:rPr sz="1100" b="1" spc="-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100" b="1" spc="-25" dirty="0">
                          <a:latin typeface="Arial"/>
                          <a:cs typeface="Arial"/>
                        </a:rPr>
                        <a:t>nhớ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8105">
                        <a:lnSpc>
                          <a:spcPts val="1190"/>
                        </a:lnSpc>
                      </a:pPr>
                      <a:r>
                        <a:rPr sz="1100" b="1" dirty="0">
                          <a:latin typeface="Arial"/>
                          <a:cs typeface="Arial"/>
                        </a:rPr>
                        <a:t>Khả</a:t>
                      </a:r>
                      <a:r>
                        <a:rPr sz="1100" b="1" spc="-5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100" b="1" dirty="0">
                          <a:latin typeface="Arial"/>
                          <a:cs typeface="Arial"/>
                        </a:rPr>
                        <a:t>năng</a:t>
                      </a:r>
                      <a:r>
                        <a:rPr sz="1100" b="1" spc="-5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100" b="1" dirty="0">
                          <a:latin typeface="Arial"/>
                          <a:cs typeface="Arial"/>
                        </a:rPr>
                        <a:t>mở</a:t>
                      </a:r>
                      <a:r>
                        <a:rPr sz="1100" b="1" spc="-5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100" b="1" spc="-20" dirty="0">
                          <a:latin typeface="Arial"/>
                          <a:cs typeface="Arial"/>
                        </a:rPr>
                        <a:t>rộng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541655">
                <a:tc>
                  <a:txBody>
                    <a:bodyPr/>
                    <a:lstStyle/>
                    <a:p>
                      <a:pPr marL="78105">
                        <a:lnSpc>
                          <a:spcPts val="1240"/>
                        </a:lnSpc>
                      </a:pPr>
                      <a:r>
                        <a:rPr sz="1100" spc="-10" dirty="0">
                          <a:latin typeface="Arial"/>
                          <a:cs typeface="Arial"/>
                        </a:rPr>
                        <a:t>Apriori</a:t>
                      </a:r>
                      <a:endParaRPr sz="1100">
                        <a:latin typeface="Arial"/>
                        <a:cs typeface="Arial"/>
                      </a:endParaRPr>
                    </a:p>
                    <a:p>
                      <a:pPr marL="78105" marR="114300">
                        <a:lnSpc>
                          <a:spcPct val="106700"/>
                        </a:lnSpc>
                      </a:pPr>
                      <a:r>
                        <a:rPr sz="1100" spc="-35" dirty="0">
                          <a:latin typeface="Arial"/>
                          <a:cs typeface="Arial"/>
                        </a:rPr>
                        <a:t>FP-</a:t>
                      </a:r>
                      <a:r>
                        <a:rPr sz="1100" spc="-10" dirty="0">
                          <a:latin typeface="Arial"/>
                          <a:cs typeface="Arial"/>
                        </a:rPr>
                        <a:t>Growth </a:t>
                      </a:r>
                      <a:r>
                        <a:rPr sz="1100" spc="-35" dirty="0">
                          <a:latin typeface="Arial"/>
                          <a:cs typeface="Arial"/>
                        </a:rPr>
                        <a:t>FP-</a:t>
                      </a:r>
                      <a:r>
                        <a:rPr sz="1100" spc="-25" dirty="0">
                          <a:latin typeface="Arial"/>
                          <a:cs typeface="Arial"/>
                        </a:rPr>
                        <a:t>Max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07645">
                        <a:lnSpc>
                          <a:spcPts val="1240"/>
                        </a:lnSpc>
                      </a:pPr>
                      <a:r>
                        <a:rPr sz="1100" spc="-55" dirty="0">
                          <a:latin typeface="Arial"/>
                          <a:cs typeface="Arial"/>
                        </a:rPr>
                        <a:t>Cơ</a:t>
                      </a:r>
                      <a:r>
                        <a:rPr sz="110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100" spc="-25" dirty="0">
                          <a:latin typeface="Arial"/>
                          <a:cs typeface="Arial"/>
                        </a:rPr>
                        <a:t>sở</a:t>
                      </a:r>
                      <a:endParaRPr sz="1100">
                        <a:latin typeface="Arial"/>
                        <a:cs typeface="Arial"/>
                      </a:endParaRPr>
                    </a:p>
                    <a:p>
                      <a:pPr marL="201930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100" spc="-10" dirty="0">
                          <a:latin typeface="Arial"/>
                          <a:cs typeface="Arial"/>
                        </a:rPr>
                        <a:t>2-</a:t>
                      </a:r>
                      <a:r>
                        <a:rPr sz="1100" dirty="0">
                          <a:latin typeface="Arial"/>
                          <a:cs typeface="Arial"/>
                        </a:rPr>
                        <a:t>3x</a:t>
                      </a:r>
                      <a:r>
                        <a:rPr sz="11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100" spc="-50" dirty="0">
                          <a:latin typeface="Lucida Sans Unicode"/>
                          <a:cs typeface="Lucida Sans Unicode"/>
                        </a:rPr>
                        <a:t>↑</a:t>
                      </a:r>
                      <a:endParaRPr sz="1100">
                        <a:latin typeface="Lucida Sans Unicode"/>
                        <a:cs typeface="Lucida Sans Unicode"/>
                      </a:endParaRPr>
                    </a:p>
                    <a:p>
                      <a:pPr marL="201930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100" spc="-10" dirty="0">
                          <a:latin typeface="Arial"/>
                          <a:cs typeface="Arial"/>
                        </a:rPr>
                        <a:t>3-</a:t>
                      </a:r>
                      <a:r>
                        <a:rPr sz="1100" dirty="0">
                          <a:latin typeface="Arial"/>
                          <a:cs typeface="Arial"/>
                        </a:rPr>
                        <a:t>5x</a:t>
                      </a:r>
                      <a:r>
                        <a:rPr sz="11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100" spc="-50" dirty="0">
                          <a:latin typeface="Lucida Sans Unicode"/>
                          <a:cs typeface="Lucida Sans Unicode"/>
                        </a:rPr>
                        <a:t>↑</a:t>
                      </a:r>
                      <a:endParaRPr sz="1100">
                        <a:latin typeface="Lucida Sans Unicode"/>
                        <a:cs typeface="Lucida Sans Unicode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40"/>
                        </a:lnSpc>
                      </a:pPr>
                      <a:r>
                        <a:rPr sz="1100" spc="-25" dirty="0">
                          <a:latin typeface="Arial"/>
                          <a:cs typeface="Arial"/>
                        </a:rPr>
                        <a:t>Cao</a:t>
                      </a:r>
                      <a:endParaRPr sz="1100">
                        <a:latin typeface="Arial"/>
                        <a:cs typeface="Arial"/>
                      </a:endParaRPr>
                    </a:p>
                    <a:p>
                      <a:pPr marL="78105" marR="70485" algn="ctr">
                        <a:lnSpc>
                          <a:spcPct val="106700"/>
                        </a:lnSpc>
                      </a:pPr>
                      <a:r>
                        <a:rPr sz="1100" spc="-20" dirty="0">
                          <a:latin typeface="Arial"/>
                          <a:cs typeface="Arial"/>
                        </a:rPr>
                        <a:t>Trung</a:t>
                      </a:r>
                      <a:r>
                        <a:rPr sz="1100" spc="-4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100" spc="-20" dirty="0">
                          <a:latin typeface="Arial"/>
                          <a:cs typeface="Arial"/>
                        </a:rPr>
                        <a:t>bình Thấp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40"/>
                        </a:lnSpc>
                      </a:pPr>
                      <a:r>
                        <a:rPr sz="1100" spc="-20" dirty="0">
                          <a:latin typeface="Arial"/>
                          <a:cs typeface="Arial"/>
                        </a:rPr>
                        <a:t>Thấp</a:t>
                      </a:r>
                      <a:endParaRPr sz="1100">
                        <a:latin typeface="Arial"/>
                        <a:cs typeface="Arial"/>
                      </a:endParaRPr>
                    </a:p>
                    <a:p>
                      <a:pPr marL="426720" marR="419100" indent="173990">
                        <a:lnSpc>
                          <a:spcPct val="106700"/>
                        </a:lnSpc>
                      </a:pPr>
                      <a:r>
                        <a:rPr sz="1100" spc="-25" dirty="0">
                          <a:latin typeface="Arial"/>
                          <a:cs typeface="Arial"/>
                        </a:rPr>
                        <a:t>Tốt </a:t>
                      </a:r>
                      <a:r>
                        <a:rPr sz="1100" dirty="0">
                          <a:latin typeface="Arial"/>
                          <a:cs typeface="Arial"/>
                        </a:rPr>
                        <a:t>Xuất</a:t>
                      </a:r>
                      <a:r>
                        <a:rPr sz="1100" spc="-7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100" spc="-25" dirty="0">
                          <a:latin typeface="Arial"/>
                          <a:cs typeface="Arial"/>
                        </a:rPr>
                        <a:t>sắc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5" name="object 5" descr=""/>
          <p:cNvSpPr txBox="1"/>
          <p:nvPr/>
        </p:nvSpPr>
        <p:spPr>
          <a:xfrm>
            <a:off x="88963" y="1740433"/>
            <a:ext cx="5582285" cy="325755"/>
          </a:xfrm>
          <a:prstGeom prst="rect">
            <a:avLst/>
          </a:prstGeom>
          <a:solidFill>
            <a:srgbClr val="BF0000"/>
          </a:solidFill>
        </p:spPr>
        <p:txBody>
          <a:bodyPr vert="horz" wrap="square" lIns="0" tIns="48895" rIns="0" bIns="0" rtlCol="0">
            <a:spAutoFit/>
          </a:bodyPr>
          <a:lstStyle/>
          <a:p>
            <a:pPr marL="59055">
              <a:lnSpc>
                <a:spcPct val="100000"/>
              </a:lnSpc>
              <a:spcBef>
                <a:spcPts val="385"/>
              </a:spcBef>
            </a:pPr>
            <a:r>
              <a:rPr sz="1400" dirty="0">
                <a:solidFill>
                  <a:srgbClr val="FFFFFF"/>
                </a:solidFill>
                <a:latin typeface="Arial"/>
                <a:cs typeface="Arial"/>
              </a:rPr>
              <a:t>Kết</a:t>
            </a:r>
            <a:r>
              <a:rPr sz="1400" spc="-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Arial"/>
                <a:cs typeface="Arial"/>
              </a:rPr>
              <a:t>luận:</a:t>
            </a:r>
            <a:endParaRPr sz="1400">
              <a:latin typeface="Arial"/>
              <a:cs typeface="Arial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88963" y="2065883"/>
            <a:ext cx="5582285" cy="542925"/>
          </a:xfrm>
          <a:prstGeom prst="rect">
            <a:avLst/>
          </a:prstGeom>
          <a:solidFill>
            <a:srgbClr val="F8E5E5"/>
          </a:solidFill>
        </p:spPr>
        <p:txBody>
          <a:bodyPr vert="horz" wrap="square" lIns="0" tIns="30480" rIns="0" bIns="0" rtlCol="0">
            <a:spAutoFit/>
          </a:bodyPr>
          <a:lstStyle/>
          <a:p>
            <a:pPr marL="356870" marR="2087245">
              <a:lnSpc>
                <a:spcPct val="121100"/>
              </a:lnSpc>
              <a:spcBef>
                <a:spcPts val="240"/>
              </a:spcBef>
            </a:pPr>
            <a:r>
              <a:rPr sz="1200" spc="-30" dirty="0">
                <a:latin typeface="Arial"/>
                <a:cs typeface="Arial"/>
              </a:rPr>
              <a:t>FP-</a:t>
            </a:r>
            <a:r>
              <a:rPr sz="1200" dirty="0">
                <a:latin typeface="Arial"/>
                <a:cs typeface="Arial"/>
              </a:rPr>
              <a:t>Growth</a:t>
            </a:r>
            <a:r>
              <a:rPr sz="1200" spc="-2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phù</a:t>
            </a:r>
            <a:r>
              <a:rPr sz="1200" spc="-20" dirty="0">
                <a:latin typeface="Arial"/>
                <a:cs typeface="Arial"/>
              </a:rPr>
              <a:t> hợp </a:t>
            </a:r>
            <a:r>
              <a:rPr sz="1200" dirty="0">
                <a:latin typeface="Arial"/>
                <a:cs typeface="Arial"/>
              </a:rPr>
              <a:t>cho</a:t>
            </a:r>
            <a:r>
              <a:rPr sz="1200" spc="-2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môi</a:t>
            </a:r>
            <a:r>
              <a:rPr sz="1200" spc="-25" dirty="0">
                <a:latin typeface="Arial"/>
                <a:cs typeface="Arial"/>
              </a:rPr>
              <a:t> trường</a:t>
            </a:r>
            <a:r>
              <a:rPr sz="1200" spc="-20" dirty="0">
                <a:latin typeface="Arial"/>
                <a:cs typeface="Arial"/>
              </a:rPr>
              <a:t> </a:t>
            </a:r>
            <a:r>
              <a:rPr sz="1200" spc="-10" dirty="0">
                <a:latin typeface="Arial"/>
                <a:cs typeface="Arial"/>
              </a:rPr>
              <a:t>production </a:t>
            </a:r>
            <a:r>
              <a:rPr sz="1200" spc="-30" dirty="0">
                <a:latin typeface="Arial"/>
                <a:cs typeface="Arial"/>
              </a:rPr>
              <a:t>FP-</a:t>
            </a:r>
            <a:r>
              <a:rPr sz="1200" dirty="0">
                <a:latin typeface="Arial"/>
                <a:cs typeface="Arial"/>
              </a:rPr>
              <a:t>Max</a:t>
            </a:r>
            <a:r>
              <a:rPr sz="1200" spc="-2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tốt</a:t>
            </a:r>
            <a:r>
              <a:rPr sz="1200" spc="-2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nhất</a:t>
            </a:r>
            <a:r>
              <a:rPr sz="1200" spc="-2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cho</a:t>
            </a:r>
            <a:r>
              <a:rPr sz="1200" spc="-2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các</a:t>
            </a:r>
            <a:r>
              <a:rPr sz="1200" spc="-2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dataset</a:t>
            </a:r>
            <a:r>
              <a:rPr sz="1200" spc="-20" dirty="0">
                <a:latin typeface="Arial"/>
                <a:cs typeface="Arial"/>
              </a:rPr>
              <a:t> </a:t>
            </a:r>
            <a:r>
              <a:rPr sz="1200" spc="-25" dirty="0">
                <a:latin typeface="Arial"/>
                <a:cs typeface="Arial"/>
              </a:rPr>
              <a:t>lớn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7" name="object 7" descr=""/>
          <p:cNvGrpSpPr/>
          <p:nvPr/>
        </p:nvGrpSpPr>
        <p:grpSpPr>
          <a:xfrm>
            <a:off x="0" y="3110712"/>
            <a:ext cx="5760085" cy="129539"/>
            <a:chOff x="0" y="3110712"/>
            <a:chExt cx="5760085" cy="129539"/>
          </a:xfrm>
        </p:grpSpPr>
        <p:sp>
          <p:nvSpPr>
            <p:cNvPr id="8" name="object 8" descr=""/>
            <p:cNvSpPr/>
            <p:nvPr/>
          </p:nvSpPr>
          <p:spPr>
            <a:xfrm>
              <a:off x="0" y="3110712"/>
              <a:ext cx="1920239" cy="129539"/>
            </a:xfrm>
            <a:custGeom>
              <a:avLst/>
              <a:gdLst/>
              <a:ahLst/>
              <a:cxnLst/>
              <a:rect l="l" t="t" r="r" b="b"/>
              <a:pathLst>
                <a:path w="1920239" h="129539">
                  <a:moveTo>
                    <a:pt x="1919973" y="0"/>
                  </a:moveTo>
                  <a:lnTo>
                    <a:pt x="0" y="0"/>
                  </a:lnTo>
                  <a:lnTo>
                    <a:pt x="0" y="129286"/>
                  </a:lnTo>
                  <a:lnTo>
                    <a:pt x="1919973" y="129286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1919973" y="3110712"/>
              <a:ext cx="1920239" cy="129539"/>
            </a:xfrm>
            <a:custGeom>
              <a:avLst/>
              <a:gdLst/>
              <a:ahLst/>
              <a:cxnLst/>
              <a:rect l="l" t="t" r="r" b="b"/>
              <a:pathLst>
                <a:path w="1920239" h="129539">
                  <a:moveTo>
                    <a:pt x="1919973" y="0"/>
                  </a:moveTo>
                  <a:lnTo>
                    <a:pt x="0" y="0"/>
                  </a:lnTo>
                  <a:lnTo>
                    <a:pt x="0" y="129286"/>
                  </a:lnTo>
                  <a:lnTo>
                    <a:pt x="1919973" y="129286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3839946" y="3110712"/>
              <a:ext cx="1920239" cy="129539"/>
            </a:xfrm>
            <a:custGeom>
              <a:avLst/>
              <a:gdLst/>
              <a:ahLst/>
              <a:cxnLst/>
              <a:rect l="l" t="t" r="r" b="b"/>
              <a:pathLst>
                <a:path w="1920239" h="129539">
                  <a:moveTo>
                    <a:pt x="1919973" y="0"/>
                  </a:moveTo>
                  <a:lnTo>
                    <a:pt x="0" y="0"/>
                  </a:lnTo>
                  <a:lnTo>
                    <a:pt x="0" y="129286"/>
                  </a:lnTo>
                  <a:lnTo>
                    <a:pt x="1919973" y="129286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 descr="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dirty="0"/>
              <a:t>Lê</a:t>
            </a:r>
            <a:r>
              <a:rPr spc="-25" dirty="0"/>
              <a:t> </a:t>
            </a:r>
            <a:r>
              <a:rPr dirty="0"/>
              <a:t>Đình</a:t>
            </a:r>
            <a:r>
              <a:rPr spc="-20" dirty="0"/>
              <a:t> </a:t>
            </a:r>
            <a:r>
              <a:rPr dirty="0"/>
              <a:t>Phùng</a:t>
            </a:r>
            <a:r>
              <a:rPr spc="-25" dirty="0"/>
              <a:t> </a:t>
            </a:r>
            <a:r>
              <a:rPr dirty="0"/>
              <a:t>–</a:t>
            </a:r>
            <a:r>
              <a:rPr spc="-20" dirty="0"/>
              <a:t> </a:t>
            </a:r>
            <a:r>
              <a:rPr spc="-10" dirty="0"/>
              <a:t>18130181</a:t>
            </a:r>
          </a:p>
        </p:txBody>
      </p:sp>
      <p:sp>
        <p:nvSpPr>
          <p:cNvPr id="12" name="object 12" descr=""/>
          <p:cNvSpPr txBox="1"/>
          <p:nvPr/>
        </p:nvSpPr>
        <p:spPr>
          <a:xfrm>
            <a:off x="2584627" y="3115174"/>
            <a:ext cx="591185" cy="119380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600" dirty="0">
                <a:solidFill>
                  <a:srgbClr val="00AEEF"/>
                </a:solidFill>
                <a:latin typeface="Arial"/>
                <a:cs typeface="Arial"/>
                <a:hlinkClick r:id="rId2" action="ppaction://hlinksldjump"/>
              </a:rPr>
              <a:t>Cải</a:t>
            </a:r>
            <a:r>
              <a:rPr sz="600" spc="-30" dirty="0">
                <a:solidFill>
                  <a:srgbClr val="00AEEF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sz="600" dirty="0">
                <a:solidFill>
                  <a:srgbClr val="00AEEF"/>
                </a:solidFill>
                <a:latin typeface="Arial"/>
                <a:cs typeface="Arial"/>
                <a:hlinkClick r:id="rId2" action="ppaction://hlinksldjump"/>
              </a:rPr>
              <a:t>Thiện</a:t>
            </a:r>
            <a:r>
              <a:rPr sz="600" spc="-30" dirty="0">
                <a:solidFill>
                  <a:srgbClr val="00AEEF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sz="600" spc="-10" dirty="0">
                <a:solidFill>
                  <a:srgbClr val="00AEEF"/>
                </a:solidFill>
                <a:latin typeface="Arial"/>
                <a:cs typeface="Arial"/>
                <a:hlinkClick r:id="rId2" action="ppaction://hlinksldjump"/>
              </a:rPr>
              <a:t>Apriori</a:t>
            </a:r>
            <a:endParaRPr sz="600">
              <a:latin typeface="Arial"/>
              <a:cs typeface="Arial"/>
            </a:endParaRPr>
          </a:p>
        </p:txBody>
      </p:sp>
      <p:sp>
        <p:nvSpPr>
          <p:cNvPr id="13" name="object 13" descr="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dirty="0"/>
              <a:t>Năm</a:t>
            </a:r>
            <a:r>
              <a:rPr spc="-30" dirty="0"/>
              <a:t> </a:t>
            </a:r>
            <a:r>
              <a:rPr dirty="0"/>
              <a:t>học</a:t>
            </a:r>
            <a:r>
              <a:rPr spc="-25" dirty="0"/>
              <a:t> </a:t>
            </a:r>
            <a:r>
              <a:rPr spc="-10" dirty="0"/>
              <a:t>2025–2026</a:t>
            </a:r>
          </a:p>
        </p:txBody>
      </p:sp>
      <p:sp>
        <p:nvSpPr>
          <p:cNvPr id="14" name="object 14" descr="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70"/>
              </a:spcBef>
            </a:pPr>
            <a:fld id="{81D60167-4931-47E6-BA6A-407CBD079E47}" type="slidenum">
              <a:rPr spc="-10" dirty="0"/>
              <a:t>10</a:t>
            </a:fld>
            <a:r>
              <a:rPr spc="-70" dirty="0"/>
              <a:t> </a:t>
            </a:r>
            <a:r>
              <a:rPr dirty="0"/>
              <a:t>/</a:t>
            </a:r>
            <a:r>
              <a:rPr spc="-65" dirty="0"/>
              <a:t> </a:t>
            </a:r>
            <a:r>
              <a:rPr spc="-25" dirty="0"/>
              <a:t>32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fast">
        <p:cut thruBlk="0"/>
      </p:transition>
    </mc:Choice>
    <mc:Fallback>
      <p:transition spd="fast">
        <p:cut thruBlk="0"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95300" y="40457"/>
            <a:ext cx="4690110" cy="2882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700" dirty="0">
                <a:solidFill>
                  <a:srgbClr val="FFFFFF"/>
                </a:solidFill>
                <a:latin typeface="Arial"/>
                <a:cs typeface="Arial"/>
              </a:rPr>
              <a:t>SO</a:t>
            </a:r>
            <a:r>
              <a:rPr sz="170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700" dirty="0">
                <a:solidFill>
                  <a:srgbClr val="FFFFFF"/>
                </a:solidFill>
                <a:latin typeface="Arial"/>
                <a:cs typeface="Arial"/>
              </a:rPr>
              <a:t>SÁNH</a:t>
            </a:r>
            <a:r>
              <a:rPr sz="1700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700" spc="-10" dirty="0">
                <a:solidFill>
                  <a:srgbClr val="FFFFFF"/>
                </a:solidFill>
                <a:latin typeface="Arial"/>
                <a:cs typeface="Arial"/>
              </a:rPr>
              <a:t>THỜI</a:t>
            </a:r>
            <a:r>
              <a:rPr sz="1700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700" dirty="0">
                <a:solidFill>
                  <a:srgbClr val="FFFFFF"/>
                </a:solidFill>
                <a:latin typeface="Arial"/>
                <a:cs typeface="Arial"/>
              </a:rPr>
              <a:t>GIAN</a:t>
            </a:r>
            <a:r>
              <a:rPr sz="1700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700" dirty="0">
                <a:solidFill>
                  <a:srgbClr val="FFFFFF"/>
                </a:solidFill>
                <a:latin typeface="Arial"/>
                <a:cs typeface="Arial"/>
              </a:rPr>
              <a:t>THỰC</a:t>
            </a:r>
            <a:r>
              <a:rPr sz="1700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700" dirty="0">
                <a:solidFill>
                  <a:srgbClr val="FFFFFF"/>
                </a:solidFill>
                <a:latin typeface="Arial"/>
                <a:cs typeface="Arial"/>
              </a:rPr>
              <a:t>THI</a:t>
            </a:r>
            <a:r>
              <a:rPr sz="1700" spc="-20" dirty="0">
                <a:solidFill>
                  <a:srgbClr val="FFFFFF"/>
                </a:solidFill>
                <a:latin typeface="Arial"/>
                <a:cs typeface="Arial"/>
              </a:rPr>
              <a:t> THUẬT TOÁN</a:t>
            </a:r>
            <a:endParaRPr sz="1700">
              <a:latin typeface="Arial"/>
              <a:cs typeface="Arial"/>
            </a:endParaRPr>
          </a:p>
        </p:txBody>
      </p:sp>
      <p:pic>
        <p:nvPicPr>
          <p:cNvPr id="3" name="object 3" descr=""/>
          <p:cNvPicPr/>
          <p:nvPr/>
        </p:nvPicPr>
        <p:blipFill>
          <a:blip r:embed="rId2"/>
          <a:stretch>
            <a:fillRect/>
          </a:stretch>
        </p:blipFill>
        <p:spPr>
          <a:xfrm>
            <a:off x="339450" y="794917"/>
            <a:ext cx="5016819" cy="1820792"/>
          </a:xfrm>
          <a:prstGeom prst="rect">
            <a:avLst/>
          </a:prstGeom>
        </p:spPr>
      </p:pic>
      <p:grpSp>
        <p:nvGrpSpPr>
          <p:cNvPr id="4" name="object 4" descr=""/>
          <p:cNvGrpSpPr/>
          <p:nvPr/>
        </p:nvGrpSpPr>
        <p:grpSpPr>
          <a:xfrm>
            <a:off x="0" y="3110712"/>
            <a:ext cx="5760085" cy="129539"/>
            <a:chOff x="0" y="3110712"/>
            <a:chExt cx="5760085" cy="129539"/>
          </a:xfrm>
        </p:grpSpPr>
        <p:sp>
          <p:nvSpPr>
            <p:cNvPr id="5" name="object 5" descr=""/>
            <p:cNvSpPr/>
            <p:nvPr/>
          </p:nvSpPr>
          <p:spPr>
            <a:xfrm>
              <a:off x="0" y="3110712"/>
              <a:ext cx="1920239" cy="129539"/>
            </a:xfrm>
            <a:custGeom>
              <a:avLst/>
              <a:gdLst/>
              <a:ahLst/>
              <a:cxnLst/>
              <a:rect l="l" t="t" r="r" b="b"/>
              <a:pathLst>
                <a:path w="1920239" h="129539">
                  <a:moveTo>
                    <a:pt x="1919973" y="0"/>
                  </a:moveTo>
                  <a:lnTo>
                    <a:pt x="0" y="0"/>
                  </a:lnTo>
                  <a:lnTo>
                    <a:pt x="0" y="129286"/>
                  </a:lnTo>
                  <a:lnTo>
                    <a:pt x="1919973" y="129286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1919973" y="3110712"/>
              <a:ext cx="1920239" cy="129539"/>
            </a:xfrm>
            <a:custGeom>
              <a:avLst/>
              <a:gdLst/>
              <a:ahLst/>
              <a:cxnLst/>
              <a:rect l="l" t="t" r="r" b="b"/>
              <a:pathLst>
                <a:path w="1920239" h="129539">
                  <a:moveTo>
                    <a:pt x="1919973" y="0"/>
                  </a:moveTo>
                  <a:lnTo>
                    <a:pt x="0" y="0"/>
                  </a:lnTo>
                  <a:lnTo>
                    <a:pt x="0" y="129286"/>
                  </a:lnTo>
                  <a:lnTo>
                    <a:pt x="1919973" y="129286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3839946" y="3110712"/>
              <a:ext cx="1920239" cy="129539"/>
            </a:xfrm>
            <a:custGeom>
              <a:avLst/>
              <a:gdLst/>
              <a:ahLst/>
              <a:cxnLst/>
              <a:rect l="l" t="t" r="r" b="b"/>
              <a:pathLst>
                <a:path w="1920239" h="129539">
                  <a:moveTo>
                    <a:pt x="1919973" y="0"/>
                  </a:moveTo>
                  <a:lnTo>
                    <a:pt x="0" y="0"/>
                  </a:lnTo>
                  <a:lnTo>
                    <a:pt x="0" y="129286"/>
                  </a:lnTo>
                  <a:lnTo>
                    <a:pt x="1919973" y="129286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 descr="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dirty="0"/>
              <a:t>Lê</a:t>
            </a:r>
            <a:r>
              <a:rPr spc="-25" dirty="0"/>
              <a:t> </a:t>
            </a:r>
            <a:r>
              <a:rPr dirty="0"/>
              <a:t>Đình</a:t>
            </a:r>
            <a:r>
              <a:rPr spc="-20" dirty="0"/>
              <a:t> </a:t>
            </a:r>
            <a:r>
              <a:rPr dirty="0"/>
              <a:t>Phùng</a:t>
            </a:r>
            <a:r>
              <a:rPr spc="-25" dirty="0"/>
              <a:t> </a:t>
            </a:r>
            <a:r>
              <a:rPr dirty="0"/>
              <a:t>–</a:t>
            </a:r>
            <a:r>
              <a:rPr spc="-20" dirty="0"/>
              <a:t> </a:t>
            </a:r>
            <a:r>
              <a:rPr spc="-10" dirty="0"/>
              <a:t>18130181</a:t>
            </a:r>
          </a:p>
        </p:txBody>
      </p:sp>
      <p:sp>
        <p:nvSpPr>
          <p:cNvPr id="9" name="object 9" descr=""/>
          <p:cNvSpPr txBox="1"/>
          <p:nvPr/>
        </p:nvSpPr>
        <p:spPr>
          <a:xfrm>
            <a:off x="2584627" y="3115174"/>
            <a:ext cx="591185" cy="119380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600" dirty="0">
                <a:solidFill>
                  <a:srgbClr val="00AEEF"/>
                </a:solidFill>
                <a:latin typeface="Arial"/>
                <a:cs typeface="Arial"/>
                <a:hlinkClick r:id="rId3" action="ppaction://hlinksldjump"/>
              </a:rPr>
              <a:t>Cải</a:t>
            </a:r>
            <a:r>
              <a:rPr sz="600" spc="-30" dirty="0">
                <a:solidFill>
                  <a:srgbClr val="00AEE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600" dirty="0">
                <a:solidFill>
                  <a:srgbClr val="00AEEF"/>
                </a:solidFill>
                <a:latin typeface="Arial"/>
                <a:cs typeface="Arial"/>
                <a:hlinkClick r:id="rId3" action="ppaction://hlinksldjump"/>
              </a:rPr>
              <a:t>Thiện</a:t>
            </a:r>
            <a:r>
              <a:rPr sz="600" spc="-30" dirty="0">
                <a:solidFill>
                  <a:srgbClr val="00AEE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600" spc="-10" dirty="0">
                <a:solidFill>
                  <a:srgbClr val="00AEEF"/>
                </a:solidFill>
                <a:latin typeface="Arial"/>
                <a:cs typeface="Arial"/>
                <a:hlinkClick r:id="rId3" action="ppaction://hlinksldjump"/>
              </a:rPr>
              <a:t>Apriori</a:t>
            </a:r>
            <a:endParaRPr sz="600">
              <a:latin typeface="Arial"/>
              <a:cs typeface="Arial"/>
            </a:endParaRPr>
          </a:p>
        </p:txBody>
      </p:sp>
      <p:sp>
        <p:nvSpPr>
          <p:cNvPr id="10" name="object 10" descr="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dirty="0"/>
              <a:t>Năm</a:t>
            </a:r>
            <a:r>
              <a:rPr spc="-30" dirty="0"/>
              <a:t> </a:t>
            </a:r>
            <a:r>
              <a:rPr dirty="0"/>
              <a:t>học</a:t>
            </a:r>
            <a:r>
              <a:rPr spc="-25" dirty="0"/>
              <a:t> </a:t>
            </a:r>
            <a:r>
              <a:rPr spc="-10" dirty="0"/>
              <a:t>2025–2026</a:t>
            </a:r>
          </a:p>
        </p:txBody>
      </p:sp>
      <p:sp>
        <p:nvSpPr>
          <p:cNvPr id="11" name="object 11" descr="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70"/>
              </a:spcBef>
            </a:pPr>
            <a:fld id="{81D60167-4931-47E6-BA6A-407CBD079E47}" type="slidenum">
              <a:rPr spc="-10" dirty="0"/>
              <a:t>10</a:t>
            </a:fld>
            <a:r>
              <a:rPr spc="-70" dirty="0"/>
              <a:t> </a:t>
            </a:r>
            <a:r>
              <a:rPr dirty="0"/>
              <a:t>/</a:t>
            </a:r>
            <a:r>
              <a:rPr spc="-65" dirty="0"/>
              <a:t> </a:t>
            </a:r>
            <a:r>
              <a:rPr spc="-25" dirty="0"/>
              <a:t>32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fast">
        <p:cut thruBlk="0"/>
      </p:transition>
    </mc:Choice>
    <mc:Fallback>
      <p:transition spd="fast">
        <p:cut thruBlk="0"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95300" y="40457"/>
            <a:ext cx="3604895" cy="2882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700" dirty="0">
                <a:solidFill>
                  <a:srgbClr val="FFFFFF"/>
                </a:solidFill>
                <a:latin typeface="Arial"/>
                <a:cs typeface="Arial"/>
              </a:rPr>
              <a:t>SỐ</a:t>
            </a:r>
            <a:r>
              <a:rPr sz="1700" spc="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700" spc="-20" dirty="0">
                <a:solidFill>
                  <a:srgbClr val="FFFFFF"/>
                </a:solidFill>
                <a:latin typeface="Arial"/>
                <a:cs typeface="Arial"/>
              </a:rPr>
              <a:t>LƯỢNG</a:t>
            </a:r>
            <a:r>
              <a:rPr sz="1700" spc="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700" dirty="0">
                <a:solidFill>
                  <a:srgbClr val="FFFFFF"/>
                </a:solidFill>
                <a:latin typeface="Arial"/>
                <a:cs typeface="Arial"/>
              </a:rPr>
              <a:t>FREQUENT</a:t>
            </a:r>
            <a:r>
              <a:rPr sz="1700" spc="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700" spc="-10" dirty="0">
                <a:solidFill>
                  <a:srgbClr val="FFFFFF"/>
                </a:solidFill>
                <a:latin typeface="Arial"/>
                <a:cs typeface="Arial"/>
              </a:rPr>
              <a:t>ITEMSETS</a:t>
            </a:r>
            <a:endParaRPr sz="1700">
              <a:latin typeface="Arial"/>
              <a:cs typeface="Arial"/>
            </a:endParaRPr>
          </a:p>
        </p:txBody>
      </p:sp>
      <p:pic>
        <p:nvPicPr>
          <p:cNvPr id="3" name="object 3" descr=""/>
          <p:cNvPicPr/>
          <p:nvPr/>
        </p:nvPicPr>
        <p:blipFill>
          <a:blip r:embed="rId2"/>
          <a:stretch>
            <a:fillRect/>
          </a:stretch>
        </p:blipFill>
        <p:spPr>
          <a:xfrm>
            <a:off x="339450" y="794917"/>
            <a:ext cx="5021103" cy="1820792"/>
          </a:xfrm>
          <a:prstGeom prst="rect">
            <a:avLst/>
          </a:prstGeom>
        </p:spPr>
      </p:pic>
      <p:grpSp>
        <p:nvGrpSpPr>
          <p:cNvPr id="4" name="object 4" descr=""/>
          <p:cNvGrpSpPr/>
          <p:nvPr/>
        </p:nvGrpSpPr>
        <p:grpSpPr>
          <a:xfrm>
            <a:off x="0" y="3110712"/>
            <a:ext cx="5760085" cy="129539"/>
            <a:chOff x="0" y="3110712"/>
            <a:chExt cx="5760085" cy="129539"/>
          </a:xfrm>
        </p:grpSpPr>
        <p:sp>
          <p:nvSpPr>
            <p:cNvPr id="5" name="object 5" descr=""/>
            <p:cNvSpPr/>
            <p:nvPr/>
          </p:nvSpPr>
          <p:spPr>
            <a:xfrm>
              <a:off x="0" y="3110712"/>
              <a:ext cx="1920239" cy="129539"/>
            </a:xfrm>
            <a:custGeom>
              <a:avLst/>
              <a:gdLst/>
              <a:ahLst/>
              <a:cxnLst/>
              <a:rect l="l" t="t" r="r" b="b"/>
              <a:pathLst>
                <a:path w="1920239" h="129539">
                  <a:moveTo>
                    <a:pt x="1919973" y="0"/>
                  </a:moveTo>
                  <a:lnTo>
                    <a:pt x="0" y="0"/>
                  </a:lnTo>
                  <a:lnTo>
                    <a:pt x="0" y="129286"/>
                  </a:lnTo>
                  <a:lnTo>
                    <a:pt x="1919973" y="129286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1919973" y="3110712"/>
              <a:ext cx="1920239" cy="129539"/>
            </a:xfrm>
            <a:custGeom>
              <a:avLst/>
              <a:gdLst/>
              <a:ahLst/>
              <a:cxnLst/>
              <a:rect l="l" t="t" r="r" b="b"/>
              <a:pathLst>
                <a:path w="1920239" h="129539">
                  <a:moveTo>
                    <a:pt x="1919973" y="0"/>
                  </a:moveTo>
                  <a:lnTo>
                    <a:pt x="0" y="0"/>
                  </a:lnTo>
                  <a:lnTo>
                    <a:pt x="0" y="129286"/>
                  </a:lnTo>
                  <a:lnTo>
                    <a:pt x="1919973" y="129286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3839946" y="3110712"/>
              <a:ext cx="1920239" cy="129539"/>
            </a:xfrm>
            <a:custGeom>
              <a:avLst/>
              <a:gdLst/>
              <a:ahLst/>
              <a:cxnLst/>
              <a:rect l="l" t="t" r="r" b="b"/>
              <a:pathLst>
                <a:path w="1920239" h="129539">
                  <a:moveTo>
                    <a:pt x="1919973" y="0"/>
                  </a:moveTo>
                  <a:lnTo>
                    <a:pt x="0" y="0"/>
                  </a:lnTo>
                  <a:lnTo>
                    <a:pt x="0" y="129286"/>
                  </a:lnTo>
                  <a:lnTo>
                    <a:pt x="1919973" y="129286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 descr="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dirty="0"/>
              <a:t>Lê</a:t>
            </a:r>
            <a:r>
              <a:rPr spc="-25" dirty="0"/>
              <a:t> </a:t>
            </a:r>
            <a:r>
              <a:rPr dirty="0"/>
              <a:t>Đình</a:t>
            </a:r>
            <a:r>
              <a:rPr spc="-20" dirty="0"/>
              <a:t> </a:t>
            </a:r>
            <a:r>
              <a:rPr dirty="0"/>
              <a:t>Phùng</a:t>
            </a:r>
            <a:r>
              <a:rPr spc="-25" dirty="0"/>
              <a:t> </a:t>
            </a:r>
            <a:r>
              <a:rPr dirty="0"/>
              <a:t>–</a:t>
            </a:r>
            <a:r>
              <a:rPr spc="-20" dirty="0"/>
              <a:t> </a:t>
            </a:r>
            <a:r>
              <a:rPr spc="-10" dirty="0"/>
              <a:t>18130181</a:t>
            </a:r>
          </a:p>
        </p:txBody>
      </p:sp>
      <p:sp>
        <p:nvSpPr>
          <p:cNvPr id="9" name="object 9" descr=""/>
          <p:cNvSpPr txBox="1"/>
          <p:nvPr/>
        </p:nvSpPr>
        <p:spPr>
          <a:xfrm>
            <a:off x="2584627" y="3115174"/>
            <a:ext cx="591185" cy="119380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600" dirty="0">
                <a:solidFill>
                  <a:srgbClr val="00AEEF"/>
                </a:solidFill>
                <a:latin typeface="Arial"/>
                <a:cs typeface="Arial"/>
                <a:hlinkClick r:id="rId3" action="ppaction://hlinksldjump"/>
              </a:rPr>
              <a:t>Cải</a:t>
            </a:r>
            <a:r>
              <a:rPr sz="600" spc="-30" dirty="0">
                <a:solidFill>
                  <a:srgbClr val="00AEE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600" dirty="0">
                <a:solidFill>
                  <a:srgbClr val="00AEEF"/>
                </a:solidFill>
                <a:latin typeface="Arial"/>
                <a:cs typeface="Arial"/>
                <a:hlinkClick r:id="rId3" action="ppaction://hlinksldjump"/>
              </a:rPr>
              <a:t>Thiện</a:t>
            </a:r>
            <a:r>
              <a:rPr sz="600" spc="-30" dirty="0">
                <a:solidFill>
                  <a:srgbClr val="00AEE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600" spc="-10" dirty="0">
                <a:solidFill>
                  <a:srgbClr val="00AEEF"/>
                </a:solidFill>
                <a:latin typeface="Arial"/>
                <a:cs typeface="Arial"/>
                <a:hlinkClick r:id="rId3" action="ppaction://hlinksldjump"/>
              </a:rPr>
              <a:t>Apriori</a:t>
            </a:r>
            <a:endParaRPr sz="600">
              <a:latin typeface="Arial"/>
              <a:cs typeface="Arial"/>
            </a:endParaRPr>
          </a:p>
        </p:txBody>
      </p:sp>
      <p:sp>
        <p:nvSpPr>
          <p:cNvPr id="10" name="object 10" descr="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dirty="0"/>
              <a:t>Năm</a:t>
            </a:r>
            <a:r>
              <a:rPr spc="-30" dirty="0"/>
              <a:t> </a:t>
            </a:r>
            <a:r>
              <a:rPr dirty="0"/>
              <a:t>học</a:t>
            </a:r>
            <a:r>
              <a:rPr spc="-25" dirty="0"/>
              <a:t> </a:t>
            </a:r>
            <a:r>
              <a:rPr spc="-10" dirty="0"/>
              <a:t>2025–2026</a:t>
            </a:r>
          </a:p>
        </p:txBody>
      </p:sp>
      <p:sp>
        <p:nvSpPr>
          <p:cNvPr id="11" name="object 11" descr="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70"/>
              </a:spcBef>
            </a:pPr>
            <a:fld id="{81D60167-4931-47E6-BA6A-407CBD079E47}" type="slidenum">
              <a:rPr spc="-10" dirty="0"/>
              <a:t>10</a:t>
            </a:fld>
            <a:r>
              <a:rPr spc="-70" dirty="0"/>
              <a:t> </a:t>
            </a:r>
            <a:r>
              <a:rPr dirty="0"/>
              <a:t>/</a:t>
            </a:r>
            <a:r>
              <a:rPr spc="-65" dirty="0"/>
              <a:t> </a:t>
            </a:r>
            <a:r>
              <a:rPr spc="-25" dirty="0"/>
              <a:t>32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fast">
        <p:cut thruBlk="0"/>
      </p:transition>
    </mc:Choice>
    <mc:Fallback>
      <p:transition spd="fast">
        <p:cut thruBlk="0"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95300" y="40457"/>
            <a:ext cx="4447540" cy="2882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700" dirty="0">
                <a:solidFill>
                  <a:srgbClr val="FFFFFF"/>
                </a:solidFill>
                <a:latin typeface="Arial"/>
                <a:cs typeface="Arial"/>
              </a:rPr>
              <a:t>BIỂU</a:t>
            </a:r>
            <a:r>
              <a:rPr sz="170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700" dirty="0">
                <a:solidFill>
                  <a:srgbClr val="FFFFFF"/>
                </a:solidFill>
                <a:latin typeface="Arial"/>
                <a:cs typeface="Arial"/>
              </a:rPr>
              <a:t>ĐỒ</a:t>
            </a:r>
            <a:r>
              <a:rPr sz="1700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700" dirty="0">
                <a:solidFill>
                  <a:srgbClr val="FFFFFF"/>
                </a:solidFill>
                <a:latin typeface="Arial"/>
                <a:cs typeface="Arial"/>
              </a:rPr>
              <a:t>PHÂN</a:t>
            </a:r>
            <a:r>
              <a:rPr sz="1700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700" spc="-10" dirty="0">
                <a:solidFill>
                  <a:srgbClr val="FFFFFF"/>
                </a:solidFill>
                <a:latin typeface="Arial"/>
                <a:cs typeface="Arial"/>
              </a:rPr>
              <a:t>TÁN</a:t>
            </a:r>
            <a:r>
              <a:rPr sz="1700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700" spc="60" dirty="0">
                <a:solidFill>
                  <a:srgbClr val="FFFFFF"/>
                </a:solidFill>
                <a:latin typeface="Arial"/>
                <a:cs typeface="Arial"/>
              </a:rPr>
              <a:t>HIfiU</a:t>
            </a:r>
            <a:r>
              <a:rPr sz="1700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700" spc="-25" dirty="0">
                <a:solidFill>
                  <a:srgbClr val="FFFFFF"/>
                </a:solidFill>
                <a:latin typeface="Arial"/>
                <a:cs typeface="Arial"/>
              </a:rPr>
              <a:t>SUẤT</a:t>
            </a:r>
            <a:r>
              <a:rPr sz="1700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700" spc="-10" dirty="0">
                <a:solidFill>
                  <a:srgbClr val="FFFFFF"/>
                </a:solidFill>
                <a:latin typeface="Arial"/>
                <a:cs typeface="Arial"/>
              </a:rPr>
              <a:t>THỜI</a:t>
            </a:r>
            <a:r>
              <a:rPr sz="1700" spc="-20" dirty="0">
                <a:solidFill>
                  <a:srgbClr val="FFFFFF"/>
                </a:solidFill>
                <a:latin typeface="Arial"/>
                <a:cs typeface="Arial"/>
              </a:rPr>
              <a:t> GIAN</a:t>
            </a:r>
            <a:endParaRPr sz="1700">
              <a:latin typeface="Arial"/>
              <a:cs typeface="Arial"/>
            </a:endParaRPr>
          </a:p>
        </p:txBody>
      </p:sp>
      <p:pic>
        <p:nvPicPr>
          <p:cNvPr id="3" name="object 3" descr=""/>
          <p:cNvPicPr/>
          <p:nvPr/>
        </p:nvPicPr>
        <p:blipFill>
          <a:blip r:embed="rId2"/>
          <a:stretch>
            <a:fillRect/>
          </a:stretch>
        </p:blipFill>
        <p:spPr>
          <a:xfrm>
            <a:off x="1733984" y="767806"/>
            <a:ext cx="2316992" cy="1874300"/>
          </a:xfrm>
          <a:prstGeom prst="rect">
            <a:avLst/>
          </a:prstGeom>
        </p:spPr>
      </p:pic>
      <p:grpSp>
        <p:nvGrpSpPr>
          <p:cNvPr id="4" name="object 4" descr=""/>
          <p:cNvGrpSpPr/>
          <p:nvPr/>
        </p:nvGrpSpPr>
        <p:grpSpPr>
          <a:xfrm>
            <a:off x="0" y="3110712"/>
            <a:ext cx="5760085" cy="129539"/>
            <a:chOff x="0" y="3110712"/>
            <a:chExt cx="5760085" cy="129539"/>
          </a:xfrm>
        </p:grpSpPr>
        <p:sp>
          <p:nvSpPr>
            <p:cNvPr id="5" name="object 5" descr=""/>
            <p:cNvSpPr/>
            <p:nvPr/>
          </p:nvSpPr>
          <p:spPr>
            <a:xfrm>
              <a:off x="0" y="3110712"/>
              <a:ext cx="1920239" cy="129539"/>
            </a:xfrm>
            <a:custGeom>
              <a:avLst/>
              <a:gdLst/>
              <a:ahLst/>
              <a:cxnLst/>
              <a:rect l="l" t="t" r="r" b="b"/>
              <a:pathLst>
                <a:path w="1920239" h="129539">
                  <a:moveTo>
                    <a:pt x="1919973" y="0"/>
                  </a:moveTo>
                  <a:lnTo>
                    <a:pt x="0" y="0"/>
                  </a:lnTo>
                  <a:lnTo>
                    <a:pt x="0" y="129286"/>
                  </a:lnTo>
                  <a:lnTo>
                    <a:pt x="1919973" y="129286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1919973" y="3110712"/>
              <a:ext cx="1920239" cy="129539"/>
            </a:xfrm>
            <a:custGeom>
              <a:avLst/>
              <a:gdLst/>
              <a:ahLst/>
              <a:cxnLst/>
              <a:rect l="l" t="t" r="r" b="b"/>
              <a:pathLst>
                <a:path w="1920239" h="129539">
                  <a:moveTo>
                    <a:pt x="1919973" y="0"/>
                  </a:moveTo>
                  <a:lnTo>
                    <a:pt x="0" y="0"/>
                  </a:lnTo>
                  <a:lnTo>
                    <a:pt x="0" y="129286"/>
                  </a:lnTo>
                  <a:lnTo>
                    <a:pt x="1919973" y="129286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3839946" y="3110712"/>
              <a:ext cx="1920239" cy="129539"/>
            </a:xfrm>
            <a:custGeom>
              <a:avLst/>
              <a:gdLst/>
              <a:ahLst/>
              <a:cxnLst/>
              <a:rect l="l" t="t" r="r" b="b"/>
              <a:pathLst>
                <a:path w="1920239" h="129539">
                  <a:moveTo>
                    <a:pt x="1919973" y="0"/>
                  </a:moveTo>
                  <a:lnTo>
                    <a:pt x="0" y="0"/>
                  </a:lnTo>
                  <a:lnTo>
                    <a:pt x="0" y="129286"/>
                  </a:lnTo>
                  <a:lnTo>
                    <a:pt x="1919973" y="129286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 descr="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dirty="0"/>
              <a:t>Lê</a:t>
            </a:r>
            <a:r>
              <a:rPr spc="-25" dirty="0"/>
              <a:t> </a:t>
            </a:r>
            <a:r>
              <a:rPr dirty="0"/>
              <a:t>Đình</a:t>
            </a:r>
            <a:r>
              <a:rPr spc="-20" dirty="0"/>
              <a:t> </a:t>
            </a:r>
            <a:r>
              <a:rPr dirty="0"/>
              <a:t>Phùng</a:t>
            </a:r>
            <a:r>
              <a:rPr spc="-25" dirty="0"/>
              <a:t> </a:t>
            </a:r>
            <a:r>
              <a:rPr dirty="0"/>
              <a:t>–</a:t>
            </a:r>
            <a:r>
              <a:rPr spc="-20" dirty="0"/>
              <a:t> </a:t>
            </a:r>
            <a:r>
              <a:rPr spc="-10" dirty="0"/>
              <a:t>18130181</a:t>
            </a:r>
          </a:p>
        </p:txBody>
      </p:sp>
      <p:sp>
        <p:nvSpPr>
          <p:cNvPr id="9" name="object 9" descr=""/>
          <p:cNvSpPr txBox="1"/>
          <p:nvPr/>
        </p:nvSpPr>
        <p:spPr>
          <a:xfrm>
            <a:off x="2584627" y="3115174"/>
            <a:ext cx="591185" cy="119380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600" dirty="0">
                <a:solidFill>
                  <a:srgbClr val="00AEEF"/>
                </a:solidFill>
                <a:latin typeface="Arial"/>
                <a:cs typeface="Arial"/>
                <a:hlinkClick r:id="rId3" action="ppaction://hlinksldjump"/>
              </a:rPr>
              <a:t>Cải</a:t>
            </a:r>
            <a:r>
              <a:rPr sz="600" spc="-30" dirty="0">
                <a:solidFill>
                  <a:srgbClr val="00AEE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600" dirty="0">
                <a:solidFill>
                  <a:srgbClr val="00AEEF"/>
                </a:solidFill>
                <a:latin typeface="Arial"/>
                <a:cs typeface="Arial"/>
                <a:hlinkClick r:id="rId3" action="ppaction://hlinksldjump"/>
              </a:rPr>
              <a:t>Thiện</a:t>
            </a:r>
            <a:r>
              <a:rPr sz="600" spc="-30" dirty="0">
                <a:solidFill>
                  <a:srgbClr val="00AEE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600" spc="-10" dirty="0">
                <a:solidFill>
                  <a:srgbClr val="00AEEF"/>
                </a:solidFill>
                <a:latin typeface="Arial"/>
                <a:cs typeface="Arial"/>
                <a:hlinkClick r:id="rId3" action="ppaction://hlinksldjump"/>
              </a:rPr>
              <a:t>Apriori</a:t>
            </a:r>
            <a:endParaRPr sz="600">
              <a:latin typeface="Arial"/>
              <a:cs typeface="Arial"/>
            </a:endParaRPr>
          </a:p>
        </p:txBody>
      </p:sp>
      <p:sp>
        <p:nvSpPr>
          <p:cNvPr id="10" name="object 10" descr="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dirty="0"/>
              <a:t>Năm</a:t>
            </a:r>
            <a:r>
              <a:rPr spc="-30" dirty="0"/>
              <a:t> </a:t>
            </a:r>
            <a:r>
              <a:rPr dirty="0"/>
              <a:t>học</a:t>
            </a:r>
            <a:r>
              <a:rPr spc="-25" dirty="0"/>
              <a:t> </a:t>
            </a:r>
            <a:r>
              <a:rPr spc="-10" dirty="0"/>
              <a:t>2025–2026</a:t>
            </a:r>
          </a:p>
        </p:txBody>
      </p:sp>
      <p:sp>
        <p:nvSpPr>
          <p:cNvPr id="11" name="object 11" descr="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70"/>
              </a:spcBef>
            </a:pPr>
            <a:fld id="{81D60167-4931-47E6-BA6A-407CBD079E47}" type="slidenum">
              <a:rPr spc="-10" dirty="0"/>
              <a:t>10</a:t>
            </a:fld>
            <a:r>
              <a:rPr spc="-70" dirty="0"/>
              <a:t> </a:t>
            </a:r>
            <a:r>
              <a:rPr dirty="0"/>
              <a:t>/</a:t>
            </a:r>
            <a:r>
              <a:rPr spc="-65" dirty="0"/>
              <a:t> </a:t>
            </a:r>
            <a:r>
              <a:rPr spc="-25" dirty="0"/>
              <a:t>32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fast">
        <p:cut thruBlk="0"/>
      </p:transition>
    </mc:Choice>
    <mc:Fallback>
      <p:transition spd="fast">
        <p:cut thruBlk="0"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0"/>
            <a:ext cx="5760085" cy="349250"/>
          </a:xfrm>
          <a:custGeom>
            <a:avLst/>
            <a:gdLst/>
            <a:ahLst/>
            <a:cxnLst/>
            <a:rect l="l" t="t" r="r" b="b"/>
            <a:pathLst>
              <a:path w="5760085" h="349250">
                <a:moveTo>
                  <a:pt x="5759996" y="0"/>
                </a:moveTo>
                <a:lnTo>
                  <a:pt x="0" y="0"/>
                </a:lnTo>
                <a:lnTo>
                  <a:pt x="0" y="348729"/>
                </a:lnTo>
                <a:lnTo>
                  <a:pt x="5759996" y="348729"/>
                </a:lnTo>
                <a:lnTo>
                  <a:pt x="5759996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925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/>
              <a:t>HẠN</a:t>
            </a:r>
            <a:r>
              <a:rPr spc="5" dirty="0"/>
              <a:t> </a:t>
            </a:r>
            <a:r>
              <a:rPr dirty="0"/>
              <a:t>CHẾ</a:t>
            </a:r>
            <a:r>
              <a:rPr spc="5" dirty="0"/>
              <a:t> </a:t>
            </a:r>
            <a:r>
              <a:rPr dirty="0"/>
              <a:t>CỦA</a:t>
            </a:r>
            <a:r>
              <a:rPr spc="10" dirty="0"/>
              <a:t> </a:t>
            </a:r>
            <a:r>
              <a:rPr spc="-10" dirty="0"/>
              <a:t>APRIORI</a:t>
            </a:r>
          </a:p>
        </p:txBody>
      </p:sp>
      <p:sp>
        <p:nvSpPr>
          <p:cNvPr id="4" name="object 4" descr=""/>
          <p:cNvSpPr txBox="1"/>
          <p:nvPr/>
        </p:nvSpPr>
        <p:spPr>
          <a:xfrm>
            <a:off x="110528" y="367665"/>
            <a:ext cx="3439160" cy="26663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05740" marR="1078230" indent="-168275">
              <a:lnSpc>
                <a:spcPct val="120300"/>
              </a:lnSpc>
              <a:spcBef>
                <a:spcPts val="100"/>
              </a:spcBef>
              <a:buAutoNum type="arabicPeriod"/>
              <a:tabLst>
                <a:tab pos="335280" algn="l"/>
              </a:tabLst>
            </a:pPr>
            <a:r>
              <a:rPr sz="1200" b="1" dirty="0">
                <a:latin typeface="Arial"/>
                <a:cs typeface="Arial"/>
              </a:rPr>
              <a:t>Quét</a:t>
            </a:r>
            <a:r>
              <a:rPr sz="1200" b="1" spc="-40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cơ</a:t>
            </a:r>
            <a:r>
              <a:rPr sz="1200" b="1" spc="-40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sở</a:t>
            </a:r>
            <a:r>
              <a:rPr sz="1200" b="1" spc="-40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dữ</a:t>
            </a:r>
            <a:r>
              <a:rPr sz="1200" b="1" spc="-40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liệu</a:t>
            </a:r>
            <a:r>
              <a:rPr sz="1200" b="1" spc="-35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nhiều</a:t>
            </a:r>
            <a:r>
              <a:rPr sz="1200" b="1" spc="-40" dirty="0">
                <a:latin typeface="Arial"/>
                <a:cs typeface="Arial"/>
              </a:rPr>
              <a:t> </a:t>
            </a:r>
            <a:r>
              <a:rPr sz="1200" b="1" spc="-25" dirty="0">
                <a:latin typeface="Arial"/>
                <a:cs typeface="Arial"/>
              </a:rPr>
              <a:t>lần </a:t>
            </a:r>
            <a:r>
              <a:rPr sz="1200" b="1" spc="-25" dirty="0">
                <a:latin typeface="Arial"/>
                <a:cs typeface="Arial"/>
              </a:rPr>
              <a:t>	</a:t>
            </a:r>
            <a:r>
              <a:rPr sz="1200" dirty="0">
                <a:latin typeface="Arial"/>
                <a:cs typeface="Arial"/>
              </a:rPr>
              <a:t>Cần</a:t>
            </a:r>
            <a:r>
              <a:rPr sz="1200" spc="-1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K</a:t>
            </a:r>
            <a:r>
              <a:rPr sz="1200" spc="-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lần</a:t>
            </a:r>
            <a:r>
              <a:rPr sz="1200" spc="-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quét</a:t>
            </a:r>
            <a:r>
              <a:rPr sz="1200" spc="-1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cho</a:t>
            </a:r>
            <a:r>
              <a:rPr sz="1200" spc="-5" dirty="0">
                <a:latin typeface="Arial"/>
                <a:cs typeface="Arial"/>
              </a:rPr>
              <a:t> </a:t>
            </a:r>
            <a:r>
              <a:rPr sz="1200" spc="-30" dirty="0">
                <a:latin typeface="Arial"/>
                <a:cs typeface="Arial"/>
              </a:rPr>
              <a:t>k-</a:t>
            </a:r>
            <a:r>
              <a:rPr sz="1200" spc="-10" dirty="0">
                <a:latin typeface="Arial"/>
                <a:cs typeface="Arial"/>
              </a:rPr>
              <a:t>itemsets </a:t>
            </a:r>
            <a:r>
              <a:rPr sz="1200" spc="-10" dirty="0">
                <a:latin typeface="Arial"/>
                <a:cs typeface="Arial"/>
              </a:rPr>
              <a:t>	</a:t>
            </a:r>
            <a:r>
              <a:rPr sz="1200" spc="-20" dirty="0">
                <a:latin typeface="Arial"/>
                <a:cs typeface="Arial"/>
              </a:rPr>
              <a:t>Tốn</a:t>
            </a:r>
            <a:r>
              <a:rPr sz="1200" spc="-2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nhiều</a:t>
            </a:r>
            <a:r>
              <a:rPr sz="1200" spc="-2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thao</a:t>
            </a:r>
            <a:r>
              <a:rPr sz="1200" spc="-2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tác</a:t>
            </a:r>
            <a:r>
              <a:rPr sz="1200" spc="-25" dirty="0">
                <a:latin typeface="Arial"/>
                <a:cs typeface="Arial"/>
              </a:rPr>
              <a:t> I/O</a:t>
            </a:r>
            <a:endParaRPr sz="1200">
              <a:latin typeface="Arial"/>
              <a:cs typeface="Arial"/>
            </a:endParaRPr>
          </a:p>
          <a:p>
            <a:pPr marL="206375" indent="-168275">
              <a:lnSpc>
                <a:spcPct val="100000"/>
              </a:lnSpc>
              <a:spcBef>
                <a:spcPts val="295"/>
              </a:spcBef>
              <a:buAutoNum type="arabicPeriod"/>
              <a:tabLst>
                <a:tab pos="206375" algn="l"/>
              </a:tabLst>
            </a:pPr>
            <a:r>
              <a:rPr sz="1200" b="1" spc="-20" dirty="0">
                <a:latin typeface="Arial"/>
                <a:cs typeface="Arial"/>
              </a:rPr>
              <a:t>Tập</a:t>
            </a:r>
            <a:r>
              <a:rPr sz="1200" b="1" spc="-55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ứng</a:t>
            </a:r>
            <a:r>
              <a:rPr sz="1200" b="1" spc="-50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viên</a:t>
            </a:r>
            <a:r>
              <a:rPr sz="1200" b="1" spc="-50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lớn</a:t>
            </a:r>
            <a:r>
              <a:rPr sz="1200" b="1" spc="-50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(Large</a:t>
            </a:r>
            <a:r>
              <a:rPr sz="1200" b="1" spc="-50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Candidate</a:t>
            </a:r>
            <a:r>
              <a:rPr sz="1200" b="1" spc="-50" dirty="0">
                <a:latin typeface="Arial"/>
                <a:cs typeface="Arial"/>
              </a:rPr>
              <a:t> </a:t>
            </a:r>
            <a:r>
              <a:rPr sz="1200" b="1" spc="-10" dirty="0">
                <a:latin typeface="Arial"/>
                <a:cs typeface="Arial"/>
              </a:rPr>
              <a:t>Sets)</a:t>
            </a:r>
            <a:endParaRPr sz="1200">
              <a:latin typeface="Arial"/>
              <a:cs typeface="Arial"/>
            </a:endParaRPr>
          </a:p>
          <a:p>
            <a:pPr marL="335280" marR="1073785">
              <a:lnSpc>
                <a:spcPct val="120200"/>
              </a:lnSpc>
            </a:pPr>
            <a:r>
              <a:rPr sz="1200" spc="-20" dirty="0">
                <a:latin typeface="Arial"/>
                <a:cs typeface="Arial"/>
              </a:rPr>
              <a:t>Tăng</a:t>
            </a:r>
            <a:r>
              <a:rPr sz="1200" spc="-25" dirty="0">
                <a:latin typeface="Arial"/>
                <a:cs typeface="Arial"/>
              </a:rPr>
              <a:t> trưởng</a:t>
            </a:r>
            <a:r>
              <a:rPr sz="1200" spc="-2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theo</a:t>
            </a:r>
            <a:r>
              <a:rPr sz="1200" spc="-2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cấp</a:t>
            </a:r>
            <a:r>
              <a:rPr sz="1200" spc="-2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số</a:t>
            </a:r>
            <a:r>
              <a:rPr sz="1200" spc="-20" dirty="0">
                <a:latin typeface="Arial"/>
                <a:cs typeface="Arial"/>
              </a:rPr>
              <a:t> nhân </a:t>
            </a:r>
            <a:r>
              <a:rPr sz="1200" dirty="0">
                <a:latin typeface="Arial"/>
                <a:cs typeface="Arial"/>
              </a:rPr>
              <a:t>Có</a:t>
            </a:r>
            <a:r>
              <a:rPr sz="1200" spc="-1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thể</a:t>
            </a:r>
            <a:r>
              <a:rPr sz="1200" spc="-1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có</a:t>
            </a:r>
            <a:r>
              <a:rPr sz="1200" spc="-1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2</a:t>
            </a:r>
            <a:r>
              <a:rPr sz="1350" i="1" baseline="27777" dirty="0">
                <a:latin typeface="Arial"/>
                <a:cs typeface="Arial"/>
              </a:rPr>
              <a:t>k</a:t>
            </a:r>
            <a:r>
              <a:rPr sz="1350" i="1" spc="300" baseline="27777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-</a:t>
            </a:r>
            <a:r>
              <a:rPr sz="1200" spc="-1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1</a:t>
            </a:r>
            <a:r>
              <a:rPr sz="1200" spc="-10" dirty="0">
                <a:latin typeface="Arial"/>
                <a:cs typeface="Arial"/>
              </a:rPr>
              <a:t> itemsets</a:t>
            </a:r>
            <a:endParaRPr sz="1200">
              <a:latin typeface="Arial"/>
              <a:cs typeface="Arial"/>
            </a:endParaRPr>
          </a:p>
          <a:p>
            <a:pPr marL="206375" indent="-168275">
              <a:lnSpc>
                <a:spcPct val="100000"/>
              </a:lnSpc>
              <a:spcBef>
                <a:spcPts val="295"/>
              </a:spcBef>
              <a:buAutoNum type="arabicPeriod" startAt="3"/>
              <a:tabLst>
                <a:tab pos="206375" algn="l"/>
              </a:tabLst>
            </a:pPr>
            <a:r>
              <a:rPr sz="1200" b="1" dirty="0">
                <a:latin typeface="Arial"/>
                <a:cs typeface="Arial"/>
              </a:rPr>
              <a:t>Sử</a:t>
            </a:r>
            <a:r>
              <a:rPr sz="1200" b="1" spc="-40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dụng</a:t>
            </a:r>
            <a:r>
              <a:rPr sz="1200" b="1" spc="-40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bộ</a:t>
            </a:r>
            <a:r>
              <a:rPr sz="1200" b="1" spc="-35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nhớ</a:t>
            </a:r>
            <a:r>
              <a:rPr sz="1200" b="1" spc="-40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(Memory</a:t>
            </a:r>
            <a:r>
              <a:rPr sz="1200" b="1" spc="-40" dirty="0">
                <a:latin typeface="Arial"/>
                <a:cs typeface="Arial"/>
              </a:rPr>
              <a:t> </a:t>
            </a:r>
            <a:r>
              <a:rPr sz="1200" b="1" spc="-10" dirty="0">
                <a:latin typeface="Arial"/>
                <a:cs typeface="Arial"/>
              </a:rPr>
              <a:t>Usage)</a:t>
            </a:r>
            <a:endParaRPr sz="1200">
              <a:latin typeface="Arial"/>
              <a:cs typeface="Arial"/>
            </a:endParaRPr>
          </a:p>
          <a:p>
            <a:pPr marL="335280" marR="345440">
              <a:lnSpc>
                <a:spcPct val="120200"/>
              </a:lnSpc>
              <a:spcBef>
                <a:spcPts val="5"/>
              </a:spcBef>
            </a:pPr>
            <a:r>
              <a:rPr sz="1200" dirty="0">
                <a:latin typeface="Arial"/>
                <a:cs typeface="Arial"/>
              </a:rPr>
              <a:t>Phải</a:t>
            </a:r>
            <a:r>
              <a:rPr sz="1200" spc="-3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lưu</a:t>
            </a:r>
            <a:r>
              <a:rPr sz="1200" spc="-3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tất</a:t>
            </a:r>
            <a:r>
              <a:rPr sz="1200" spc="-3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cả</a:t>
            </a:r>
            <a:r>
              <a:rPr sz="1200" spc="-2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các</a:t>
            </a:r>
            <a:r>
              <a:rPr sz="1200" spc="-3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ứng</a:t>
            </a:r>
            <a:r>
              <a:rPr sz="1200" spc="-3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viên</a:t>
            </a:r>
            <a:r>
              <a:rPr sz="1200" spc="-25" dirty="0">
                <a:latin typeface="Arial"/>
                <a:cs typeface="Arial"/>
              </a:rPr>
              <a:t> </a:t>
            </a:r>
            <a:r>
              <a:rPr sz="1200" spc="-10" dirty="0">
                <a:latin typeface="Arial"/>
                <a:cs typeface="Arial"/>
              </a:rPr>
              <a:t>(candidates) </a:t>
            </a:r>
            <a:r>
              <a:rPr sz="1200" dirty="0">
                <a:latin typeface="Arial"/>
                <a:cs typeface="Arial"/>
              </a:rPr>
              <a:t>Khó</a:t>
            </a:r>
            <a:r>
              <a:rPr sz="1200" spc="-30" dirty="0">
                <a:latin typeface="Arial"/>
                <a:cs typeface="Arial"/>
              </a:rPr>
              <a:t> </a:t>
            </a:r>
            <a:r>
              <a:rPr sz="1200" spc="-50" dirty="0">
                <a:latin typeface="Arial"/>
                <a:cs typeface="Arial"/>
              </a:rPr>
              <a:t>mở</a:t>
            </a:r>
            <a:r>
              <a:rPr sz="1200" spc="-2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rộng</a:t>
            </a:r>
            <a:r>
              <a:rPr sz="1200" spc="-3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(scale)</a:t>
            </a:r>
            <a:r>
              <a:rPr sz="1200" spc="-25" dirty="0">
                <a:latin typeface="Arial"/>
                <a:cs typeface="Arial"/>
              </a:rPr>
              <a:t> </a:t>
            </a:r>
            <a:r>
              <a:rPr sz="1200" spc="-35" dirty="0">
                <a:latin typeface="Arial"/>
                <a:cs typeface="Arial"/>
              </a:rPr>
              <a:t>với</a:t>
            </a:r>
            <a:r>
              <a:rPr sz="1200" spc="-2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dataset</a:t>
            </a:r>
            <a:r>
              <a:rPr sz="1200" spc="-30" dirty="0">
                <a:latin typeface="Arial"/>
                <a:cs typeface="Arial"/>
              </a:rPr>
              <a:t> </a:t>
            </a:r>
            <a:r>
              <a:rPr sz="1200" spc="-25" dirty="0">
                <a:latin typeface="Arial"/>
                <a:cs typeface="Arial"/>
              </a:rPr>
              <a:t>lớn</a:t>
            </a:r>
            <a:endParaRPr sz="1200">
              <a:latin typeface="Arial"/>
              <a:cs typeface="Arial"/>
            </a:endParaRPr>
          </a:p>
          <a:p>
            <a:pPr marL="206375" indent="-168275">
              <a:lnSpc>
                <a:spcPct val="100000"/>
              </a:lnSpc>
              <a:spcBef>
                <a:spcPts val="290"/>
              </a:spcBef>
              <a:buAutoNum type="arabicPeriod" startAt="4"/>
              <a:tabLst>
                <a:tab pos="206375" algn="l"/>
              </a:tabLst>
            </a:pPr>
            <a:r>
              <a:rPr sz="1200" b="1" dirty="0">
                <a:latin typeface="Arial"/>
                <a:cs typeface="Arial"/>
              </a:rPr>
              <a:t>Chi</a:t>
            </a:r>
            <a:r>
              <a:rPr sz="1200" b="1" spc="-20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phí</a:t>
            </a:r>
            <a:r>
              <a:rPr sz="1200" b="1" spc="-15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tính</a:t>
            </a:r>
            <a:r>
              <a:rPr sz="1200" b="1" spc="-15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toán</a:t>
            </a:r>
            <a:r>
              <a:rPr sz="1200" b="1" spc="-15" dirty="0">
                <a:latin typeface="Arial"/>
                <a:cs typeface="Arial"/>
              </a:rPr>
              <a:t> </a:t>
            </a:r>
            <a:r>
              <a:rPr sz="1200" b="1" spc="-10" dirty="0">
                <a:latin typeface="Arial"/>
                <a:cs typeface="Arial"/>
              </a:rPr>
              <a:t>(Computational</a:t>
            </a:r>
            <a:r>
              <a:rPr sz="1200" b="1" spc="-15" dirty="0">
                <a:latin typeface="Arial"/>
                <a:cs typeface="Arial"/>
              </a:rPr>
              <a:t> </a:t>
            </a:r>
            <a:r>
              <a:rPr sz="1200" b="1" spc="-10" dirty="0">
                <a:latin typeface="Arial"/>
                <a:cs typeface="Arial"/>
              </a:rPr>
              <a:t>Cost)</a:t>
            </a:r>
            <a:endParaRPr sz="1200">
              <a:latin typeface="Arial"/>
              <a:cs typeface="Arial"/>
            </a:endParaRPr>
          </a:p>
          <a:p>
            <a:pPr marL="335280" marR="30480">
              <a:lnSpc>
                <a:spcPct val="120200"/>
              </a:lnSpc>
              <a:spcBef>
                <a:spcPts val="5"/>
              </a:spcBef>
            </a:pPr>
            <a:r>
              <a:rPr sz="1200" dirty="0">
                <a:latin typeface="Arial"/>
                <a:cs typeface="Arial"/>
              </a:rPr>
              <a:t>Sinh</a:t>
            </a:r>
            <a:r>
              <a:rPr sz="1200" spc="-2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ứng</a:t>
            </a:r>
            <a:r>
              <a:rPr sz="1200" spc="-2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viên</a:t>
            </a:r>
            <a:r>
              <a:rPr sz="1200" spc="-2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(candidate</a:t>
            </a:r>
            <a:r>
              <a:rPr sz="1200" spc="-2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generation)</a:t>
            </a:r>
            <a:r>
              <a:rPr sz="1200" spc="-2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tốn</a:t>
            </a:r>
            <a:r>
              <a:rPr sz="1200" spc="-25" dirty="0">
                <a:latin typeface="Arial"/>
                <a:cs typeface="Arial"/>
              </a:rPr>
              <a:t> kém </a:t>
            </a:r>
            <a:r>
              <a:rPr sz="1200" dirty="0">
                <a:latin typeface="Arial"/>
                <a:cs typeface="Arial"/>
              </a:rPr>
              <a:t>Đếm</a:t>
            </a:r>
            <a:r>
              <a:rPr sz="1200" spc="-1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support</a:t>
            </a:r>
            <a:r>
              <a:rPr sz="1200" spc="-1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rất</a:t>
            </a:r>
            <a:r>
              <a:rPr sz="1200" spc="-1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tốn</a:t>
            </a:r>
            <a:r>
              <a:rPr sz="1200" spc="-15" dirty="0">
                <a:latin typeface="Arial"/>
                <a:cs typeface="Arial"/>
              </a:rPr>
              <a:t> </a:t>
            </a:r>
            <a:r>
              <a:rPr sz="1200" spc="-25" dirty="0">
                <a:latin typeface="Arial"/>
                <a:cs typeface="Arial"/>
              </a:rPr>
              <a:t>kém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5" name="object 5" descr=""/>
          <p:cNvGrpSpPr/>
          <p:nvPr/>
        </p:nvGrpSpPr>
        <p:grpSpPr>
          <a:xfrm>
            <a:off x="0" y="3110712"/>
            <a:ext cx="5760085" cy="129539"/>
            <a:chOff x="0" y="3110712"/>
            <a:chExt cx="5760085" cy="129539"/>
          </a:xfrm>
        </p:grpSpPr>
        <p:sp>
          <p:nvSpPr>
            <p:cNvPr id="6" name="object 6" descr=""/>
            <p:cNvSpPr/>
            <p:nvPr/>
          </p:nvSpPr>
          <p:spPr>
            <a:xfrm>
              <a:off x="0" y="3110712"/>
              <a:ext cx="1920239" cy="129539"/>
            </a:xfrm>
            <a:custGeom>
              <a:avLst/>
              <a:gdLst/>
              <a:ahLst/>
              <a:cxnLst/>
              <a:rect l="l" t="t" r="r" b="b"/>
              <a:pathLst>
                <a:path w="1920239" h="129539">
                  <a:moveTo>
                    <a:pt x="1919973" y="0"/>
                  </a:moveTo>
                  <a:lnTo>
                    <a:pt x="0" y="0"/>
                  </a:lnTo>
                  <a:lnTo>
                    <a:pt x="0" y="129286"/>
                  </a:lnTo>
                  <a:lnTo>
                    <a:pt x="1919973" y="129286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1919973" y="3110712"/>
              <a:ext cx="1920239" cy="129539"/>
            </a:xfrm>
            <a:custGeom>
              <a:avLst/>
              <a:gdLst/>
              <a:ahLst/>
              <a:cxnLst/>
              <a:rect l="l" t="t" r="r" b="b"/>
              <a:pathLst>
                <a:path w="1920239" h="129539">
                  <a:moveTo>
                    <a:pt x="1919973" y="0"/>
                  </a:moveTo>
                  <a:lnTo>
                    <a:pt x="0" y="0"/>
                  </a:lnTo>
                  <a:lnTo>
                    <a:pt x="0" y="129286"/>
                  </a:lnTo>
                  <a:lnTo>
                    <a:pt x="1919973" y="129286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3839946" y="3110712"/>
              <a:ext cx="1920239" cy="129539"/>
            </a:xfrm>
            <a:custGeom>
              <a:avLst/>
              <a:gdLst/>
              <a:ahLst/>
              <a:cxnLst/>
              <a:rect l="l" t="t" r="r" b="b"/>
              <a:pathLst>
                <a:path w="1920239" h="129539">
                  <a:moveTo>
                    <a:pt x="1919973" y="0"/>
                  </a:moveTo>
                  <a:lnTo>
                    <a:pt x="0" y="0"/>
                  </a:lnTo>
                  <a:lnTo>
                    <a:pt x="0" y="129286"/>
                  </a:lnTo>
                  <a:lnTo>
                    <a:pt x="1919973" y="129286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 descr="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dirty="0"/>
              <a:t>Lê</a:t>
            </a:r>
            <a:r>
              <a:rPr spc="-25" dirty="0"/>
              <a:t> </a:t>
            </a:r>
            <a:r>
              <a:rPr dirty="0"/>
              <a:t>Đình</a:t>
            </a:r>
            <a:r>
              <a:rPr spc="-20" dirty="0"/>
              <a:t> </a:t>
            </a:r>
            <a:r>
              <a:rPr dirty="0"/>
              <a:t>Phùng</a:t>
            </a:r>
            <a:r>
              <a:rPr spc="-25" dirty="0"/>
              <a:t> </a:t>
            </a:r>
            <a:r>
              <a:rPr dirty="0"/>
              <a:t>–</a:t>
            </a:r>
            <a:r>
              <a:rPr spc="-20" dirty="0"/>
              <a:t> </a:t>
            </a:r>
            <a:r>
              <a:rPr spc="-10" dirty="0"/>
              <a:t>18130181</a:t>
            </a:r>
          </a:p>
        </p:txBody>
      </p:sp>
      <p:sp>
        <p:nvSpPr>
          <p:cNvPr id="10" name="object 10" descr=""/>
          <p:cNvSpPr txBox="1"/>
          <p:nvPr/>
        </p:nvSpPr>
        <p:spPr>
          <a:xfrm>
            <a:off x="2584627" y="3115174"/>
            <a:ext cx="591185" cy="119380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600" dirty="0">
                <a:solidFill>
                  <a:srgbClr val="00AEEF"/>
                </a:solidFill>
                <a:latin typeface="Arial"/>
                <a:cs typeface="Arial"/>
                <a:hlinkClick r:id="rId2" action="ppaction://hlinksldjump"/>
              </a:rPr>
              <a:t>Cải</a:t>
            </a:r>
            <a:r>
              <a:rPr sz="600" spc="-30" dirty="0">
                <a:solidFill>
                  <a:srgbClr val="00AEEF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sz="600" dirty="0">
                <a:solidFill>
                  <a:srgbClr val="00AEEF"/>
                </a:solidFill>
                <a:latin typeface="Arial"/>
                <a:cs typeface="Arial"/>
                <a:hlinkClick r:id="rId2" action="ppaction://hlinksldjump"/>
              </a:rPr>
              <a:t>Thiện</a:t>
            </a:r>
            <a:r>
              <a:rPr sz="600" spc="-30" dirty="0">
                <a:solidFill>
                  <a:srgbClr val="00AEEF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sz="600" spc="-10" dirty="0">
                <a:solidFill>
                  <a:srgbClr val="00AEEF"/>
                </a:solidFill>
                <a:latin typeface="Arial"/>
                <a:cs typeface="Arial"/>
                <a:hlinkClick r:id="rId2" action="ppaction://hlinksldjump"/>
              </a:rPr>
              <a:t>Apriori</a:t>
            </a:r>
            <a:endParaRPr sz="600">
              <a:latin typeface="Arial"/>
              <a:cs typeface="Arial"/>
            </a:endParaRPr>
          </a:p>
        </p:txBody>
      </p:sp>
      <p:sp>
        <p:nvSpPr>
          <p:cNvPr id="11" name="object 11" descr="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dirty="0"/>
              <a:t>Năm</a:t>
            </a:r>
            <a:r>
              <a:rPr spc="-30" dirty="0"/>
              <a:t> </a:t>
            </a:r>
            <a:r>
              <a:rPr dirty="0"/>
              <a:t>học</a:t>
            </a:r>
            <a:r>
              <a:rPr spc="-25" dirty="0"/>
              <a:t> </a:t>
            </a:r>
            <a:r>
              <a:rPr spc="-10" dirty="0"/>
              <a:t>2025–2026</a:t>
            </a:r>
          </a:p>
        </p:txBody>
      </p:sp>
      <p:sp>
        <p:nvSpPr>
          <p:cNvPr id="12" name="object 12" descr="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70"/>
              </a:spcBef>
            </a:pPr>
            <a:fld id="{81D60167-4931-47E6-BA6A-407CBD079E47}" type="slidenum">
              <a:rPr spc="-10" dirty="0"/>
              <a:t>10</a:t>
            </a:fld>
            <a:r>
              <a:rPr spc="-70" dirty="0"/>
              <a:t> </a:t>
            </a:r>
            <a:r>
              <a:rPr dirty="0"/>
              <a:t>/</a:t>
            </a:r>
            <a:r>
              <a:rPr spc="-65" dirty="0"/>
              <a:t> </a:t>
            </a:r>
            <a:r>
              <a:rPr spc="-25" dirty="0"/>
              <a:t>32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fast">
        <p:cut thruBlk="0"/>
      </p:transition>
    </mc:Choice>
    <mc:Fallback>
      <p:transition spd="fast">
        <p:cut thruBlk="0"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0"/>
            <a:ext cx="5760085" cy="349250"/>
          </a:xfrm>
          <a:custGeom>
            <a:avLst/>
            <a:gdLst/>
            <a:ahLst/>
            <a:cxnLst/>
            <a:rect l="l" t="t" r="r" b="b"/>
            <a:pathLst>
              <a:path w="5760085" h="349250">
                <a:moveTo>
                  <a:pt x="5759996" y="0"/>
                </a:moveTo>
                <a:lnTo>
                  <a:pt x="0" y="0"/>
                </a:lnTo>
                <a:lnTo>
                  <a:pt x="0" y="348729"/>
                </a:lnTo>
                <a:lnTo>
                  <a:pt x="5759996" y="348729"/>
                </a:lnTo>
                <a:lnTo>
                  <a:pt x="5759996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925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/>
              <a:t>CẢI TIẾN 1:</a:t>
            </a:r>
            <a:r>
              <a:rPr spc="5" dirty="0"/>
              <a:t> </a:t>
            </a:r>
            <a:r>
              <a:rPr spc="-10" dirty="0"/>
              <a:t>SAMPLING</a:t>
            </a:r>
          </a:p>
        </p:txBody>
      </p:sp>
      <p:sp>
        <p:nvSpPr>
          <p:cNvPr id="4" name="object 4" descr="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Ý</a:t>
            </a:r>
            <a:r>
              <a:rPr spc="20" dirty="0"/>
              <a:t> </a:t>
            </a:r>
            <a:r>
              <a:rPr spc="-10" dirty="0"/>
              <a:t>tưởng:</a:t>
            </a:r>
          </a:p>
          <a:p>
            <a:pPr marL="309880" marR="1511300">
              <a:lnSpc>
                <a:spcPct val="121100"/>
              </a:lnSpc>
              <a:spcBef>
                <a:spcPts val="780"/>
              </a:spcBef>
            </a:pPr>
            <a:r>
              <a:rPr sz="1200" dirty="0"/>
              <a:t>Khai</a:t>
            </a:r>
            <a:r>
              <a:rPr sz="1200" spc="-25" dirty="0"/>
              <a:t> </a:t>
            </a:r>
            <a:r>
              <a:rPr sz="1200" dirty="0"/>
              <a:t>phá</a:t>
            </a:r>
            <a:r>
              <a:rPr sz="1200" spc="-20" dirty="0"/>
              <a:t> </a:t>
            </a:r>
            <a:r>
              <a:rPr sz="1200" dirty="0"/>
              <a:t>trên</a:t>
            </a:r>
            <a:r>
              <a:rPr sz="1200" spc="-20" dirty="0"/>
              <a:t> </a:t>
            </a:r>
            <a:r>
              <a:rPr sz="1200" dirty="0"/>
              <a:t>mẫu</a:t>
            </a:r>
            <a:r>
              <a:rPr sz="1200" spc="-20" dirty="0"/>
              <a:t> </a:t>
            </a:r>
            <a:r>
              <a:rPr sz="1200" dirty="0"/>
              <a:t>dữ</a:t>
            </a:r>
            <a:r>
              <a:rPr sz="1200" spc="-20" dirty="0"/>
              <a:t> </a:t>
            </a:r>
            <a:r>
              <a:rPr sz="1200" dirty="0"/>
              <a:t>liệu</a:t>
            </a:r>
            <a:r>
              <a:rPr sz="1200" spc="-25" dirty="0"/>
              <a:t> </a:t>
            </a:r>
            <a:r>
              <a:rPr sz="1200" spc="-10" dirty="0"/>
              <a:t>(30%) </a:t>
            </a:r>
            <a:r>
              <a:rPr sz="1200" dirty="0"/>
              <a:t>Xác</a:t>
            </a:r>
            <a:r>
              <a:rPr sz="1200" spc="-30" dirty="0"/>
              <a:t> </a:t>
            </a:r>
            <a:r>
              <a:rPr sz="1200" dirty="0"/>
              <a:t>minh</a:t>
            </a:r>
            <a:r>
              <a:rPr sz="1200" spc="-20" dirty="0"/>
              <a:t> </a:t>
            </a:r>
            <a:r>
              <a:rPr sz="1200" dirty="0"/>
              <a:t>trên</a:t>
            </a:r>
            <a:r>
              <a:rPr sz="1200" spc="-20" dirty="0"/>
              <a:t> </a:t>
            </a:r>
            <a:r>
              <a:rPr sz="1200" dirty="0"/>
              <a:t>toàn</a:t>
            </a:r>
            <a:r>
              <a:rPr sz="1200" spc="-25" dirty="0"/>
              <a:t> </a:t>
            </a:r>
            <a:r>
              <a:rPr sz="1200" dirty="0"/>
              <a:t>bộ</a:t>
            </a:r>
            <a:r>
              <a:rPr sz="1200" spc="-20" dirty="0"/>
              <a:t> </a:t>
            </a:r>
            <a:r>
              <a:rPr sz="1200" spc="-10" dirty="0"/>
              <a:t>dataset</a:t>
            </a:r>
            <a:endParaRPr sz="1200"/>
          </a:p>
          <a:p>
            <a:pPr marL="309880">
              <a:lnSpc>
                <a:spcPct val="100000"/>
              </a:lnSpc>
              <a:spcBef>
                <a:spcPts val="305"/>
              </a:spcBef>
            </a:pPr>
            <a:r>
              <a:rPr sz="1200" dirty="0"/>
              <a:t>Nhanh</a:t>
            </a:r>
            <a:r>
              <a:rPr sz="1200" spc="-20" dirty="0"/>
              <a:t> </a:t>
            </a:r>
            <a:r>
              <a:rPr sz="1200" dirty="0"/>
              <a:t>cho</a:t>
            </a:r>
            <a:r>
              <a:rPr sz="1200" spc="-15" dirty="0"/>
              <a:t> </a:t>
            </a:r>
            <a:r>
              <a:rPr sz="1200" dirty="0"/>
              <a:t>phân</a:t>
            </a:r>
            <a:r>
              <a:rPr sz="1200" spc="-15" dirty="0"/>
              <a:t> </a:t>
            </a:r>
            <a:r>
              <a:rPr sz="1200" dirty="0"/>
              <a:t>tích</a:t>
            </a:r>
            <a:r>
              <a:rPr sz="1200" spc="-20" dirty="0"/>
              <a:t> </a:t>
            </a:r>
            <a:r>
              <a:rPr sz="1200" dirty="0"/>
              <a:t>khám</a:t>
            </a:r>
            <a:r>
              <a:rPr sz="1200" spc="-15" dirty="0"/>
              <a:t> </a:t>
            </a:r>
            <a:r>
              <a:rPr sz="1200" dirty="0"/>
              <a:t>phá</a:t>
            </a:r>
            <a:r>
              <a:rPr sz="1200" spc="-15" dirty="0"/>
              <a:t> </a:t>
            </a:r>
            <a:r>
              <a:rPr sz="1200" dirty="0"/>
              <a:t>(exploratory</a:t>
            </a:r>
            <a:r>
              <a:rPr sz="1200" spc="-15" dirty="0"/>
              <a:t> </a:t>
            </a:r>
            <a:r>
              <a:rPr sz="1200" spc="-10" dirty="0"/>
              <a:t>analysis)</a:t>
            </a:r>
            <a:endParaRPr sz="1200"/>
          </a:p>
          <a:p>
            <a:pPr marL="12700" marR="5080">
              <a:lnSpc>
                <a:spcPct val="100000"/>
              </a:lnSpc>
              <a:spcBef>
                <a:spcPts val="1330"/>
              </a:spcBef>
            </a:pPr>
            <a:r>
              <a:rPr sz="1200" b="1" spc="-10" dirty="0">
                <a:latin typeface="Arial"/>
                <a:cs typeface="Arial"/>
              </a:rPr>
              <a:t>Triển</a:t>
            </a:r>
            <a:r>
              <a:rPr sz="1200" b="1" spc="-60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khai:</a:t>
            </a:r>
            <a:r>
              <a:rPr sz="1200" b="1" spc="-55" dirty="0">
                <a:latin typeface="Arial"/>
                <a:cs typeface="Arial"/>
              </a:rPr>
              <a:t> </a:t>
            </a:r>
            <a:r>
              <a:rPr sz="1200" spc="-10" dirty="0">
                <a:latin typeface="Courier New"/>
                <a:cs typeface="Courier New"/>
              </a:rPr>
              <a:t>sampling_based_fim(df,</a:t>
            </a:r>
            <a:r>
              <a:rPr sz="1200" spc="-114" dirty="0">
                <a:latin typeface="Courier New"/>
                <a:cs typeface="Courier New"/>
              </a:rPr>
              <a:t> </a:t>
            </a:r>
            <a:r>
              <a:rPr sz="1200" spc="-10" dirty="0">
                <a:latin typeface="Courier New"/>
                <a:cs typeface="Courier New"/>
              </a:rPr>
              <a:t>min_support, sample_ratio=0.3)</a:t>
            </a:r>
            <a:endParaRPr sz="1200">
              <a:latin typeface="Courier New"/>
              <a:cs typeface="Courier New"/>
            </a:endParaRPr>
          </a:p>
        </p:txBody>
      </p:sp>
      <p:grpSp>
        <p:nvGrpSpPr>
          <p:cNvPr id="5" name="object 5" descr=""/>
          <p:cNvGrpSpPr/>
          <p:nvPr/>
        </p:nvGrpSpPr>
        <p:grpSpPr>
          <a:xfrm>
            <a:off x="0" y="3110712"/>
            <a:ext cx="5760085" cy="129539"/>
            <a:chOff x="0" y="3110712"/>
            <a:chExt cx="5760085" cy="129539"/>
          </a:xfrm>
        </p:grpSpPr>
        <p:sp>
          <p:nvSpPr>
            <p:cNvPr id="6" name="object 6" descr=""/>
            <p:cNvSpPr/>
            <p:nvPr/>
          </p:nvSpPr>
          <p:spPr>
            <a:xfrm>
              <a:off x="0" y="3110712"/>
              <a:ext cx="1920239" cy="129539"/>
            </a:xfrm>
            <a:custGeom>
              <a:avLst/>
              <a:gdLst/>
              <a:ahLst/>
              <a:cxnLst/>
              <a:rect l="l" t="t" r="r" b="b"/>
              <a:pathLst>
                <a:path w="1920239" h="129539">
                  <a:moveTo>
                    <a:pt x="1919973" y="0"/>
                  </a:moveTo>
                  <a:lnTo>
                    <a:pt x="0" y="0"/>
                  </a:lnTo>
                  <a:lnTo>
                    <a:pt x="0" y="129285"/>
                  </a:lnTo>
                  <a:lnTo>
                    <a:pt x="1919973" y="129285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1919973" y="3110712"/>
              <a:ext cx="1920239" cy="129539"/>
            </a:xfrm>
            <a:custGeom>
              <a:avLst/>
              <a:gdLst/>
              <a:ahLst/>
              <a:cxnLst/>
              <a:rect l="l" t="t" r="r" b="b"/>
              <a:pathLst>
                <a:path w="1920239" h="129539">
                  <a:moveTo>
                    <a:pt x="1919973" y="0"/>
                  </a:moveTo>
                  <a:lnTo>
                    <a:pt x="0" y="0"/>
                  </a:lnTo>
                  <a:lnTo>
                    <a:pt x="0" y="129285"/>
                  </a:lnTo>
                  <a:lnTo>
                    <a:pt x="1919973" y="129285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3839946" y="3110712"/>
              <a:ext cx="1920239" cy="129539"/>
            </a:xfrm>
            <a:custGeom>
              <a:avLst/>
              <a:gdLst/>
              <a:ahLst/>
              <a:cxnLst/>
              <a:rect l="l" t="t" r="r" b="b"/>
              <a:pathLst>
                <a:path w="1920239" h="129539">
                  <a:moveTo>
                    <a:pt x="1919973" y="0"/>
                  </a:moveTo>
                  <a:lnTo>
                    <a:pt x="0" y="0"/>
                  </a:lnTo>
                  <a:lnTo>
                    <a:pt x="0" y="129285"/>
                  </a:lnTo>
                  <a:lnTo>
                    <a:pt x="1919973" y="129285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 descr="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dirty="0"/>
              <a:t>Lê</a:t>
            </a:r>
            <a:r>
              <a:rPr spc="-25" dirty="0"/>
              <a:t> </a:t>
            </a:r>
            <a:r>
              <a:rPr dirty="0"/>
              <a:t>Đình</a:t>
            </a:r>
            <a:r>
              <a:rPr spc="-20" dirty="0"/>
              <a:t> </a:t>
            </a:r>
            <a:r>
              <a:rPr dirty="0"/>
              <a:t>Phùng</a:t>
            </a:r>
            <a:r>
              <a:rPr spc="-25" dirty="0"/>
              <a:t> </a:t>
            </a:r>
            <a:r>
              <a:rPr dirty="0"/>
              <a:t>–</a:t>
            </a:r>
            <a:r>
              <a:rPr spc="-20" dirty="0"/>
              <a:t> </a:t>
            </a:r>
            <a:r>
              <a:rPr spc="-10" dirty="0"/>
              <a:t>18130181</a:t>
            </a:r>
          </a:p>
        </p:txBody>
      </p:sp>
      <p:sp>
        <p:nvSpPr>
          <p:cNvPr id="10" name="object 10" descr=""/>
          <p:cNvSpPr txBox="1"/>
          <p:nvPr/>
        </p:nvSpPr>
        <p:spPr>
          <a:xfrm>
            <a:off x="2584627" y="3115174"/>
            <a:ext cx="591185" cy="119380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600" dirty="0">
                <a:solidFill>
                  <a:srgbClr val="00AEEF"/>
                </a:solidFill>
                <a:latin typeface="Arial"/>
                <a:cs typeface="Arial"/>
                <a:hlinkClick r:id="rId2" action="ppaction://hlinksldjump"/>
              </a:rPr>
              <a:t>Cải</a:t>
            </a:r>
            <a:r>
              <a:rPr sz="600" spc="-30" dirty="0">
                <a:solidFill>
                  <a:srgbClr val="00AEEF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sz="600" dirty="0">
                <a:solidFill>
                  <a:srgbClr val="00AEEF"/>
                </a:solidFill>
                <a:latin typeface="Arial"/>
                <a:cs typeface="Arial"/>
                <a:hlinkClick r:id="rId2" action="ppaction://hlinksldjump"/>
              </a:rPr>
              <a:t>Thiện</a:t>
            </a:r>
            <a:r>
              <a:rPr sz="600" spc="-30" dirty="0">
                <a:solidFill>
                  <a:srgbClr val="00AEEF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sz="600" spc="-10" dirty="0">
                <a:solidFill>
                  <a:srgbClr val="00AEEF"/>
                </a:solidFill>
                <a:latin typeface="Arial"/>
                <a:cs typeface="Arial"/>
                <a:hlinkClick r:id="rId2" action="ppaction://hlinksldjump"/>
              </a:rPr>
              <a:t>Apriori</a:t>
            </a:r>
            <a:endParaRPr sz="600">
              <a:latin typeface="Arial"/>
              <a:cs typeface="Arial"/>
            </a:endParaRPr>
          </a:p>
        </p:txBody>
      </p:sp>
      <p:sp>
        <p:nvSpPr>
          <p:cNvPr id="11" name="object 11" descr="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dirty="0"/>
              <a:t>Năm</a:t>
            </a:r>
            <a:r>
              <a:rPr spc="-30" dirty="0"/>
              <a:t> </a:t>
            </a:r>
            <a:r>
              <a:rPr dirty="0"/>
              <a:t>học</a:t>
            </a:r>
            <a:r>
              <a:rPr spc="-25" dirty="0"/>
              <a:t> </a:t>
            </a:r>
            <a:r>
              <a:rPr spc="-10" dirty="0"/>
              <a:t>2025–2026</a:t>
            </a:r>
          </a:p>
        </p:txBody>
      </p:sp>
      <p:sp>
        <p:nvSpPr>
          <p:cNvPr id="12" name="object 12" descr="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70"/>
              </a:spcBef>
            </a:pPr>
            <a:fld id="{81D60167-4931-47E6-BA6A-407CBD079E47}" type="slidenum">
              <a:rPr spc="-10" dirty="0"/>
              <a:t>10</a:t>
            </a:fld>
            <a:r>
              <a:rPr spc="-70" dirty="0"/>
              <a:t> </a:t>
            </a:r>
            <a:r>
              <a:rPr dirty="0"/>
              <a:t>/</a:t>
            </a:r>
            <a:r>
              <a:rPr spc="-65" dirty="0"/>
              <a:t> </a:t>
            </a:r>
            <a:r>
              <a:rPr spc="-25" dirty="0"/>
              <a:t>32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fast">
        <p:cut thruBlk="0"/>
      </p:transition>
    </mc:Choice>
    <mc:Fallback>
      <p:transition spd="fast">
        <p:cut thruBlk="0"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0"/>
            <a:ext cx="5760085" cy="349250"/>
          </a:xfrm>
          <a:custGeom>
            <a:avLst/>
            <a:gdLst/>
            <a:ahLst/>
            <a:cxnLst/>
            <a:rect l="l" t="t" r="r" b="b"/>
            <a:pathLst>
              <a:path w="5760085" h="349250">
                <a:moveTo>
                  <a:pt x="5759996" y="0"/>
                </a:moveTo>
                <a:lnTo>
                  <a:pt x="0" y="0"/>
                </a:lnTo>
                <a:lnTo>
                  <a:pt x="0" y="348729"/>
                </a:lnTo>
                <a:lnTo>
                  <a:pt x="5759996" y="348729"/>
                </a:lnTo>
                <a:lnTo>
                  <a:pt x="5759996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925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/>
              <a:t>CẢI</a:t>
            </a:r>
            <a:r>
              <a:rPr spc="25" dirty="0"/>
              <a:t> </a:t>
            </a:r>
            <a:r>
              <a:rPr dirty="0"/>
              <a:t>TIẾN</a:t>
            </a:r>
            <a:r>
              <a:rPr spc="25" dirty="0"/>
              <a:t> </a:t>
            </a:r>
            <a:r>
              <a:rPr dirty="0"/>
              <a:t>2:</a:t>
            </a:r>
            <a:r>
              <a:rPr spc="25" dirty="0"/>
              <a:t> </a:t>
            </a:r>
            <a:r>
              <a:rPr dirty="0"/>
              <a:t>DHP</a:t>
            </a:r>
            <a:r>
              <a:rPr spc="30" dirty="0"/>
              <a:t> </a:t>
            </a:r>
            <a:r>
              <a:rPr dirty="0"/>
              <a:t>(HASH-</a:t>
            </a:r>
            <a:r>
              <a:rPr spc="-10" dirty="0"/>
              <a:t>BASED)</a:t>
            </a:r>
          </a:p>
        </p:txBody>
      </p:sp>
      <p:sp>
        <p:nvSpPr>
          <p:cNvPr id="4" name="object 4" descr=""/>
          <p:cNvSpPr txBox="1"/>
          <p:nvPr/>
        </p:nvSpPr>
        <p:spPr>
          <a:xfrm>
            <a:off x="135928" y="936660"/>
            <a:ext cx="3275965" cy="151193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dirty="0">
                <a:latin typeface="Arial"/>
                <a:cs typeface="Arial"/>
              </a:rPr>
              <a:t>Ý</a:t>
            </a:r>
            <a:r>
              <a:rPr sz="1400" spc="20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tưởng:</a:t>
            </a:r>
            <a:endParaRPr sz="1400">
              <a:latin typeface="Arial"/>
              <a:cs typeface="Arial"/>
            </a:endParaRPr>
          </a:p>
          <a:p>
            <a:pPr marL="309880" marR="560070">
              <a:lnSpc>
                <a:spcPct val="121100"/>
              </a:lnSpc>
              <a:spcBef>
                <a:spcPts val="780"/>
              </a:spcBef>
            </a:pPr>
            <a:r>
              <a:rPr sz="1200" spc="-10" dirty="0">
                <a:latin typeface="Arial"/>
                <a:cs typeface="Arial"/>
              </a:rPr>
              <a:t>Sử</a:t>
            </a:r>
            <a:r>
              <a:rPr sz="1200" spc="-1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dụng</a:t>
            </a:r>
            <a:r>
              <a:rPr sz="1200" spc="-1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hash</a:t>
            </a:r>
            <a:r>
              <a:rPr sz="1200" spc="-1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để</a:t>
            </a:r>
            <a:r>
              <a:rPr sz="1200" spc="-1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tỉa</a:t>
            </a:r>
            <a:r>
              <a:rPr sz="1200" spc="-10" dirty="0">
                <a:latin typeface="Arial"/>
                <a:cs typeface="Arial"/>
              </a:rPr>
              <a:t> </a:t>
            </a:r>
            <a:r>
              <a:rPr sz="1200" spc="-25" dirty="0">
                <a:latin typeface="Arial"/>
                <a:cs typeface="Arial"/>
              </a:rPr>
              <a:t>bớt</a:t>
            </a:r>
            <a:r>
              <a:rPr sz="1200" spc="-15" dirty="0">
                <a:latin typeface="Arial"/>
                <a:cs typeface="Arial"/>
              </a:rPr>
              <a:t> </a:t>
            </a:r>
            <a:r>
              <a:rPr sz="1200" spc="-10" dirty="0">
                <a:latin typeface="Arial"/>
                <a:cs typeface="Arial"/>
              </a:rPr>
              <a:t>candidates </a:t>
            </a:r>
            <a:r>
              <a:rPr sz="1200" dirty="0">
                <a:latin typeface="Arial"/>
                <a:cs typeface="Arial"/>
              </a:rPr>
              <a:t>Chỉ</a:t>
            </a:r>
            <a:r>
              <a:rPr sz="1200" spc="-2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cần</a:t>
            </a:r>
            <a:r>
              <a:rPr sz="1200" spc="-1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2-3</a:t>
            </a:r>
            <a:r>
              <a:rPr sz="1200" spc="-1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lần</a:t>
            </a:r>
            <a:r>
              <a:rPr sz="1200" spc="-1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quét</a:t>
            </a:r>
            <a:r>
              <a:rPr sz="1200" spc="-15" dirty="0">
                <a:latin typeface="Arial"/>
                <a:cs typeface="Arial"/>
              </a:rPr>
              <a:t> </a:t>
            </a:r>
            <a:r>
              <a:rPr sz="1200" spc="-35" dirty="0">
                <a:latin typeface="Arial"/>
                <a:cs typeface="Arial"/>
              </a:rPr>
              <a:t>cơ</a:t>
            </a:r>
            <a:r>
              <a:rPr sz="1200" spc="-15" dirty="0">
                <a:latin typeface="Arial"/>
                <a:cs typeface="Arial"/>
              </a:rPr>
              <a:t> </a:t>
            </a:r>
            <a:r>
              <a:rPr sz="1200" spc="-35" dirty="0">
                <a:latin typeface="Arial"/>
                <a:cs typeface="Arial"/>
              </a:rPr>
              <a:t>sở</a:t>
            </a:r>
            <a:r>
              <a:rPr sz="1200" spc="-1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dữ</a:t>
            </a:r>
            <a:r>
              <a:rPr sz="1200" spc="-15" dirty="0">
                <a:latin typeface="Arial"/>
                <a:cs typeface="Arial"/>
              </a:rPr>
              <a:t> </a:t>
            </a:r>
            <a:r>
              <a:rPr sz="1200" spc="-20" dirty="0">
                <a:latin typeface="Arial"/>
                <a:cs typeface="Arial"/>
              </a:rPr>
              <a:t>liệu </a:t>
            </a:r>
            <a:r>
              <a:rPr sz="1200" dirty="0">
                <a:latin typeface="Arial"/>
                <a:cs typeface="Arial"/>
              </a:rPr>
              <a:t>Giảm</a:t>
            </a:r>
            <a:r>
              <a:rPr sz="1200" spc="-2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candidates</a:t>
            </a:r>
            <a:r>
              <a:rPr sz="1200" spc="-3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nhanh</a:t>
            </a:r>
            <a:r>
              <a:rPr sz="1200" spc="-25" dirty="0">
                <a:latin typeface="Arial"/>
                <a:cs typeface="Arial"/>
              </a:rPr>
              <a:t> hơn</a:t>
            </a:r>
            <a:endParaRPr sz="1200">
              <a:latin typeface="Arial"/>
              <a:cs typeface="Arial"/>
            </a:endParaRPr>
          </a:p>
          <a:p>
            <a:pPr marL="12700" marR="5080">
              <a:lnSpc>
                <a:spcPct val="100000"/>
              </a:lnSpc>
              <a:spcBef>
                <a:spcPts val="1090"/>
              </a:spcBef>
            </a:pPr>
            <a:r>
              <a:rPr sz="1200" b="1" spc="-10" dirty="0">
                <a:latin typeface="Arial"/>
                <a:cs typeface="Arial"/>
              </a:rPr>
              <a:t>Triển</a:t>
            </a:r>
            <a:r>
              <a:rPr sz="1200" b="1" spc="-55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khai:</a:t>
            </a:r>
            <a:r>
              <a:rPr sz="1200" b="1" spc="-50" dirty="0">
                <a:latin typeface="Arial"/>
                <a:cs typeface="Arial"/>
              </a:rPr>
              <a:t> </a:t>
            </a:r>
            <a:r>
              <a:rPr sz="1200" spc="-20" dirty="0">
                <a:latin typeface="Courier New"/>
                <a:cs typeface="Courier New"/>
              </a:rPr>
              <a:t>dhp_algorithm(transactions, </a:t>
            </a:r>
            <a:r>
              <a:rPr sz="1200" spc="-10" dirty="0">
                <a:latin typeface="Courier New"/>
                <a:cs typeface="Courier New"/>
              </a:rPr>
              <a:t>hash_table_size)</a:t>
            </a:r>
            <a:endParaRPr sz="1200">
              <a:latin typeface="Courier New"/>
              <a:cs typeface="Courier New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3477575" y="2057206"/>
            <a:ext cx="1121410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spc="-10" dirty="0">
                <a:latin typeface="Courier New"/>
                <a:cs typeface="Courier New"/>
              </a:rPr>
              <a:t>min_support,</a:t>
            </a:r>
            <a:endParaRPr sz="1200">
              <a:latin typeface="Courier New"/>
              <a:cs typeface="Courier New"/>
            </a:endParaRPr>
          </a:p>
        </p:txBody>
      </p:sp>
      <p:grpSp>
        <p:nvGrpSpPr>
          <p:cNvPr id="6" name="object 6" descr=""/>
          <p:cNvGrpSpPr/>
          <p:nvPr/>
        </p:nvGrpSpPr>
        <p:grpSpPr>
          <a:xfrm>
            <a:off x="0" y="3110712"/>
            <a:ext cx="5760085" cy="129539"/>
            <a:chOff x="0" y="3110712"/>
            <a:chExt cx="5760085" cy="129539"/>
          </a:xfrm>
        </p:grpSpPr>
        <p:sp>
          <p:nvSpPr>
            <p:cNvPr id="7" name="object 7" descr=""/>
            <p:cNvSpPr/>
            <p:nvPr/>
          </p:nvSpPr>
          <p:spPr>
            <a:xfrm>
              <a:off x="0" y="3110712"/>
              <a:ext cx="1920239" cy="129539"/>
            </a:xfrm>
            <a:custGeom>
              <a:avLst/>
              <a:gdLst/>
              <a:ahLst/>
              <a:cxnLst/>
              <a:rect l="l" t="t" r="r" b="b"/>
              <a:pathLst>
                <a:path w="1920239" h="129539">
                  <a:moveTo>
                    <a:pt x="1919973" y="0"/>
                  </a:moveTo>
                  <a:lnTo>
                    <a:pt x="0" y="0"/>
                  </a:lnTo>
                  <a:lnTo>
                    <a:pt x="0" y="129286"/>
                  </a:lnTo>
                  <a:lnTo>
                    <a:pt x="1919973" y="129286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1919973" y="3110712"/>
              <a:ext cx="1920239" cy="129539"/>
            </a:xfrm>
            <a:custGeom>
              <a:avLst/>
              <a:gdLst/>
              <a:ahLst/>
              <a:cxnLst/>
              <a:rect l="l" t="t" r="r" b="b"/>
              <a:pathLst>
                <a:path w="1920239" h="129539">
                  <a:moveTo>
                    <a:pt x="1919973" y="0"/>
                  </a:moveTo>
                  <a:lnTo>
                    <a:pt x="0" y="0"/>
                  </a:lnTo>
                  <a:lnTo>
                    <a:pt x="0" y="129286"/>
                  </a:lnTo>
                  <a:lnTo>
                    <a:pt x="1919973" y="129286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3839946" y="3110712"/>
              <a:ext cx="1920239" cy="129539"/>
            </a:xfrm>
            <a:custGeom>
              <a:avLst/>
              <a:gdLst/>
              <a:ahLst/>
              <a:cxnLst/>
              <a:rect l="l" t="t" r="r" b="b"/>
              <a:pathLst>
                <a:path w="1920239" h="129539">
                  <a:moveTo>
                    <a:pt x="1919973" y="0"/>
                  </a:moveTo>
                  <a:lnTo>
                    <a:pt x="0" y="0"/>
                  </a:lnTo>
                  <a:lnTo>
                    <a:pt x="0" y="129286"/>
                  </a:lnTo>
                  <a:lnTo>
                    <a:pt x="1919973" y="129286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 descr="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dirty="0"/>
              <a:t>Lê</a:t>
            </a:r>
            <a:r>
              <a:rPr spc="-25" dirty="0"/>
              <a:t> </a:t>
            </a:r>
            <a:r>
              <a:rPr dirty="0"/>
              <a:t>Đình</a:t>
            </a:r>
            <a:r>
              <a:rPr spc="-20" dirty="0"/>
              <a:t> </a:t>
            </a:r>
            <a:r>
              <a:rPr dirty="0"/>
              <a:t>Phùng</a:t>
            </a:r>
            <a:r>
              <a:rPr spc="-25" dirty="0"/>
              <a:t> </a:t>
            </a:r>
            <a:r>
              <a:rPr dirty="0"/>
              <a:t>–</a:t>
            </a:r>
            <a:r>
              <a:rPr spc="-20" dirty="0"/>
              <a:t> </a:t>
            </a:r>
            <a:r>
              <a:rPr spc="-10" dirty="0"/>
              <a:t>18130181</a:t>
            </a:r>
          </a:p>
        </p:txBody>
      </p:sp>
      <p:sp>
        <p:nvSpPr>
          <p:cNvPr id="11" name="object 11" descr=""/>
          <p:cNvSpPr txBox="1"/>
          <p:nvPr/>
        </p:nvSpPr>
        <p:spPr>
          <a:xfrm>
            <a:off x="2584627" y="3115174"/>
            <a:ext cx="591185" cy="119380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600" dirty="0">
                <a:solidFill>
                  <a:srgbClr val="00AEEF"/>
                </a:solidFill>
                <a:latin typeface="Arial"/>
                <a:cs typeface="Arial"/>
                <a:hlinkClick r:id="rId2" action="ppaction://hlinksldjump"/>
              </a:rPr>
              <a:t>Cải</a:t>
            </a:r>
            <a:r>
              <a:rPr sz="600" spc="-30" dirty="0">
                <a:solidFill>
                  <a:srgbClr val="00AEEF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sz="600" dirty="0">
                <a:solidFill>
                  <a:srgbClr val="00AEEF"/>
                </a:solidFill>
                <a:latin typeface="Arial"/>
                <a:cs typeface="Arial"/>
                <a:hlinkClick r:id="rId2" action="ppaction://hlinksldjump"/>
              </a:rPr>
              <a:t>Thiện</a:t>
            </a:r>
            <a:r>
              <a:rPr sz="600" spc="-30" dirty="0">
                <a:solidFill>
                  <a:srgbClr val="00AEEF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sz="600" spc="-10" dirty="0">
                <a:solidFill>
                  <a:srgbClr val="00AEEF"/>
                </a:solidFill>
                <a:latin typeface="Arial"/>
                <a:cs typeface="Arial"/>
                <a:hlinkClick r:id="rId2" action="ppaction://hlinksldjump"/>
              </a:rPr>
              <a:t>Apriori</a:t>
            </a:r>
            <a:endParaRPr sz="600">
              <a:latin typeface="Arial"/>
              <a:cs typeface="Arial"/>
            </a:endParaRPr>
          </a:p>
        </p:txBody>
      </p:sp>
      <p:sp>
        <p:nvSpPr>
          <p:cNvPr id="12" name="object 12" descr="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dirty="0"/>
              <a:t>Năm</a:t>
            </a:r>
            <a:r>
              <a:rPr spc="-30" dirty="0"/>
              <a:t> </a:t>
            </a:r>
            <a:r>
              <a:rPr dirty="0"/>
              <a:t>học</a:t>
            </a:r>
            <a:r>
              <a:rPr spc="-25" dirty="0"/>
              <a:t> </a:t>
            </a:r>
            <a:r>
              <a:rPr spc="-10" dirty="0"/>
              <a:t>2025–2026</a:t>
            </a:r>
          </a:p>
        </p:txBody>
      </p:sp>
      <p:sp>
        <p:nvSpPr>
          <p:cNvPr id="13" name="object 13" descr="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70"/>
              </a:spcBef>
            </a:pPr>
            <a:fld id="{81D60167-4931-47E6-BA6A-407CBD079E47}" type="slidenum">
              <a:rPr spc="-10" dirty="0"/>
              <a:t>10</a:t>
            </a:fld>
            <a:r>
              <a:rPr spc="-70" dirty="0"/>
              <a:t> </a:t>
            </a:r>
            <a:r>
              <a:rPr dirty="0"/>
              <a:t>/</a:t>
            </a:r>
            <a:r>
              <a:rPr spc="-65" dirty="0"/>
              <a:t> </a:t>
            </a:r>
            <a:r>
              <a:rPr spc="-25" dirty="0"/>
              <a:t>32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fast">
        <p:cut thruBlk="0"/>
      </p:transition>
    </mc:Choice>
    <mc:Fallback>
      <p:transition spd="fast">
        <p:cut thruBlk="0"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0"/>
            <a:ext cx="5760085" cy="349250"/>
          </a:xfrm>
          <a:custGeom>
            <a:avLst/>
            <a:gdLst/>
            <a:ahLst/>
            <a:cxnLst/>
            <a:rect l="l" t="t" r="r" b="b"/>
            <a:pathLst>
              <a:path w="5760085" h="349250">
                <a:moveTo>
                  <a:pt x="5759996" y="0"/>
                </a:moveTo>
                <a:lnTo>
                  <a:pt x="0" y="0"/>
                </a:lnTo>
                <a:lnTo>
                  <a:pt x="0" y="348729"/>
                </a:lnTo>
                <a:lnTo>
                  <a:pt x="5759996" y="348729"/>
                </a:lnTo>
                <a:lnTo>
                  <a:pt x="5759996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925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/>
              <a:t>CẢI TIẾN</a:t>
            </a:r>
            <a:r>
              <a:rPr spc="5" dirty="0"/>
              <a:t> </a:t>
            </a:r>
            <a:r>
              <a:rPr dirty="0"/>
              <a:t>3:</a:t>
            </a:r>
            <a:r>
              <a:rPr spc="5" dirty="0"/>
              <a:t> </a:t>
            </a:r>
            <a:r>
              <a:rPr dirty="0"/>
              <a:t>TRANSACTION</a:t>
            </a:r>
            <a:r>
              <a:rPr spc="5" dirty="0"/>
              <a:t> </a:t>
            </a:r>
            <a:r>
              <a:rPr spc="-10" dirty="0"/>
              <a:t>REDUCTION</a:t>
            </a:r>
          </a:p>
        </p:txBody>
      </p:sp>
      <p:sp>
        <p:nvSpPr>
          <p:cNvPr id="4" name="object 4" descr=""/>
          <p:cNvSpPr txBox="1"/>
          <p:nvPr/>
        </p:nvSpPr>
        <p:spPr>
          <a:xfrm>
            <a:off x="135928" y="996477"/>
            <a:ext cx="3585845" cy="100711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dirty="0">
                <a:latin typeface="Arial"/>
                <a:cs typeface="Arial"/>
              </a:rPr>
              <a:t>Ý</a:t>
            </a:r>
            <a:r>
              <a:rPr sz="1400" spc="20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tưởng:</a:t>
            </a:r>
            <a:endParaRPr sz="1400">
              <a:latin typeface="Arial"/>
              <a:cs typeface="Arial"/>
            </a:endParaRPr>
          </a:p>
          <a:p>
            <a:pPr marL="309880" marR="5080">
              <a:lnSpc>
                <a:spcPct val="121100"/>
              </a:lnSpc>
              <a:spcBef>
                <a:spcPts val="780"/>
              </a:spcBef>
            </a:pPr>
            <a:r>
              <a:rPr sz="1200" dirty="0">
                <a:latin typeface="Arial"/>
                <a:cs typeface="Arial"/>
              </a:rPr>
              <a:t>Loại</a:t>
            </a:r>
            <a:r>
              <a:rPr sz="1200" spc="-2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bỏ</a:t>
            </a:r>
            <a:r>
              <a:rPr sz="1200" spc="-1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các</a:t>
            </a:r>
            <a:r>
              <a:rPr sz="1200" spc="-1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giao</a:t>
            </a:r>
            <a:r>
              <a:rPr sz="1200" spc="-1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dịch</a:t>
            </a:r>
            <a:r>
              <a:rPr sz="1200" spc="-1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không</a:t>
            </a:r>
            <a:r>
              <a:rPr sz="1200" spc="-15" dirty="0">
                <a:latin typeface="Arial"/>
                <a:cs typeface="Arial"/>
              </a:rPr>
              <a:t> </a:t>
            </a:r>
            <a:r>
              <a:rPr sz="1200" spc="-10" dirty="0">
                <a:latin typeface="Arial"/>
                <a:cs typeface="Arial"/>
              </a:rPr>
              <a:t>chứa</a:t>
            </a:r>
            <a:r>
              <a:rPr sz="1200" spc="-1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frequent</a:t>
            </a:r>
            <a:r>
              <a:rPr sz="1200" spc="-15" dirty="0">
                <a:latin typeface="Arial"/>
                <a:cs typeface="Arial"/>
              </a:rPr>
              <a:t> </a:t>
            </a:r>
            <a:r>
              <a:rPr sz="1200" spc="-20" dirty="0">
                <a:latin typeface="Arial"/>
                <a:cs typeface="Arial"/>
              </a:rPr>
              <a:t>items </a:t>
            </a:r>
            <a:r>
              <a:rPr sz="1200" dirty="0">
                <a:latin typeface="Arial"/>
                <a:cs typeface="Arial"/>
              </a:rPr>
              <a:t>Giảm</a:t>
            </a:r>
            <a:r>
              <a:rPr sz="1200" spc="-3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kích</a:t>
            </a:r>
            <a:r>
              <a:rPr sz="1200" spc="-35" dirty="0">
                <a:latin typeface="Arial"/>
                <a:cs typeface="Arial"/>
              </a:rPr>
              <a:t> </a:t>
            </a:r>
            <a:r>
              <a:rPr sz="1200" spc="-30" dirty="0">
                <a:latin typeface="Arial"/>
                <a:cs typeface="Arial"/>
              </a:rPr>
              <a:t>thước</a:t>
            </a:r>
            <a:r>
              <a:rPr sz="1200" spc="-35" dirty="0">
                <a:latin typeface="Arial"/>
                <a:cs typeface="Arial"/>
              </a:rPr>
              <a:t> cơ sở </a:t>
            </a:r>
            <a:r>
              <a:rPr sz="1200" dirty="0">
                <a:latin typeface="Arial"/>
                <a:cs typeface="Arial"/>
              </a:rPr>
              <a:t>dữ</a:t>
            </a:r>
            <a:r>
              <a:rPr sz="1200" spc="-3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liệu</a:t>
            </a:r>
            <a:r>
              <a:rPr sz="1200" spc="-3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qua</a:t>
            </a:r>
            <a:r>
              <a:rPr sz="1200" spc="-3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các</a:t>
            </a:r>
            <a:r>
              <a:rPr sz="1200" spc="-3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vòng</a:t>
            </a:r>
            <a:r>
              <a:rPr sz="1200" spc="-35" dirty="0">
                <a:latin typeface="Arial"/>
                <a:cs typeface="Arial"/>
              </a:rPr>
              <a:t> </a:t>
            </a:r>
            <a:r>
              <a:rPr sz="1200" spc="-25" dirty="0">
                <a:latin typeface="Arial"/>
                <a:cs typeface="Arial"/>
              </a:rPr>
              <a:t>lặp </a:t>
            </a:r>
            <a:r>
              <a:rPr sz="1200" dirty="0">
                <a:latin typeface="Arial"/>
                <a:cs typeface="Arial"/>
              </a:rPr>
              <a:t>Tiết</a:t>
            </a:r>
            <a:r>
              <a:rPr sz="1200" spc="-2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kiệm</a:t>
            </a:r>
            <a:r>
              <a:rPr sz="1200" spc="-2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bộ</a:t>
            </a:r>
            <a:r>
              <a:rPr sz="1200" spc="-20" dirty="0">
                <a:latin typeface="Arial"/>
                <a:cs typeface="Arial"/>
              </a:rPr>
              <a:t> </a:t>
            </a:r>
            <a:r>
              <a:rPr sz="1200" spc="-25" dirty="0">
                <a:latin typeface="Arial"/>
                <a:cs typeface="Arial"/>
              </a:rPr>
              <a:t>nhớ</a:t>
            </a:r>
            <a:endParaRPr sz="1200">
              <a:latin typeface="Arial"/>
              <a:cs typeface="Arial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135928" y="2142220"/>
            <a:ext cx="3817620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b="1" spc="-10" dirty="0">
                <a:latin typeface="Arial"/>
                <a:cs typeface="Arial"/>
              </a:rPr>
              <a:t>Triển</a:t>
            </a:r>
            <a:r>
              <a:rPr sz="1200" b="1" spc="-55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khai:</a:t>
            </a:r>
            <a:r>
              <a:rPr sz="1200" b="1" spc="-50" dirty="0">
                <a:latin typeface="Arial"/>
                <a:cs typeface="Arial"/>
              </a:rPr>
              <a:t> </a:t>
            </a:r>
            <a:r>
              <a:rPr sz="1200" spc="-10" dirty="0">
                <a:latin typeface="Courier New"/>
                <a:cs typeface="Courier New"/>
              </a:rPr>
              <a:t>transaction_reduction_apriori(df,</a:t>
            </a:r>
            <a:endParaRPr sz="1200">
              <a:latin typeface="Courier New"/>
              <a:cs typeface="Courier New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4019156" y="2142220"/>
            <a:ext cx="1121410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spc="-10" dirty="0">
                <a:latin typeface="Courier New"/>
                <a:cs typeface="Courier New"/>
              </a:rPr>
              <a:t>min_support)</a:t>
            </a:r>
            <a:endParaRPr sz="1200">
              <a:latin typeface="Courier New"/>
              <a:cs typeface="Courier New"/>
            </a:endParaRPr>
          </a:p>
        </p:txBody>
      </p:sp>
      <p:grpSp>
        <p:nvGrpSpPr>
          <p:cNvPr id="7" name="object 7" descr=""/>
          <p:cNvGrpSpPr/>
          <p:nvPr/>
        </p:nvGrpSpPr>
        <p:grpSpPr>
          <a:xfrm>
            <a:off x="0" y="3110712"/>
            <a:ext cx="5760085" cy="129539"/>
            <a:chOff x="0" y="3110712"/>
            <a:chExt cx="5760085" cy="129539"/>
          </a:xfrm>
        </p:grpSpPr>
        <p:sp>
          <p:nvSpPr>
            <p:cNvPr id="8" name="object 8" descr=""/>
            <p:cNvSpPr/>
            <p:nvPr/>
          </p:nvSpPr>
          <p:spPr>
            <a:xfrm>
              <a:off x="0" y="3110712"/>
              <a:ext cx="1920239" cy="129539"/>
            </a:xfrm>
            <a:custGeom>
              <a:avLst/>
              <a:gdLst/>
              <a:ahLst/>
              <a:cxnLst/>
              <a:rect l="l" t="t" r="r" b="b"/>
              <a:pathLst>
                <a:path w="1920239" h="129539">
                  <a:moveTo>
                    <a:pt x="1919973" y="0"/>
                  </a:moveTo>
                  <a:lnTo>
                    <a:pt x="0" y="0"/>
                  </a:lnTo>
                  <a:lnTo>
                    <a:pt x="0" y="129286"/>
                  </a:lnTo>
                  <a:lnTo>
                    <a:pt x="1919973" y="129286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1919973" y="3110712"/>
              <a:ext cx="1920239" cy="129539"/>
            </a:xfrm>
            <a:custGeom>
              <a:avLst/>
              <a:gdLst/>
              <a:ahLst/>
              <a:cxnLst/>
              <a:rect l="l" t="t" r="r" b="b"/>
              <a:pathLst>
                <a:path w="1920239" h="129539">
                  <a:moveTo>
                    <a:pt x="1919973" y="0"/>
                  </a:moveTo>
                  <a:lnTo>
                    <a:pt x="0" y="0"/>
                  </a:lnTo>
                  <a:lnTo>
                    <a:pt x="0" y="129286"/>
                  </a:lnTo>
                  <a:lnTo>
                    <a:pt x="1919973" y="129286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3839946" y="3110712"/>
              <a:ext cx="1920239" cy="129539"/>
            </a:xfrm>
            <a:custGeom>
              <a:avLst/>
              <a:gdLst/>
              <a:ahLst/>
              <a:cxnLst/>
              <a:rect l="l" t="t" r="r" b="b"/>
              <a:pathLst>
                <a:path w="1920239" h="129539">
                  <a:moveTo>
                    <a:pt x="1919973" y="0"/>
                  </a:moveTo>
                  <a:lnTo>
                    <a:pt x="0" y="0"/>
                  </a:lnTo>
                  <a:lnTo>
                    <a:pt x="0" y="129286"/>
                  </a:lnTo>
                  <a:lnTo>
                    <a:pt x="1919973" y="129286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 descr="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dirty="0"/>
              <a:t>Lê</a:t>
            </a:r>
            <a:r>
              <a:rPr spc="-25" dirty="0"/>
              <a:t> </a:t>
            </a:r>
            <a:r>
              <a:rPr dirty="0"/>
              <a:t>Đình</a:t>
            </a:r>
            <a:r>
              <a:rPr spc="-20" dirty="0"/>
              <a:t> </a:t>
            </a:r>
            <a:r>
              <a:rPr dirty="0"/>
              <a:t>Phùng</a:t>
            </a:r>
            <a:r>
              <a:rPr spc="-25" dirty="0"/>
              <a:t> </a:t>
            </a:r>
            <a:r>
              <a:rPr dirty="0"/>
              <a:t>–</a:t>
            </a:r>
            <a:r>
              <a:rPr spc="-20" dirty="0"/>
              <a:t> </a:t>
            </a:r>
            <a:r>
              <a:rPr spc="-10" dirty="0"/>
              <a:t>18130181</a:t>
            </a:r>
          </a:p>
        </p:txBody>
      </p:sp>
      <p:sp>
        <p:nvSpPr>
          <p:cNvPr id="12" name="object 12" descr=""/>
          <p:cNvSpPr txBox="1"/>
          <p:nvPr/>
        </p:nvSpPr>
        <p:spPr>
          <a:xfrm>
            <a:off x="2584627" y="3115174"/>
            <a:ext cx="591185" cy="119380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600" dirty="0">
                <a:solidFill>
                  <a:srgbClr val="00AEEF"/>
                </a:solidFill>
                <a:latin typeface="Arial"/>
                <a:cs typeface="Arial"/>
                <a:hlinkClick r:id="rId2" action="ppaction://hlinksldjump"/>
              </a:rPr>
              <a:t>Cải</a:t>
            </a:r>
            <a:r>
              <a:rPr sz="600" spc="-30" dirty="0">
                <a:solidFill>
                  <a:srgbClr val="00AEEF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sz="600" dirty="0">
                <a:solidFill>
                  <a:srgbClr val="00AEEF"/>
                </a:solidFill>
                <a:latin typeface="Arial"/>
                <a:cs typeface="Arial"/>
                <a:hlinkClick r:id="rId2" action="ppaction://hlinksldjump"/>
              </a:rPr>
              <a:t>Thiện</a:t>
            </a:r>
            <a:r>
              <a:rPr sz="600" spc="-30" dirty="0">
                <a:solidFill>
                  <a:srgbClr val="00AEEF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sz="600" spc="-10" dirty="0">
                <a:solidFill>
                  <a:srgbClr val="00AEEF"/>
                </a:solidFill>
                <a:latin typeface="Arial"/>
                <a:cs typeface="Arial"/>
                <a:hlinkClick r:id="rId2" action="ppaction://hlinksldjump"/>
              </a:rPr>
              <a:t>Apriori</a:t>
            </a:r>
            <a:endParaRPr sz="600">
              <a:latin typeface="Arial"/>
              <a:cs typeface="Arial"/>
            </a:endParaRPr>
          </a:p>
        </p:txBody>
      </p:sp>
      <p:sp>
        <p:nvSpPr>
          <p:cNvPr id="13" name="object 13" descr="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dirty="0"/>
              <a:t>Năm</a:t>
            </a:r>
            <a:r>
              <a:rPr spc="-30" dirty="0"/>
              <a:t> </a:t>
            </a:r>
            <a:r>
              <a:rPr dirty="0"/>
              <a:t>học</a:t>
            </a:r>
            <a:r>
              <a:rPr spc="-25" dirty="0"/>
              <a:t> </a:t>
            </a:r>
            <a:r>
              <a:rPr spc="-10" dirty="0"/>
              <a:t>2025–2026</a:t>
            </a:r>
          </a:p>
        </p:txBody>
      </p:sp>
      <p:sp>
        <p:nvSpPr>
          <p:cNvPr id="14" name="object 14" descr="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70"/>
              </a:spcBef>
            </a:pPr>
            <a:fld id="{81D60167-4931-47E6-BA6A-407CBD079E47}" type="slidenum">
              <a:rPr spc="-10" dirty="0"/>
              <a:t>10</a:t>
            </a:fld>
            <a:r>
              <a:rPr spc="-70" dirty="0"/>
              <a:t> </a:t>
            </a:r>
            <a:r>
              <a:rPr dirty="0"/>
              <a:t>/</a:t>
            </a:r>
            <a:r>
              <a:rPr spc="-65" dirty="0"/>
              <a:t> </a:t>
            </a:r>
            <a:r>
              <a:rPr spc="-25" dirty="0"/>
              <a:t>32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fast">
        <p:cut thruBlk="0"/>
      </p:transition>
    </mc:Choice>
    <mc:Fallback>
      <p:transition spd="fast">
        <p:cut thruBlk="0"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0"/>
            <a:ext cx="5760085" cy="349250"/>
          </a:xfrm>
          <a:custGeom>
            <a:avLst/>
            <a:gdLst/>
            <a:ahLst/>
            <a:cxnLst/>
            <a:rect l="l" t="t" r="r" b="b"/>
            <a:pathLst>
              <a:path w="5760085" h="349250">
                <a:moveTo>
                  <a:pt x="5759996" y="0"/>
                </a:moveTo>
                <a:lnTo>
                  <a:pt x="0" y="0"/>
                </a:lnTo>
                <a:lnTo>
                  <a:pt x="0" y="348729"/>
                </a:lnTo>
                <a:lnTo>
                  <a:pt x="5759996" y="348729"/>
                </a:lnTo>
                <a:lnTo>
                  <a:pt x="5759996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925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/>
              <a:t>CẢI</a:t>
            </a:r>
            <a:r>
              <a:rPr spc="-25" dirty="0"/>
              <a:t> </a:t>
            </a:r>
            <a:r>
              <a:rPr dirty="0"/>
              <a:t>TIẾN</a:t>
            </a:r>
            <a:r>
              <a:rPr spc="-20" dirty="0"/>
              <a:t> </a:t>
            </a:r>
            <a:r>
              <a:rPr dirty="0"/>
              <a:t>4:</a:t>
            </a:r>
            <a:r>
              <a:rPr spc="-20" dirty="0"/>
              <a:t> </a:t>
            </a:r>
            <a:r>
              <a:rPr dirty="0"/>
              <a:t>ECLAT</a:t>
            </a:r>
            <a:r>
              <a:rPr spc="-25" dirty="0"/>
              <a:t> </a:t>
            </a:r>
            <a:r>
              <a:rPr spc="-10" dirty="0"/>
              <a:t>(VERTICAL)</a:t>
            </a:r>
          </a:p>
        </p:txBody>
      </p:sp>
      <p:sp>
        <p:nvSpPr>
          <p:cNvPr id="4" name="object 4" descr="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90538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Ý</a:t>
            </a:r>
            <a:r>
              <a:rPr spc="20" dirty="0"/>
              <a:t> </a:t>
            </a:r>
            <a:r>
              <a:rPr spc="-10" dirty="0"/>
              <a:t>tưởng:</a:t>
            </a:r>
          </a:p>
          <a:p>
            <a:pPr marL="309880" marR="708660">
              <a:lnSpc>
                <a:spcPct val="121100"/>
              </a:lnSpc>
              <a:spcBef>
                <a:spcPts val="780"/>
              </a:spcBef>
            </a:pPr>
            <a:r>
              <a:rPr sz="1200" spc="-10" dirty="0"/>
              <a:t>Sử</a:t>
            </a:r>
            <a:r>
              <a:rPr sz="1200" spc="-15" dirty="0"/>
              <a:t> </a:t>
            </a:r>
            <a:r>
              <a:rPr sz="1200" dirty="0"/>
              <a:t>dụng</a:t>
            </a:r>
            <a:r>
              <a:rPr sz="1200" spc="-15" dirty="0"/>
              <a:t> </a:t>
            </a:r>
            <a:r>
              <a:rPr sz="1200" dirty="0"/>
              <a:t>định</a:t>
            </a:r>
            <a:r>
              <a:rPr sz="1200" spc="-15" dirty="0"/>
              <a:t> </a:t>
            </a:r>
            <a:r>
              <a:rPr sz="1200" dirty="0"/>
              <a:t>dạng</a:t>
            </a:r>
            <a:r>
              <a:rPr sz="1200" spc="-15" dirty="0"/>
              <a:t> </a:t>
            </a:r>
            <a:r>
              <a:rPr sz="1200" spc="-10" dirty="0"/>
              <a:t>tid-</a:t>
            </a:r>
            <a:r>
              <a:rPr sz="1200" dirty="0"/>
              <a:t>lists</a:t>
            </a:r>
            <a:r>
              <a:rPr sz="1200" spc="-15" dirty="0"/>
              <a:t> </a:t>
            </a:r>
            <a:r>
              <a:rPr sz="1200" dirty="0"/>
              <a:t>dọc</a:t>
            </a:r>
            <a:r>
              <a:rPr sz="1200" spc="-15" dirty="0"/>
              <a:t> </a:t>
            </a:r>
            <a:r>
              <a:rPr sz="1200" spc="-10" dirty="0"/>
              <a:t>(vertical) </a:t>
            </a:r>
            <a:r>
              <a:rPr sz="1200" dirty="0"/>
              <a:t>Phép</a:t>
            </a:r>
            <a:r>
              <a:rPr sz="1200" spc="10" dirty="0"/>
              <a:t> </a:t>
            </a:r>
            <a:r>
              <a:rPr sz="1200" dirty="0"/>
              <a:t>giao</a:t>
            </a:r>
            <a:r>
              <a:rPr sz="1200" spc="10" dirty="0"/>
              <a:t> </a:t>
            </a:r>
            <a:r>
              <a:rPr sz="1200" spc="-10" dirty="0"/>
              <a:t>(intersection)</a:t>
            </a:r>
            <a:r>
              <a:rPr sz="1200" spc="15" dirty="0"/>
              <a:t> </a:t>
            </a:r>
            <a:r>
              <a:rPr sz="1200" spc="-10" dirty="0"/>
              <a:t>nhanh</a:t>
            </a:r>
            <a:endParaRPr sz="1200"/>
          </a:p>
          <a:p>
            <a:pPr marL="309880">
              <a:lnSpc>
                <a:spcPct val="100000"/>
              </a:lnSpc>
              <a:spcBef>
                <a:spcPts val="305"/>
              </a:spcBef>
            </a:pPr>
            <a:r>
              <a:rPr sz="1200" dirty="0"/>
              <a:t>Xuất</a:t>
            </a:r>
            <a:r>
              <a:rPr sz="1200" spc="-45" dirty="0"/>
              <a:t> </a:t>
            </a:r>
            <a:r>
              <a:rPr sz="1200" dirty="0"/>
              <a:t>sắc</a:t>
            </a:r>
            <a:r>
              <a:rPr sz="1200" spc="-40" dirty="0"/>
              <a:t> </a:t>
            </a:r>
            <a:r>
              <a:rPr sz="1200" dirty="0"/>
              <a:t>cho</a:t>
            </a:r>
            <a:r>
              <a:rPr sz="1200" spc="-45" dirty="0"/>
              <a:t> </a:t>
            </a:r>
            <a:r>
              <a:rPr sz="1200" dirty="0"/>
              <a:t>dataset</a:t>
            </a:r>
            <a:r>
              <a:rPr sz="1200" spc="-40" dirty="0"/>
              <a:t> </a:t>
            </a:r>
            <a:r>
              <a:rPr sz="1200" dirty="0"/>
              <a:t>thưa</a:t>
            </a:r>
            <a:r>
              <a:rPr sz="1200" spc="-45" dirty="0"/>
              <a:t> </a:t>
            </a:r>
            <a:r>
              <a:rPr sz="1200" spc="-10" dirty="0"/>
              <a:t>(sparse)</a:t>
            </a:r>
            <a:endParaRPr sz="1200"/>
          </a:p>
          <a:p>
            <a:pPr marL="12700">
              <a:lnSpc>
                <a:spcPct val="100000"/>
              </a:lnSpc>
              <a:spcBef>
                <a:spcPts val="1330"/>
              </a:spcBef>
            </a:pPr>
            <a:r>
              <a:rPr sz="1200" b="1" spc="-10" dirty="0">
                <a:latin typeface="Arial"/>
                <a:cs typeface="Arial"/>
              </a:rPr>
              <a:t>Triển</a:t>
            </a:r>
            <a:r>
              <a:rPr sz="1200" b="1" spc="-60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khai:</a:t>
            </a:r>
            <a:r>
              <a:rPr sz="1200" b="1" spc="-60" dirty="0">
                <a:latin typeface="Arial"/>
                <a:cs typeface="Arial"/>
              </a:rPr>
              <a:t> </a:t>
            </a:r>
            <a:r>
              <a:rPr sz="1200" spc="-10" dirty="0">
                <a:latin typeface="Courier New"/>
                <a:cs typeface="Courier New"/>
              </a:rPr>
              <a:t>eclat_algorithm(df,</a:t>
            </a:r>
            <a:r>
              <a:rPr sz="1200" spc="-120" dirty="0">
                <a:latin typeface="Courier New"/>
                <a:cs typeface="Courier New"/>
              </a:rPr>
              <a:t> </a:t>
            </a:r>
            <a:r>
              <a:rPr sz="1200" spc="-10" dirty="0">
                <a:latin typeface="Courier New"/>
                <a:cs typeface="Courier New"/>
              </a:rPr>
              <a:t>min_support)</a:t>
            </a:r>
            <a:endParaRPr sz="1200">
              <a:latin typeface="Courier New"/>
              <a:cs typeface="Courier New"/>
            </a:endParaRPr>
          </a:p>
        </p:txBody>
      </p:sp>
      <p:grpSp>
        <p:nvGrpSpPr>
          <p:cNvPr id="5" name="object 5" descr=""/>
          <p:cNvGrpSpPr/>
          <p:nvPr/>
        </p:nvGrpSpPr>
        <p:grpSpPr>
          <a:xfrm>
            <a:off x="0" y="3110712"/>
            <a:ext cx="5760085" cy="129539"/>
            <a:chOff x="0" y="3110712"/>
            <a:chExt cx="5760085" cy="129539"/>
          </a:xfrm>
        </p:grpSpPr>
        <p:sp>
          <p:nvSpPr>
            <p:cNvPr id="6" name="object 6" descr=""/>
            <p:cNvSpPr/>
            <p:nvPr/>
          </p:nvSpPr>
          <p:spPr>
            <a:xfrm>
              <a:off x="0" y="3110712"/>
              <a:ext cx="1920239" cy="129539"/>
            </a:xfrm>
            <a:custGeom>
              <a:avLst/>
              <a:gdLst/>
              <a:ahLst/>
              <a:cxnLst/>
              <a:rect l="l" t="t" r="r" b="b"/>
              <a:pathLst>
                <a:path w="1920239" h="129539">
                  <a:moveTo>
                    <a:pt x="1919973" y="0"/>
                  </a:moveTo>
                  <a:lnTo>
                    <a:pt x="0" y="0"/>
                  </a:lnTo>
                  <a:lnTo>
                    <a:pt x="0" y="129286"/>
                  </a:lnTo>
                  <a:lnTo>
                    <a:pt x="1919973" y="129286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1919973" y="3110712"/>
              <a:ext cx="1920239" cy="129539"/>
            </a:xfrm>
            <a:custGeom>
              <a:avLst/>
              <a:gdLst/>
              <a:ahLst/>
              <a:cxnLst/>
              <a:rect l="l" t="t" r="r" b="b"/>
              <a:pathLst>
                <a:path w="1920239" h="129539">
                  <a:moveTo>
                    <a:pt x="1919973" y="0"/>
                  </a:moveTo>
                  <a:lnTo>
                    <a:pt x="0" y="0"/>
                  </a:lnTo>
                  <a:lnTo>
                    <a:pt x="0" y="129285"/>
                  </a:lnTo>
                  <a:lnTo>
                    <a:pt x="1919973" y="129285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3839946" y="3110712"/>
              <a:ext cx="1920239" cy="129539"/>
            </a:xfrm>
            <a:custGeom>
              <a:avLst/>
              <a:gdLst/>
              <a:ahLst/>
              <a:cxnLst/>
              <a:rect l="l" t="t" r="r" b="b"/>
              <a:pathLst>
                <a:path w="1920239" h="129539">
                  <a:moveTo>
                    <a:pt x="1919973" y="0"/>
                  </a:moveTo>
                  <a:lnTo>
                    <a:pt x="0" y="0"/>
                  </a:lnTo>
                  <a:lnTo>
                    <a:pt x="0" y="129285"/>
                  </a:lnTo>
                  <a:lnTo>
                    <a:pt x="1919973" y="129285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 descr="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dirty="0"/>
              <a:t>Lê</a:t>
            </a:r>
            <a:r>
              <a:rPr spc="-25" dirty="0"/>
              <a:t> </a:t>
            </a:r>
            <a:r>
              <a:rPr dirty="0"/>
              <a:t>Đình</a:t>
            </a:r>
            <a:r>
              <a:rPr spc="-20" dirty="0"/>
              <a:t> </a:t>
            </a:r>
            <a:r>
              <a:rPr dirty="0"/>
              <a:t>Phùng</a:t>
            </a:r>
            <a:r>
              <a:rPr spc="-25" dirty="0"/>
              <a:t> </a:t>
            </a:r>
            <a:r>
              <a:rPr dirty="0"/>
              <a:t>–</a:t>
            </a:r>
            <a:r>
              <a:rPr spc="-20" dirty="0"/>
              <a:t> </a:t>
            </a:r>
            <a:r>
              <a:rPr spc="-10" dirty="0"/>
              <a:t>18130181</a:t>
            </a:r>
          </a:p>
        </p:txBody>
      </p:sp>
      <p:sp>
        <p:nvSpPr>
          <p:cNvPr id="10" name="object 10" descr=""/>
          <p:cNvSpPr txBox="1"/>
          <p:nvPr/>
        </p:nvSpPr>
        <p:spPr>
          <a:xfrm>
            <a:off x="2584627" y="3115174"/>
            <a:ext cx="591185" cy="119380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600" dirty="0">
                <a:solidFill>
                  <a:srgbClr val="00AEEF"/>
                </a:solidFill>
                <a:latin typeface="Arial"/>
                <a:cs typeface="Arial"/>
                <a:hlinkClick r:id="rId2" action="ppaction://hlinksldjump"/>
              </a:rPr>
              <a:t>Cải</a:t>
            </a:r>
            <a:r>
              <a:rPr sz="600" spc="-30" dirty="0">
                <a:solidFill>
                  <a:srgbClr val="00AEEF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sz="600" dirty="0">
                <a:solidFill>
                  <a:srgbClr val="00AEEF"/>
                </a:solidFill>
                <a:latin typeface="Arial"/>
                <a:cs typeface="Arial"/>
                <a:hlinkClick r:id="rId2" action="ppaction://hlinksldjump"/>
              </a:rPr>
              <a:t>Thiện</a:t>
            </a:r>
            <a:r>
              <a:rPr sz="600" spc="-30" dirty="0">
                <a:solidFill>
                  <a:srgbClr val="00AEEF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sz="600" spc="-10" dirty="0">
                <a:solidFill>
                  <a:srgbClr val="00AEEF"/>
                </a:solidFill>
                <a:latin typeface="Arial"/>
                <a:cs typeface="Arial"/>
                <a:hlinkClick r:id="rId2" action="ppaction://hlinksldjump"/>
              </a:rPr>
              <a:t>Apriori</a:t>
            </a:r>
            <a:endParaRPr sz="600">
              <a:latin typeface="Arial"/>
              <a:cs typeface="Arial"/>
            </a:endParaRPr>
          </a:p>
        </p:txBody>
      </p:sp>
      <p:sp>
        <p:nvSpPr>
          <p:cNvPr id="11" name="object 11" descr="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dirty="0"/>
              <a:t>Năm</a:t>
            </a:r>
            <a:r>
              <a:rPr spc="-30" dirty="0"/>
              <a:t> </a:t>
            </a:r>
            <a:r>
              <a:rPr dirty="0"/>
              <a:t>học</a:t>
            </a:r>
            <a:r>
              <a:rPr spc="-25" dirty="0"/>
              <a:t> </a:t>
            </a:r>
            <a:r>
              <a:rPr spc="-10" dirty="0"/>
              <a:t>2025–2026</a:t>
            </a:r>
          </a:p>
        </p:txBody>
      </p:sp>
      <p:sp>
        <p:nvSpPr>
          <p:cNvPr id="12" name="object 12" descr="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70"/>
              </a:spcBef>
            </a:pPr>
            <a:fld id="{81D60167-4931-47E6-BA6A-407CBD079E47}" type="slidenum">
              <a:rPr spc="-10" dirty="0"/>
              <a:t>10</a:t>
            </a:fld>
            <a:r>
              <a:rPr spc="-70" dirty="0"/>
              <a:t> </a:t>
            </a:r>
            <a:r>
              <a:rPr dirty="0"/>
              <a:t>/</a:t>
            </a:r>
            <a:r>
              <a:rPr spc="-65" dirty="0"/>
              <a:t> </a:t>
            </a:r>
            <a:r>
              <a:rPr spc="-25" dirty="0"/>
              <a:t>32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fast">
        <p:cut thruBlk="0"/>
      </p:transition>
    </mc:Choice>
    <mc:Fallback>
      <p:transition spd="fast">
        <p:cut thruBlk="0"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0"/>
            <a:ext cx="5760085" cy="349250"/>
          </a:xfrm>
          <a:custGeom>
            <a:avLst/>
            <a:gdLst/>
            <a:ahLst/>
            <a:cxnLst/>
            <a:rect l="l" t="t" r="r" b="b"/>
            <a:pathLst>
              <a:path w="5760085" h="349250">
                <a:moveTo>
                  <a:pt x="5759996" y="0"/>
                </a:moveTo>
                <a:lnTo>
                  <a:pt x="0" y="0"/>
                </a:lnTo>
                <a:lnTo>
                  <a:pt x="0" y="348729"/>
                </a:lnTo>
                <a:lnTo>
                  <a:pt x="5759996" y="348729"/>
                </a:lnTo>
                <a:lnTo>
                  <a:pt x="5759996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925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/>
              <a:t>CẢI TIẾN 5: DIC</a:t>
            </a:r>
            <a:r>
              <a:rPr spc="5" dirty="0"/>
              <a:t> </a:t>
            </a:r>
            <a:r>
              <a:rPr dirty="0"/>
              <a:t>(DYNAMIC </a:t>
            </a:r>
            <a:r>
              <a:rPr spc="-10" dirty="0"/>
              <a:t>COUNTING)</a:t>
            </a:r>
          </a:p>
        </p:txBody>
      </p:sp>
      <p:sp>
        <p:nvSpPr>
          <p:cNvPr id="4" name="object 4" descr=""/>
          <p:cNvSpPr txBox="1"/>
          <p:nvPr/>
        </p:nvSpPr>
        <p:spPr>
          <a:xfrm>
            <a:off x="135928" y="1083040"/>
            <a:ext cx="3555365" cy="113728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dirty="0">
                <a:latin typeface="Arial"/>
                <a:cs typeface="Arial"/>
              </a:rPr>
              <a:t>Ý</a:t>
            </a:r>
            <a:r>
              <a:rPr sz="1400" spc="20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tưởng:</a:t>
            </a:r>
            <a:endParaRPr sz="1400">
              <a:latin typeface="Arial"/>
              <a:cs typeface="Arial"/>
            </a:endParaRPr>
          </a:p>
          <a:p>
            <a:pPr marL="309880" marR="941705">
              <a:lnSpc>
                <a:spcPct val="121100"/>
              </a:lnSpc>
              <a:spcBef>
                <a:spcPts val="780"/>
              </a:spcBef>
            </a:pPr>
            <a:r>
              <a:rPr sz="1200" dirty="0">
                <a:latin typeface="Arial"/>
                <a:cs typeface="Arial"/>
              </a:rPr>
              <a:t>Đếm</a:t>
            </a:r>
            <a:r>
              <a:rPr sz="1200" spc="-3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xen</a:t>
            </a:r>
            <a:r>
              <a:rPr sz="1200" spc="-2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kẽ</a:t>
            </a:r>
            <a:r>
              <a:rPr sz="1200" spc="-25" dirty="0">
                <a:latin typeface="Arial"/>
                <a:cs typeface="Arial"/>
              </a:rPr>
              <a:t> </a:t>
            </a:r>
            <a:r>
              <a:rPr sz="1200" spc="-10" dirty="0">
                <a:latin typeface="Arial"/>
                <a:cs typeface="Arial"/>
              </a:rPr>
              <a:t>(interleaved</a:t>
            </a:r>
            <a:r>
              <a:rPr sz="1200" spc="-25" dirty="0">
                <a:latin typeface="Arial"/>
                <a:cs typeface="Arial"/>
              </a:rPr>
              <a:t> </a:t>
            </a:r>
            <a:r>
              <a:rPr sz="1200" spc="-10" dirty="0">
                <a:latin typeface="Arial"/>
                <a:cs typeface="Arial"/>
              </a:rPr>
              <a:t>counting) </a:t>
            </a:r>
            <a:r>
              <a:rPr sz="1200" dirty="0">
                <a:latin typeface="Arial"/>
                <a:cs typeface="Arial"/>
              </a:rPr>
              <a:t>Ít</a:t>
            </a:r>
            <a:r>
              <a:rPr sz="1200" spc="-3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lần</a:t>
            </a:r>
            <a:r>
              <a:rPr sz="1200" spc="-3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quét</a:t>
            </a:r>
            <a:r>
              <a:rPr sz="1200" spc="-30" dirty="0">
                <a:latin typeface="Arial"/>
                <a:cs typeface="Arial"/>
              </a:rPr>
              <a:t> </a:t>
            </a:r>
            <a:r>
              <a:rPr sz="1200" spc="-35" dirty="0">
                <a:latin typeface="Arial"/>
                <a:cs typeface="Arial"/>
              </a:rPr>
              <a:t>cơ</a:t>
            </a:r>
            <a:r>
              <a:rPr sz="1200" spc="-30" dirty="0">
                <a:latin typeface="Arial"/>
                <a:cs typeface="Arial"/>
              </a:rPr>
              <a:t> </a:t>
            </a:r>
            <a:r>
              <a:rPr sz="1200" spc="-35" dirty="0">
                <a:latin typeface="Arial"/>
                <a:cs typeface="Arial"/>
              </a:rPr>
              <a:t>sở</a:t>
            </a:r>
            <a:r>
              <a:rPr sz="1200" spc="-3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dữ</a:t>
            </a:r>
            <a:r>
              <a:rPr sz="1200" spc="-2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liệu</a:t>
            </a:r>
            <a:r>
              <a:rPr sz="1200" spc="-30" dirty="0">
                <a:latin typeface="Arial"/>
                <a:cs typeface="Arial"/>
              </a:rPr>
              <a:t> </a:t>
            </a:r>
            <a:r>
              <a:rPr sz="1200" spc="-25" dirty="0">
                <a:latin typeface="Arial"/>
                <a:cs typeface="Arial"/>
              </a:rPr>
              <a:t>hơn</a:t>
            </a: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330"/>
              </a:spcBef>
            </a:pPr>
            <a:r>
              <a:rPr sz="1200" b="1" spc="-10" dirty="0">
                <a:latin typeface="Arial"/>
                <a:cs typeface="Arial"/>
              </a:rPr>
              <a:t>Triển</a:t>
            </a:r>
            <a:r>
              <a:rPr sz="1200" b="1" spc="-60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khai:</a:t>
            </a:r>
            <a:r>
              <a:rPr sz="1200" b="1" spc="-55" dirty="0">
                <a:latin typeface="Arial"/>
                <a:cs typeface="Arial"/>
              </a:rPr>
              <a:t> </a:t>
            </a:r>
            <a:r>
              <a:rPr sz="1200" spc="-10" dirty="0">
                <a:latin typeface="Courier New"/>
                <a:cs typeface="Courier New"/>
              </a:rPr>
              <a:t>dic_algorithm(df,</a:t>
            </a:r>
            <a:r>
              <a:rPr sz="1200" spc="-114" dirty="0">
                <a:latin typeface="Courier New"/>
                <a:cs typeface="Courier New"/>
              </a:rPr>
              <a:t> </a:t>
            </a:r>
            <a:r>
              <a:rPr sz="1200" spc="-10" dirty="0">
                <a:latin typeface="Courier New"/>
                <a:cs typeface="Courier New"/>
              </a:rPr>
              <a:t>min_support)</a:t>
            </a:r>
            <a:endParaRPr sz="1200">
              <a:latin typeface="Courier New"/>
              <a:cs typeface="Courier New"/>
            </a:endParaRPr>
          </a:p>
        </p:txBody>
      </p:sp>
      <p:grpSp>
        <p:nvGrpSpPr>
          <p:cNvPr id="5" name="object 5" descr=""/>
          <p:cNvGrpSpPr/>
          <p:nvPr/>
        </p:nvGrpSpPr>
        <p:grpSpPr>
          <a:xfrm>
            <a:off x="0" y="3110712"/>
            <a:ext cx="5760085" cy="129539"/>
            <a:chOff x="0" y="3110712"/>
            <a:chExt cx="5760085" cy="129539"/>
          </a:xfrm>
        </p:grpSpPr>
        <p:sp>
          <p:nvSpPr>
            <p:cNvPr id="6" name="object 6" descr=""/>
            <p:cNvSpPr/>
            <p:nvPr/>
          </p:nvSpPr>
          <p:spPr>
            <a:xfrm>
              <a:off x="0" y="3110712"/>
              <a:ext cx="1920239" cy="129539"/>
            </a:xfrm>
            <a:custGeom>
              <a:avLst/>
              <a:gdLst/>
              <a:ahLst/>
              <a:cxnLst/>
              <a:rect l="l" t="t" r="r" b="b"/>
              <a:pathLst>
                <a:path w="1920239" h="129539">
                  <a:moveTo>
                    <a:pt x="1919973" y="0"/>
                  </a:moveTo>
                  <a:lnTo>
                    <a:pt x="0" y="0"/>
                  </a:lnTo>
                  <a:lnTo>
                    <a:pt x="0" y="129285"/>
                  </a:lnTo>
                  <a:lnTo>
                    <a:pt x="1919973" y="129285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1919973" y="3110712"/>
              <a:ext cx="1920239" cy="129539"/>
            </a:xfrm>
            <a:custGeom>
              <a:avLst/>
              <a:gdLst/>
              <a:ahLst/>
              <a:cxnLst/>
              <a:rect l="l" t="t" r="r" b="b"/>
              <a:pathLst>
                <a:path w="1920239" h="129539">
                  <a:moveTo>
                    <a:pt x="1919973" y="0"/>
                  </a:moveTo>
                  <a:lnTo>
                    <a:pt x="0" y="0"/>
                  </a:lnTo>
                  <a:lnTo>
                    <a:pt x="0" y="129286"/>
                  </a:lnTo>
                  <a:lnTo>
                    <a:pt x="1919973" y="129286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3839946" y="3110712"/>
              <a:ext cx="1920239" cy="129539"/>
            </a:xfrm>
            <a:custGeom>
              <a:avLst/>
              <a:gdLst/>
              <a:ahLst/>
              <a:cxnLst/>
              <a:rect l="l" t="t" r="r" b="b"/>
              <a:pathLst>
                <a:path w="1920239" h="129539">
                  <a:moveTo>
                    <a:pt x="1919973" y="0"/>
                  </a:moveTo>
                  <a:lnTo>
                    <a:pt x="0" y="0"/>
                  </a:lnTo>
                  <a:lnTo>
                    <a:pt x="0" y="129286"/>
                  </a:lnTo>
                  <a:lnTo>
                    <a:pt x="1919973" y="129286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 descr="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dirty="0"/>
              <a:t>Lê</a:t>
            </a:r>
            <a:r>
              <a:rPr spc="-25" dirty="0"/>
              <a:t> </a:t>
            </a:r>
            <a:r>
              <a:rPr dirty="0"/>
              <a:t>Đình</a:t>
            </a:r>
            <a:r>
              <a:rPr spc="-20" dirty="0"/>
              <a:t> </a:t>
            </a:r>
            <a:r>
              <a:rPr dirty="0"/>
              <a:t>Phùng</a:t>
            </a:r>
            <a:r>
              <a:rPr spc="-25" dirty="0"/>
              <a:t> </a:t>
            </a:r>
            <a:r>
              <a:rPr dirty="0"/>
              <a:t>–</a:t>
            </a:r>
            <a:r>
              <a:rPr spc="-20" dirty="0"/>
              <a:t> </a:t>
            </a:r>
            <a:r>
              <a:rPr spc="-10" dirty="0"/>
              <a:t>18130181</a:t>
            </a:r>
          </a:p>
        </p:txBody>
      </p:sp>
      <p:sp>
        <p:nvSpPr>
          <p:cNvPr id="10" name="object 10" descr=""/>
          <p:cNvSpPr txBox="1"/>
          <p:nvPr/>
        </p:nvSpPr>
        <p:spPr>
          <a:xfrm>
            <a:off x="2584627" y="3115174"/>
            <a:ext cx="591185" cy="119380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600" dirty="0">
                <a:solidFill>
                  <a:srgbClr val="00AEEF"/>
                </a:solidFill>
                <a:latin typeface="Arial"/>
                <a:cs typeface="Arial"/>
                <a:hlinkClick r:id="rId2" action="ppaction://hlinksldjump"/>
              </a:rPr>
              <a:t>Cải</a:t>
            </a:r>
            <a:r>
              <a:rPr sz="600" spc="-30" dirty="0">
                <a:solidFill>
                  <a:srgbClr val="00AEEF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sz="600" dirty="0">
                <a:solidFill>
                  <a:srgbClr val="00AEEF"/>
                </a:solidFill>
                <a:latin typeface="Arial"/>
                <a:cs typeface="Arial"/>
                <a:hlinkClick r:id="rId2" action="ppaction://hlinksldjump"/>
              </a:rPr>
              <a:t>Thiện</a:t>
            </a:r>
            <a:r>
              <a:rPr sz="600" spc="-30" dirty="0">
                <a:solidFill>
                  <a:srgbClr val="00AEEF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sz="600" spc="-10" dirty="0">
                <a:solidFill>
                  <a:srgbClr val="00AEEF"/>
                </a:solidFill>
                <a:latin typeface="Arial"/>
                <a:cs typeface="Arial"/>
                <a:hlinkClick r:id="rId2" action="ppaction://hlinksldjump"/>
              </a:rPr>
              <a:t>Apriori</a:t>
            </a:r>
            <a:endParaRPr sz="600">
              <a:latin typeface="Arial"/>
              <a:cs typeface="Arial"/>
            </a:endParaRPr>
          </a:p>
        </p:txBody>
      </p:sp>
      <p:sp>
        <p:nvSpPr>
          <p:cNvPr id="11" name="object 11" descr="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dirty="0"/>
              <a:t>Năm</a:t>
            </a:r>
            <a:r>
              <a:rPr spc="-30" dirty="0"/>
              <a:t> </a:t>
            </a:r>
            <a:r>
              <a:rPr dirty="0"/>
              <a:t>học</a:t>
            </a:r>
            <a:r>
              <a:rPr spc="-25" dirty="0"/>
              <a:t> </a:t>
            </a:r>
            <a:r>
              <a:rPr spc="-10" dirty="0"/>
              <a:t>2025–2026</a:t>
            </a:r>
          </a:p>
        </p:txBody>
      </p:sp>
      <p:sp>
        <p:nvSpPr>
          <p:cNvPr id="12" name="object 12" descr="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70"/>
              </a:spcBef>
            </a:pPr>
            <a:fld id="{81D60167-4931-47E6-BA6A-407CBD079E47}" type="slidenum">
              <a:rPr spc="-10" dirty="0"/>
              <a:t>10</a:t>
            </a:fld>
            <a:r>
              <a:rPr spc="-70" dirty="0"/>
              <a:t> </a:t>
            </a:r>
            <a:r>
              <a:rPr dirty="0"/>
              <a:t>/</a:t>
            </a:r>
            <a:r>
              <a:rPr spc="-65" dirty="0"/>
              <a:t> </a:t>
            </a:r>
            <a:r>
              <a:rPr spc="-25" dirty="0"/>
              <a:t>32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fast">
        <p:cut thruBlk="0"/>
      </p:transition>
    </mc:Choice>
    <mc:Fallback>
      <p:transition spd="fast">
        <p:cut thruBlk="0"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0"/>
            <a:ext cx="5760085" cy="349250"/>
          </a:xfrm>
          <a:custGeom>
            <a:avLst/>
            <a:gdLst/>
            <a:ahLst/>
            <a:cxnLst/>
            <a:rect l="l" t="t" r="r" b="b"/>
            <a:pathLst>
              <a:path w="5760085" h="349250">
                <a:moveTo>
                  <a:pt x="5759996" y="0"/>
                </a:moveTo>
                <a:lnTo>
                  <a:pt x="0" y="0"/>
                </a:lnTo>
                <a:lnTo>
                  <a:pt x="0" y="348729"/>
                </a:lnTo>
                <a:lnTo>
                  <a:pt x="5759996" y="348729"/>
                </a:lnTo>
                <a:lnTo>
                  <a:pt x="5759996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925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/>
              <a:t>CẢI TIẾN 6:</a:t>
            </a:r>
            <a:r>
              <a:rPr spc="5" dirty="0"/>
              <a:t> </a:t>
            </a:r>
            <a:r>
              <a:rPr spc="-10" dirty="0"/>
              <a:t>PARTITIONING</a:t>
            </a:r>
          </a:p>
        </p:txBody>
      </p:sp>
      <p:sp>
        <p:nvSpPr>
          <p:cNvPr id="4" name="object 4" descr=""/>
          <p:cNvSpPr txBox="1"/>
          <p:nvPr/>
        </p:nvSpPr>
        <p:spPr>
          <a:xfrm>
            <a:off x="135928" y="1009647"/>
            <a:ext cx="4192270" cy="132080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dirty="0">
                <a:latin typeface="Arial"/>
                <a:cs typeface="Arial"/>
              </a:rPr>
              <a:t>Ý</a:t>
            </a:r>
            <a:r>
              <a:rPr sz="1400" spc="20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tưởng:</a:t>
            </a:r>
            <a:endParaRPr sz="1400">
              <a:latin typeface="Arial"/>
              <a:cs typeface="Arial"/>
            </a:endParaRPr>
          </a:p>
          <a:p>
            <a:pPr marL="309880" marR="438784">
              <a:lnSpc>
                <a:spcPct val="121100"/>
              </a:lnSpc>
              <a:spcBef>
                <a:spcPts val="780"/>
              </a:spcBef>
            </a:pPr>
            <a:r>
              <a:rPr sz="1200" dirty="0">
                <a:latin typeface="Arial"/>
                <a:cs typeface="Arial"/>
              </a:rPr>
              <a:t>Chia</a:t>
            </a:r>
            <a:r>
              <a:rPr sz="1200" spc="-25" dirty="0">
                <a:latin typeface="Arial"/>
                <a:cs typeface="Arial"/>
              </a:rPr>
              <a:t> </a:t>
            </a:r>
            <a:r>
              <a:rPr sz="1200" spc="-35" dirty="0">
                <a:latin typeface="Arial"/>
                <a:cs typeface="Arial"/>
              </a:rPr>
              <a:t>cơ</a:t>
            </a:r>
            <a:r>
              <a:rPr sz="1200" spc="-25" dirty="0">
                <a:latin typeface="Arial"/>
                <a:cs typeface="Arial"/>
              </a:rPr>
              <a:t> </a:t>
            </a:r>
            <a:r>
              <a:rPr sz="1200" spc="-35" dirty="0">
                <a:latin typeface="Arial"/>
                <a:cs typeface="Arial"/>
              </a:rPr>
              <a:t>sở</a:t>
            </a:r>
            <a:r>
              <a:rPr sz="1200" spc="-2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dữ</a:t>
            </a:r>
            <a:r>
              <a:rPr sz="1200" spc="-2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liệu</a:t>
            </a:r>
            <a:r>
              <a:rPr sz="1200" spc="-2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thành</a:t>
            </a:r>
            <a:r>
              <a:rPr sz="1200" spc="-2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các</a:t>
            </a:r>
            <a:r>
              <a:rPr sz="1200" spc="-2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phân</a:t>
            </a:r>
            <a:r>
              <a:rPr sz="1200" spc="-2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vùng</a:t>
            </a:r>
            <a:r>
              <a:rPr sz="1200" spc="-25" dirty="0">
                <a:latin typeface="Arial"/>
                <a:cs typeface="Arial"/>
              </a:rPr>
              <a:t> </a:t>
            </a:r>
            <a:r>
              <a:rPr sz="1200" spc="-10" dirty="0">
                <a:latin typeface="Arial"/>
                <a:cs typeface="Arial"/>
              </a:rPr>
              <a:t>(partitions) </a:t>
            </a:r>
            <a:r>
              <a:rPr sz="1200" dirty="0">
                <a:latin typeface="Arial"/>
                <a:cs typeface="Arial"/>
              </a:rPr>
              <a:t>Khai</a:t>
            </a:r>
            <a:r>
              <a:rPr sz="1200" spc="-2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phá</a:t>
            </a:r>
            <a:r>
              <a:rPr sz="1200" spc="-2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cục</a:t>
            </a:r>
            <a:r>
              <a:rPr sz="1200" spc="-2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bộ,</a:t>
            </a:r>
            <a:r>
              <a:rPr sz="1200" spc="-2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xác</a:t>
            </a:r>
            <a:r>
              <a:rPr sz="1200" spc="-2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minh</a:t>
            </a:r>
            <a:r>
              <a:rPr sz="1200" spc="-1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toàn</a:t>
            </a:r>
            <a:r>
              <a:rPr sz="1200" spc="-20" dirty="0">
                <a:latin typeface="Arial"/>
                <a:cs typeface="Arial"/>
              </a:rPr>
              <a:t> </a:t>
            </a:r>
            <a:r>
              <a:rPr sz="1200" spc="-25" dirty="0">
                <a:latin typeface="Arial"/>
                <a:cs typeface="Arial"/>
              </a:rPr>
              <a:t>cục</a:t>
            </a:r>
            <a:endParaRPr sz="1200">
              <a:latin typeface="Arial"/>
              <a:cs typeface="Arial"/>
            </a:endParaRPr>
          </a:p>
          <a:p>
            <a:pPr marL="12700" marR="5080">
              <a:lnSpc>
                <a:spcPct val="100000"/>
              </a:lnSpc>
              <a:spcBef>
                <a:spcPts val="1330"/>
              </a:spcBef>
            </a:pPr>
            <a:r>
              <a:rPr sz="1200" b="1" spc="-10" dirty="0">
                <a:latin typeface="Arial"/>
                <a:cs typeface="Arial"/>
              </a:rPr>
              <a:t>Triển</a:t>
            </a:r>
            <a:r>
              <a:rPr sz="1200" b="1" spc="-70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khai:</a:t>
            </a:r>
            <a:r>
              <a:rPr sz="1200" b="1" spc="-65" dirty="0">
                <a:latin typeface="Arial"/>
                <a:cs typeface="Arial"/>
              </a:rPr>
              <a:t> </a:t>
            </a:r>
            <a:r>
              <a:rPr sz="1200" spc="-10" dirty="0">
                <a:latin typeface="Courier New"/>
                <a:cs typeface="Courier New"/>
              </a:rPr>
              <a:t>partitioning_apriori(df,</a:t>
            </a:r>
            <a:r>
              <a:rPr sz="1200" spc="-135" dirty="0">
                <a:latin typeface="Courier New"/>
                <a:cs typeface="Courier New"/>
              </a:rPr>
              <a:t> </a:t>
            </a:r>
            <a:r>
              <a:rPr sz="1200" spc="-10" dirty="0">
                <a:latin typeface="Courier New"/>
                <a:cs typeface="Courier New"/>
              </a:rPr>
              <a:t>min_support, n_partitions=5)</a:t>
            </a:r>
            <a:endParaRPr sz="1200">
              <a:latin typeface="Courier New"/>
              <a:cs typeface="Courier New"/>
            </a:endParaRPr>
          </a:p>
        </p:txBody>
      </p:sp>
      <p:grpSp>
        <p:nvGrpSpPr>
          <p:cNvPr id="5" name="object 5" descr=""/>
          <p:cNvGrpSpPr/>
          <p:nvPr/>
        </p:nvGrpSpPr>
        <p:grpSpPr>
          <a:xfrm>
            <a:off x="0" y="3110712"/>
            <a:ext cx="5760085" cy="129539"/>
            <a:chOff x="0" y="3110712"/>
            <a:chExt cx="5760085" cy="129539"/>
          </a:xfrm>
        </p:grpSpPr>
        <p:sp>
          <p:nvSpPr>
            <p:cNvPr id="6" name="object 6" descr=""/>
            <p:cNvSpPr/>
            <p:nvPr/>
          </p:nvSpPr>
          <p:spPr>
            <a:xfrm>
              <a:off x="0" y="3110712"/>
              <a:ext cx="1920239" cy="129539"/>
            </a:xfrm>
            <a:custGeom>
              <a:avLst/>
              <a:gdLst/>
              <a:ahLst/>
              <a:cxnLst/>
              <a:rect l="l" t="t" r="r" b="b"/>
              <a:pathLst>
                <a:path w="1920239" h="129539">
                  <a:moveTo>
                    <a:pt x="1919973" y="0"/>
                  </a:moveTo>
                  <a:lnTo>
                    <a:pt x="0" y="0"/>
                  </a:lnTo>
                  <a:lnTo>
                    <a:pt x="0" y="129285"/>
                  </a:lnTo>
                  <a:lnTo>
                    <a:pt x="1919973" y="129285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1919973" y="3110712"/>
              <a:ext cx="1920239" cy="129539"/>
            </a:xfrm>
            <a:custGeom>
              <a:avLst/>
              <a:gdLst/>
              <a:ahLst/>
              <a:cxnLst/>
              <a:rect l="l" t="t" r="r" b="b"/>
              <a:pathLst>
                <a:path w="1920239" h="129539">
                  <a:moveTo>
                    <a:pt x="1919973" y="0"/>
                  </a:moveTo>
                  <a:lnTo>
                    <a:pt x="0" y="0"/>
                  </a:lnTo>
                  <a:lnTo>
                    <a:pt x="0" y="129285"/>
                  </a:lnTo>
                  <a:lnTo>
                    <a:pt x="1919973" y="129285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3839946" y="3110712"/>
              <a:ext cx="1920239" cy="129539"/>
            </a:xfrm>
            <a:custGeom>
              <a:avLst/>
              <a:gdLst/>
              <a:ahLst/>
              <a:cxnLst/>
              <a:rect l="l" t="t" r="r" b="b"/>
              <a:pathLst>
                <a:path w="1920239" h="129539">
                  <a:moveTo>
                    <a:pt x="1919973" y="0"/>
                  </a:moveTo>
                  <a:lnTo>
                    <a:pt x="0" y="0"/>
                  </a:lnTo>
                  <a:lnTo>
                    <a:pt x="0" y="129285"/>
                  </a:lnTo>
                  <a:lnTo>
                    <a:pt x="1919973" y="129285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 descr="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dirty="0"/>
              <a:t>Lê</a:t>
            </a:r>
            <a:r>
              <a:rPr spc="-25" dirty="0"/>
              <a:t> </a:t>
            </a:r>
            <a:r>
              <a:rPr dirty="0"/>
              <a:t>Đình</a:t>
            </a:r>
            <a:r>
              <a:rPr spc="-20" dirty="0"/>
              <a:t> </a:t>
            </a:r>
            <a:r>
              <a:rPr dirty="0"/>
              <a:t>Phùng</a:t>
            </a:r>
            <a:r>
              <a:rPr spc="-25" dirty="0"/>
              <a:t> </a:t>
            </a:r>
            <a:r>
              <a:rPr dirty="0"/>
              <a:t>–</a:t>
            </a:r>
            <a:r>
              <a:rPr spc="-20" dirty="0"/>
              <a:t> </a:t>
            </a:r>
            <a:r>
              <a:rPr spc="-10" dirty="0"/>
              <a:t>18130181</a:t>
            </a:r>
          </a:p>
        </p:txBody>
      </p:sp>
      <p:sp>
        <p:nvSpPr>
          <p:cNvPr id="10" name="object 10" descr=""/>
          <p:cNvSpPr txBox="1"/>
          <p:nvPr/>
        </p:nvSpPr>
        <p:spPr>
          <a:xfrm>
            <a:off x="2584627" y="3115174"/>
            <a:ext cx="591185" cy="119380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600" dirty="0">
                <a:solidFill>
                  <a:srgbClr val="00AEEF"/>
                </a:solidFill>
                <a:latin typeface="Arial"/>
                <a:cs typeface="Arial"/>
                <a:hlinkClick r:id="rId2" action="ppaction://hlinksldjump"/>
              </a:rPr>
              <a:t>Cải</a:t>
            </a:r>
            <a:r>
              <a:rPr sz="600" spc="-30" dirty="0">
                <a:solidFill>
                  <a:srgbClr val="00AEEF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sz="600" dirty="0">
                <a:solidFill>
                  <a:srgbClr val="00AEEF"/>
                </a:solidFill>
                <a:latin typeface="Arial"/>
                <a:cs typeface="Arial"/>
                <a:hlinkClick r:id="rId2" action="ppaction://hlinksldjump"/>
              </a:rPr>
              <a:t>Thiện</a:t>
            </a:r>
            <a:r>
              <a:rPr sz="600" spc="-30" dirty="0">
                <a:solidFill>
                  <a:srgbClr val="00AEEF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sz="600" spc="-10" dirty="0">
                <a:solidFill>
                  <a:srgbClr val="00AEEF"/>
                </a:solidFill>
                <a:latin typeface="Arial"/>
                <a:cs typeface="Arial"/>
                <a:hlinkClick r:id="rId2" action="ppaction://hlinksldjump"/>
              </a:rPr>
              <a:t>Apriori</a:t>
            </a:r>
            <a:endParaRPr sz="600">
              <a:latin typeface="Arial"/>
              <a:cs typeface="Arial"/>
            </a:endParaRPr>
          </a:p>
        </p:txBody>
      </p:sp>
      <p:sp>
        <p:nvSpPr>
          <p:cNvPr id="11" name="object 11" descr="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dirty="0"/>
              <a:t>Năm</a:t>
            </a:r>
            <a:r>
              <a:rPr spc="-30" dirty="0"/>
              <a:t> </a:t>
            </a:r>
            <a:r>
              <a:rPr dirty="0"/>
              <a:t>học</a:t>
            </a:r>
            <a:r>
              <a:rPr spc="-25" dirty="0"/>
              <a:t> </a:t>
            </a:r>
            <a:r>
              <a:rPr spc="-10" dirty="0"/>
              <a:t>2025–2026</a:t>
            </a:r>
          </a:p>
        </p:txBody>
      </p:sp>
      <p:sp>
        <p:nvSpPr>
          <p:cNvPr id="12" name="object 12" descr="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70"/>
              </a:spcBef>
            </a:pPr>
            <a:fld id="{81D60167-4931-47E6-BA6A-407CBD079E47}" type="slidenum">
              <a:rPr spc="-10" dirty="0"/>
              <a:t>10</a:t>
            </a:fld>
            <a:r>
              <a:rPr spc="-70" dirty="0"/>
              <a:t> </a:t>
            </a:r>
            <a:r>
              <a:rPr dirty="0"/>
              <a:t>/</a:t>
            </a:r>
            <a:r>
              <a:rPr spc="-65" dirty="0"/>
              <a:t> </a:t>
            </a:r>
            <a:r>
              <a:rPr spc="-25" dirty="0"/>
              <a:t>32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fast">
        <p:cut thruBlk="0"/>
      </p:transition>
    </mc:Choice>
    <mc:Fallback>
      <p:transition spd="fast">
        <p:cut thruBlk="0"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0"/>
            <a:ext cx="5760085" cy="349250"/>
          </a:xfrm>
          <a:custGeom>
            <a:avLst/>
            <a:gdLst/>
            <a:ahLst/>
            <a:cxnLst/>
            <a:rect l="l" t="t" r="r" b="b"/>
            <a:pathLst>
              <a:path w="5760085" h="349250">
                <a:moveTo>
                  <a:pt x="5759996" y="0"/>
                </a:moveTo>
                <a:lnTo>
                  <a:pt x="0" y="0"/>
                </a:lnTo>
                <a:lnTo>
                  <a:pt x="0" y="348729"/>
                </a:lnTo>
                <a:lnTo>
                  <a:pt x="5759996" y="348729"/>
                </a:lnTo>
                <a:lnTo>
                  <a:pt x="5759996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925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/>
              <a:t>KHUYẾN</a:t>
            </a:r>
            <a:r>
              <a:rPr spc="5" dirty="0"/>
              <a:t> </a:t>
            </a:r>
            <a:r>
              <a:rPr dirty="0"/>
              <a:t>NGHỊ</a:t>
            </a:r>
            <a:r>
              <a:rPr spc="10" dirty="0"/>
              <a:t> </a:t>
            </a:r>
            <a:r>
              <a:rPr dirty="0"/>
              <a:t>SỬ</a:t>
            </a:r>
            <a:r>
              <a:rPr spc="5" dirty="0"/>
              <a:t> </a:t>
            </a:r>
            <a:r>
              <a:rPr spc="-20" dirty="0"/>
              <a:t>DỤNG</a:t>
            </a:r>
          </a:p>
        </p:txBody>
      </p:sp>
      <p:sp>
        <p:nvSpPr>
          <p:cNvPr id="4" name="object 4" descr=""/>
          <p:cNvSpPr txBox="1"/>
          <p:nvPr/>
        </p:nvSpPr>
        <p:spPr>
          <a:xfrm>
            <a:off x="75260" y="765024"/>
            <a:ext cx="1355725" cy="815340"/>
          </a:xfrm>
          <a:prstGeom prst="rect">
            <a:avLst/>
          </a:prstGeom>
        </p:spPr>
        <p:txBody>
          <a:bodyPr vert="horz" wrap="square" lIns="0" tIns="136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75"/>
              </a:spcBef>
            </a:pPr>
            <a:r>
              <a:rPr sz="1400" dirty="0">
                <a:latin typeface="Arial"/>
                <a:cs typeface="Arial"/>
              </a:rPr>
              <a:t>Nhỏ</a:t>
            </a:r>
            <a:r>
              <a:rPr sz="1400" spc="4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(&lt;</a:t>
            </a:r>
            <a:r>
              <a:rPr sz="1400" spc="50" dirty="0">
                <a:latin typeface="Arial"/>
                <a:cs typeface="Arial"/>
              </a:rPr>
              <a:t> </a:t>
            </a:r>
            <a:r>
              <a:rPr sz="1400" spc="-20" dirty="0">
                <a:latin typeface="Arial"/>
                <a:cs typeface="Arial"/>
              </a:rPr>
              <a:t>10K)</a:t>
            </a:r>
            <a:endParaRPr sz="1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785"/>
              </a:spcBef>
            </a:pPr>
            <a:r>
              <a:rPr sz="1200" dirty="0">
                <a:latin typeface="Arial"/>
                <a:cs typeface="Arial"/>
              </a:rPr>
              <a:t>Apriori</a:t>
            </a:r>
            <a:r>
              <a:rPr sz="1200" spc="-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hoặc</a:t>
            </a:r>
            <a:r>
              <a:rPr sz="1200" spc="-5" dirty="0">
                <a:latin typeface="Arial"/>
                <a:cs typeface="Arial"/>
              </a:rPr>
              <a:t> </a:t>
            </a:r>
            <a:r>
              <a:rPr sz="1200" spc="-20" dirty="0">
                <a:latin typeface="Arial"/>
                <a:cs typeface="Arial"/>
              </a:rPr>
              <a:t>ECLAT</a:t>
            </a: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1100" spc="-35" dirty="0">
                <a:latin typeface="Arial"/>
                <a:cs typeface="Arial"/>
              </a:rPr>
              <a:t>Đơn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giản,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dễ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spc="-20" dirty="0">
                <a:latin typeface="Arial"/>
                <a:cs typeface="Arial"/>
              </a:rPr>
              <a:t>hiểu</a:t>
            </a:r>
            <a:endParaRPr sz="1100">
              <a:latin typeface="Arial"/>
              <a:cs typeface="Arial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1965947" y="759843"/>
            <a:ext cx="1691639" cy="815340"/>
          </a:xfrm>
          <a:prstGeom prst="rect">
            <a:avLst/>
          </a:prstGeom>
        </p:spPr>
        <p:txBody>
          <a:bodyPr vert="horz" wrap="square" lIns="0" tIns="136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75"/>
              </a:spcBef>
            </a:pPr>
            <a:r>
              <a:rPr sz="1400" dirty="0">
                <a:latin typeface="Arial"/>
                <a:cs typeface="Arial"/>
              </a:rPr>
              <a:t>Trung</a:t>
            </a:r>
            <a:r>
              <a:rPr sz="1400" spc="3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bình</a:t>
            </a:r>
            <a:r>
              <a:rPr sz="1400" spc="30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(10K-</a:t>
            </a:r>
            <a:r>
              <a:rPr sz="1400" spc="-25" dirty="0">
                <a:latin typeface="Arial"/>
                <a:cs typeface="Arial"/>
              </a:rPr>
              <a:t>1M)</a:t>
            </a:r>
            <a:endParaRPr sz="1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785"/>
              </a:spcBef>
            </a:pPr>
            <a:r>
              <a:rPr sz="1200" spc="-30" dirty="0">
                <a:latin typeface="Arial"/>
                <a:cs typeface="Arial"/>
              </a:rPr>
              <a:t>FP-</a:t>
            </a:r>
            <a:r>
              <a:rPr sz="1200" dirty="0">
                <a:latin typeface="Arial"/>
                <a:cs typeface="Arial"/>
              </a:rPr>
              <a:t>Growth</a:t>
            </a:r>
            <a:r>
              <a:rPr sz="1200" spc="-1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hoặc</a:t>
            </a:r>
            <a:r>
              <a:rPr sz="1200" spc="-15" dirty="0">
                <a:latin typeface="Arial"/>
                <a:cs typeface="Arial"/>
              </a:rPr>
              <a:t> </a:t>
            </a:r>
            <a:r>
              <a:rPr sz="1200" spc="-25" dirty="0">
                <a:latin typeface="Arial"/>
                <a:cs typeface="Arial"/>
              </a:rPr>
              <a:t>DIC</a:t>
            </a: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1100" dirty="0">
                <a:latin typeface="Arial"/>
                <a:cs typeface="Arial"/>
              </a:rPr>
              <a:t>Hiệu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suất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spc="-25" dirty="0">
                <a:latin typeface="Arial"/>
                <a:cs typeface="Arial"/>
              </a:rPr>
              <a:t>tốt</a:t>
            </a:r>
            <a:endParaRPr sz="1100">
              <a:latin typeface="Arial"/>
              <a:cs typeface="Arial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3856621" y="757556"/>
            <a:ext cx="1395095" cy="815340"/>
          </a:xfrm>
          <a:prstGeom prst="rect">
            <a:avLst/>
          </a:prstGeom>
        </p:spPr>
        <p:txBody>
          <a:bodyPr vert="horz" wrap="square" lIns="0" tIns="136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75"/>
              </a:spcBef>
            </a:pPr>
            <a:r>
              <a:rPr sz="1400" dirty="0">
                <a:latin typeface="Arial"/>
                <a:cs typeface="Arial"/>
              </a:rPr>
              <a:t>Lớn</a:t>
            </a:r>
            <a:r>
              <a:rPr sz="1400" spc="-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(&gt; </a:t>
            </a:r>
            <a:r>
              <a:rPr sz="1400" spc="-25" dirty="0">
                <a:latin typeface="Arial"/>
                <a:cs typeface="Arial"/>
              </a:rPr>
              <a:t>1M)</a:t>
            </a:r>
            <a:endParaRPr sz="1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785"/>
              </a:spcBef>
            </a:pPr>
            <a:r>
              <a:rPr sz="1200" spc="-30" dirty="0">
                <a:latin typeface="Arial"/>
                <a:cs typeface="Arial"/>
              </a:rPr>
              <a:t>FP-</a:t>
            </a:r>
            <a:r>
              <a:rPr sz="1200" dirty="0">
                <a:latin typeface="Arial"/>
                <a:cs typeface="Arial"/>
              </a:rPr>
              <a:t>Max,</a:t>
            </a:r>
            <a:r>
              <a:rPr sz="1200" spc="-15" dirty="0">
                <a:latin typeface="Arial"/>
                <a:cs typeface="Arial"/>
              </a:rPr>
              <a:t> </a:t>
            </a:r>
            <a:r>
              <a:rPr sz="1200" spc="-10" dirty="0">
                <a:latin typeface="Arial"/>
                <a:cs typeface="Arial"/>
              </a:rPr>
              <a:t>Partitioning</a:t>
            </a: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1100" dirty="0">
                <a:latin typeface="Arial"/>
                <a:cs typeface="Arial"/>
              </a:rPr>
              <a:t>Dễ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spc="-50" dirty="0">
                <a:latin typeface="Arial"/>
                <a:cs typeface="Arial"/>
              </a:rPr>
              <a:t>mở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spc="-20" dirty="0">
                <a:latin typeface="Arial"/>
                <a:cs typeface="Arial"/>
              </a:rPr>
              <a:t>rộng</a:t>
            </a:r>
            <a:endParaRPr sz="1100">
              <a:latin typeface="Arial"/>
              <a:cs typeface="Arial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433260" y="1772348"/>
            <a:ext cx="4425315" cy="6902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1100"/>
              </a:lnSpc>
              <a:spcBef>
                <a:spcPts val="100"/>
              </a:spcBef>
            </a:pPr>
            <a:r>
              <a:rPr sz="1200" b="1" spc="-10" dirty="0">
                <a:latin typeface="Arial"/>
                <a:cs typeface="Arial"/>
              </a:rPr>
              <a:t>Thời</a:t>
            </a:r>
            <a:r>
              <a:rPr sz="1200" b="1" spc="-20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gian</a:t>
            </a:r>
            <a:r>
              <a:rPr sz="1200" b="1" spc="-20" dirty="0">
                <a:latin typeface="Arial"/>
                <a:cs typeface="Arial"/>
              </a:rPr>
              <a:t> </a:t>
            </a:r>
            <a:r>
              <a:rPr sz="1200" b="1" spc="-10" dirty="0">
                <a:latin typeface="Arial"/>
                <a:cs typeface="Arial"/>
              </a:rPr>
              <a:t>thực/Streaming</a:t>
            </a:r>
            <a:r>
              <a:rPr sz="1200" spc="-10" dirty="0">
                <a:latin typeface="Arial"/>
                <a:cs typeface="Arial"/>
              </a:rPr>
              <a:t>:</a:t>
            </a:r>
            <a:r>
              <a:rPr sz="1200" spc="-2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Các</a:t>
            </a:r>
            <a:r>
              <a:rPr sz="1200" spc="-20" dirty="0">
                <a:latin typeface="Arial"/>
                <a:cs typeface="Arial"/>
              </a:rPr>
              <a:t> </a:t>
            </a:r>
            <a:r>
              <a:rPr sz="1200" spc="-25" dirty="0">
                <a:latin typeface="Arial"/>
                <a:cs typeface="Arial"/>
              </a:rPr>
              <a:t>phương</a:t>
            </a:r>
            <a:r>
              <a:rPr sz="1200" spc="-2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pháp</a:t>
            </a:r>
            <a:r>
              <a:rPr sz="1200" spc="-2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dựa</a:t>
            </a:r>
            <a:r>
              <a:rPr sz="1200" spc="-2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trên</a:t>
            </a:r>
            <a:r>
              <a:rPr sz="1200" spc="-20" dirty="0">
                <a:latin typeface="Arial"/>
                <a:cs typeface="Arial"/>
              </a:rPr>
              <a:t> </a:t>
            </a:r>
            <a:r>
              <a:rPr sz="1200" spc="-10" dirty="0">
                <a:latin typeface="Arial"/>
                <a:cs typeface="Arial"/>
              </a:rPr>
              <a:t>sampling </a:t>
            </a:r>
            <a:r>
              <a:rPr sz="1200" b="1" dirty="0">
                <a:latin typeface="Arial"/>
                <a:cs typeface="Arial"/>
              </a:rPr>
              <a:t>Dataset</a:t>
            </a:r>
            <a:r>
              <a:rPr sz="1200" b="1" spc="-25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thưa</a:t>
            </a:r>
            <a:r>
              <a:rPr sz="1200" b="1" spc="-25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(Sparse)</a:t>
            </a:r>
            <a:r>
              <a:rPr sz="1200" dirty="0">
                <a:latin typeface="Arial"/>
                <a:cs typeface="Arial"/>
              </a:rPr>
              <a:t>:</a:t>
            </a:r>
            <a:r>
              <a:rPr sz="1200" spc="-25" dirty="0">
                <a:latin typeface="Arial"/>
                <a:cs typeface="Arial"/>
              </a:rPr>
              <a:t> </a:t>
            </a:r>
            <a:r>
              <a:rPr sz="1200" spc="-10" dirty="0">
                <a:latin typeface="Arial"/>
                <a:cs typeface="Arial"/>
              </a:rPr>
              <a:t>ECLAT</a:t>
            </a:r>
            <a:r>
              <a:rPr sz="1200" spc="-2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(định</a:t>
            </a:r>
            <a:r>
              <a:rPr sz="1200" spc="-2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dạng</a:t>
            </a:r>
            <a:r>
              <a:rPr sz="1200" spc="-2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vertical</a:t>
            </a:r>
            <a:r>
              <a:rPr sz="1200" spc="-2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rất</a:t>
            </a:r>
            <a:r>
              <a:rPr sz="1200" spc="-2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hiệu</a:t>
            </a:r>
            <a:r>
              <a:rPr sz="1200" spc="-25" dirty="0">
                <a:latin typeface="Arial"/>
                <a:cs typeface="Arial"/>
              </a:rPr>
              <a:t> </a:t>
            </a:r>
            <a:r>
              <a:rPr sz="1200" spc="-20" dirty="0">
                <a:latin typeface="Arial"/>
                <a:cs typeface="Arial"/>
              </a:rPr>
              <a:t>quả) </a:t>
            </a:r>
            <a:r>
              <a:rPr sz="1200" b="1" dirty="0">
                <a:latin typeface="Arial"/>
                <a:cs typeface="Arial"/>
              </a:rPr>
              <a:t>Bộ</a:t>
            </a:r>
            <a:r>
              <a:rPr sz="1200" b="1" spc="-30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nhớ</a:t>
            </a:r>
            <a:r>
              <a:rPr sz="1200" b="1" spc="-30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hạn</a:t>
            </a:r>
            <a:r>
              <a:rPr sz="1200" b="1" spc="-25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chế</a:t>
            </a:r>
            <a:r>
              <a:rPr sz="1200" dirty="0">
                <a:latin typeface="Arial"/>
                <a:cs typeface="Arial"/>
              </a:rPr>
              <a:t>:</a:t>
            </a:r>
            <a:r>
              <a:rPr sz="1200" spc="-30" dirty="0">
                <a:latin typeface="Arial"/>
                <a:cs typeface="Arial"/>
              </a:rPr>
              <a:t> </a:t>
            </a:r>
            <a:r>
              <a:rPr sz="1200" spc="-10" dirty="0">
                <a:latin typeface="Arial"/>
                <a:cs typeface="Arial"/>
              </a:rPr>
              <a:t>Transaction</a:t>
            </a:r>
            <a:r>
              <a:rPr sz="1200" spc="-2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Reduction</a:t>
            </a:r>
            <a:r>
              <a:rPr sz="1200" spc="-3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hoặc</a:t>
            </a:r>
            <a:r>
              <a:rPr sz="1200" spc="-30" dirty="0">
                <a:latin typeface="Arial"/>
                <a:cs typeface="Arial"/>
              </a:rPr>
              <a:t> </a:t>
            </a:r>
            <a:r>
              <a:rPr sz="1200" spc="-10" dirty="0">
                <a:latin typeface="Arial"/>
                <a:cs typeface="Arial"/>
              </a:rPr>
              <a:t>Partitioning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8" name="object 8" descr=""/>
          <p:cNvGrpSpPr/>
          <p:nvPr/>
        </p:nvGrpSpPr>
        <p:grpSpPr>
          <a:xfrm>
            <a:off x="0" y="3110712"/>
            <a:ext cx="5760085" cy="129539"/>
            <a:chOff x="0" y="3110712"/>
            <a:chExt cx="5760085" cy="129539"/>
          </a:xfrm>
        </p:grpSpPr>
        <p:sp>
          <p:nvSpPr>
            <p:cNvPr id="9" name="object 9" descr=""/>
            <p:cNvSpPr/>
            <p:nvPr/>
          </p:nvSpPr>
          <p:spPr>
            <a:xfrm>
              <a:off x="0" y="3110712"/>
              <a:ext cx="1920239" cy="129539"/>
            </a:xfrm>
            <a:custGeom>
              <a:avLst/>
              <a:gdLst/>
              <a:ahLst/>
              <a:cxnLst/>
              <a:rect l="l" t="t" r="r" b="b"/>
              <a:pathLst>
                <a:path w="1920239" h="129539">
                  <a:moveTo>
                    <a:pt x="1919973" y="0"/>
                  </a:moveTo>
                  <a:lnTo>
                    <a:pt x="0" y="0"/>
                  </a:lnTo>
                  <a:lnTo>
                    <a:pt x="0" y="129286"/>
                  </a:lnTo>
                  <a:lnTo>
                    <a:pt x="1919973" y="129286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1919973" y="3110712"/>
              <a:ext cx="1920239" cy="129539"/>
            </a:xfrm>
            <a:custGeom>
              <a:avLst/>
              <a:gdLst/>
              <a:ahLst/>
              <a:cxnLst/>
              <a:rect l="l" t="t" r="r" b="b"/>
              <a:pathLst>
                <a:path w="1920239" h="129539">
                  <a:moveTo>
                    <a:pt x="1919973" y="0"/>
                  </a:moveTo>
                  <a:lnTo>
                    <a:pt x="0" y="0"/>
                  </a:lnTo>
                  <a:lnTo>
                    <a:pt x="0" y="129286"/>
                  </a:lnTo>
                  <a:lnTo>
                    <a:pt x="1919973" y="129286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3839946" y="3110712"/>
              <a:ext cx="1920239" cy="129539"/>
            </a:xfrm>
            <a:custGeom>
              <a:avLst/>
              <a:gdLst/>
              <a:ahLst/>
              <a:cxnLst/>
              <a:rect l="l" t="t" r="r" b="b"/>
              <a:pathLst>
                <a:path w="1920239" h="129539">
                  <a:moveTo>
                    <a:pt x="1919973" y="0"/>
                  </a:moveTo>
                  <a:lnTo>
                    <a:pt x="0" y="0"/>
                  </a:lnTo>
                  <a:lnTo>
                    <a:pt x="0" y="129286"/>
                  </a:lnTo>
                  <a:lnTo>
                    <a:pt x="1919973" y="129286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 descr="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dirty="0"/>
              <a:t>Lê</a:t>
            </a:r>
            <a:r>
              <a:rPr spc="-25" dirty="0"/>
              <a:t> </a:t>
            </a:r>
            <a:r>
              <a:rPr dirty="0"/>
              <a:t>Đình</a:t>
            </a:r>
            <a:r>
              <a:rPr spc="-20" dirty="0"/>
              <a:t> </a:t>
            </a:r>
            <a:r>
              <a:rPr dirty="0"/>
              <a:t>Phùng</a:t>
            </a:r>
            <a:r>
              <a:rPr spc="-25" dirty="0"/>
              <a:t> </a:t>
            </a:r>
            <a:r>
              <a:rPr dirty="0"/>
              <a:t>–</a:t>
            </a:r>
            <a:r>
              <a:rPr spc="-20" dirty="0"/>
              <a:t> </a:t>
            </a:r>
            <a:r>
              <a:rPr spc="-10" dirty="0"/>
              <a:t>18130181</a:t>
            </a:r>
          </a:p>
        </p:txBody>
      </p:sp>
      <p:sp>
        <p:nvSpPr>
          <p:cNvPr id="13" name="object 13" descr=""/>
          <p:cNvSpPr txBox="1"/>
          <p:nvPr/>
        </p:nvSpPr>
        <p:spPr>
          <a:xfrm>
            <a:off x="2584627" y="3115174"/>
            <a:ext cx="591185" cy="119380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600" dirty="0">
                <a:solidFill>
                  <a:srgbClr val="00AEEF"/>
                </a:solidFill>
                <a:latin typeface="Arial"/>
                <a:cs typeface="Arial"/>
                <a:hlinkClick r:id="rId2" action="ppaction://hlinksldjump"/>
              </a:rPr>
              <a:t>Cải</a:t>
            </a:r>
            <a:r>
              <a:rPr sz="600" spc="-30" dirty="0">
                <a:solidFill>
                  <a:srgbClr val="00AEEF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sz="600" dirty="0">
                <a:solidFill>
                  <a:srgbClr val="00AEEF"/>
                </a:solidFill>
                <a:latin typeface="Arial"/>
                <a:cs typeface="Arial"/>
                <a:hlinkClick r:id="rId2" action="ppaction://hlinksldjump"/>
              </a:rPr>
              <a:t>Thiện</a:t>
            </a:r>
            <a:r>
              <a:rPr sz="600" spc="-30" dirty="0">
                <a:solidFill>
                  <a:srgbClr val="00AEEF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sz="600" spc="-10" dirty="0">
                <a:solidFill>
                  <a:srgbClr val="00AEEF"/>
                </a:solidFill>
                <a:latin typeface="Arial"/>
                <a:cs typeface="Arial"/>
                <a:hlinkClick r:id="rId2" action="ppaction://hlinksldjump"/>
              </a:rPr>
              <a:t>Apriori</a:t>
            </a:r>
            <a:endParaRPr sz="600">
              <a:latin typeface="Arial"/>
              <a:cs typeface="Arial"/>
            </a:endParaRPr>
          </a:p>
        </p:txBody>
      </p:sp>
      <p:sp>
        <p:nvSpPr>
          <p:cNvPr id="14" name="object 14" descr="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dirty="0"/>
              <a:t>Năm</a:t>
            </a:r>
            <a:r>
              <a:rPr spc="-30" dirty="0"/>
              <a:t> </a:t>
            </a:r>
            <a:r>
              <a:rPr dirty="0"/>
              <a:t>học</a:t>
            </a:r>
            <a:r>
              <a:rPr spc="-25" dirty="0"/>
              <a:t> </a:t>
            </a:r>
            <a:r>
              <a:rPr spc="-10" dirty="0"/>
              <a:t>2025–2026</a:t>
            </a:r>
          </a:p>
        </p:txBody>
      </p:sp>
      <p:sp>
        <p:nvSpPr>
          <p:cNvPr id="15" name="object 15" descr="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70"/>
              </a:spcBef>
            </a:pPr>
            <a:fld id="{81D60167-4931-47E6-BA6A-407CBD079E47}" type="slidenum">
              <a:rPr spc="-10" dirty="0"/>
              <a:t>10</a:t>
            </a:fld>
            <a:r>
              <a:rPr spc="-70" dirty="0"/>
              <a:t> </a:t>
            </a:r>
            <a:r>
              <a:rPr dirty="0"/>
              <a:t>/</a:t>
            </a:r>
            <a:r>
              <a:rPr spc="-65" dirty="0"/>
              <a:t> </a:t>
            </a:r>
            <a:r>
              <a:rPr spc="-25" dirty="0"/>
              <a:t>32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fast">
        <p:cut thruBlk="0"/>
      </p:transition>
    </mc:Choice>
    <mc:Fallback>
      <p:transition spd="fast">
        <p:cut thruBlk="0"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0"/>
            <a:ext cx="5760085" cy="349250"/>
          </a:xfrm>
          <a:custGeom>
            <a:avLst/>
            <a:gdLst/>
            <a:ahLst/>
            <a:cxnLst/>
            <a:rect l="l" t="t" r="r" b="b"/>
            <a:pathLst>
              <a:path w="5760085" h="349250">
                <a:moveTo>
                  <a:pt x="5759996" y="0"/>
                </a:moveTo>
                <a:lnTo>
                  <a:pt x="0" y="0"/>
                </a:lnTo>
                <a:lnTo>
                  <a:pt x="0" y="348729"/>
                </a:lnTo>
                <a:lnTo>
                  <a:pt x="5759996" y="348729"/>
                </a:lnTo>
                <a:lnTo>
                  <a:pt x="5759996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925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/>
              <a:t>KẾT</a:t>
            </a:r>
            <a:r>
              <a:rPr spc="35" dirty="0"/>
              <a:t> </a:t>
            </a:r>
            <a:r>
              <a:rPr spc="-20" dirty="0"/>
              <a:t>LUẬN</a:t>
            </a:r>
          </a:p>
        </p:txBody>
      </p:sp>
      <p:sp>
        <p:nvSpPr>
          <p:cNvPr id="4" name="object 4" descr=""/>
          <p:cNvSpPr txBox="1"/>
          <p:nvPr/>
        </p:nvSpPr>
        <p:spPr>
          <a:xfrm>
            <a:off x="135928" y="361967"/>
            <a:ext cx="5488305" cy="2705735"/>
          </a:xfrm>
          <a:prstGeom prst="rect">
            <a:avLst/>
          </a:prstGeom>
        </p:spPr>
        <p:txBody>
          <a:bodyPr vert="horz" wrap="square" lIns="0" tIns="138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90"/>
              </a:spcBef>
            </a:pPr>
            <a:r>
              <a:rPr sz="1400" dirty="0">
                <a:latin typeface="Arial"/>
                <a:cs typeface="Arial"/>
              </a:rPr>
              <a:t>Điểm</a:t>
            </a:r>
            <a:r>
              <a:rPr sz="1400" spc="70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chính:</a:t>
            </a:r>
            <a:endParaRPr sz="1400">
              <a:latin typeface="Arial"/>
              <a:cs typeface="Arial"/>
            </a:endParaRPr>
          </a:p>
          <a:p>
            <a:pPr marL="309880" marR="1924685">
              <a:lnSpc>
                <a:spcPct val="121100"/>
              </a:lnSpc>
              <a:spcBef>
                <a:spcPts val="495"/>
              </a:spcBef>
            </a:pPr>
            <a:r>
              <a:rPr sz="1200" dirty="0">
                <a:latin typeface="Arial"/>
                <a:cs typeface="Arial"/>
              </a:rPr>
              <a:t>Apriori:</a:t>
            </a:r>
            <a:r>
              <a:rPr sz="1200" spc="-1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Nền</a:t>
            </a:r>
            <a:r>
              <a:rPr sz="1200" spc="-1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tảng</a:t>
            </a:r>
            <a:r>
              <a:rPr sz="1200" spc="-1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cho</a:t>
            </a:r>
            <a:r>
              <a:rPr sz="1200" spc="-1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khai</a:t>
            </a:r>
            <a:r>
              <a:rPr sz="1200" spc="-1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phá</a:t>
            </a:r>
            <a:r>
              <a:rPr sz="1200" spc="-1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frequent</a:t>
            </a:r>
            <a:r>
              <a:rPr sz="1200" spc="-15" dirty="0">
                <a:latin typeface="Arial"/>
                <a:cs typeface="Arial"/>
              </a:rPr>
              <a:t> </a:t>
            </a:r>
            <a:r>
              <a:rPr sz="1200" spc="-10" dirty="0">
                <a:latin typeface="Arial"/>
                <a:cs typeface="Arial"/>
              </a:rPr>
              <a:t>itemsets </a:t>
            </a:r>
            <a:r>
              <a:rPr sz="1200" dirty="0">
                <a:latin typeface="Arial"/>
                <a:cs typeface="Arial"/>
              </a:rPr>
              <a:t>Đã</a:t>
            </a:r>
            <a:r>
              <a:rPr sz="1200" spc="-1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triển</a:t>
            </a:r>
            <a:r>
              <a:rPr sz="1200" spc="-1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khai</a:t>
            </a:r>
            <a:r>
              <a:rPr sz="1200" spc="-1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6</a:t>
            </a:r>
            <a:r>
              <a:rPr sz="1200" spc="-1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thuật</a:t>
            </a:r>
            <a:r>
              <a:rPr sz="1200" spc="-1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toán</a:t>
            </a:r>
            <a:r>
              <a:rPr sz="1200" spc="-1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cải</a:t>
            </a:r>
            <a:r>
              <a:rPr sz="1200" spc="-10" dirty="0">
                <a:latin typeface="Arial"/>
                <a:cs typeface="Arial"/>
              </a:rPr>
              <a:t> </a:t>
            </a:r>
            <a:r>
              <a:rPr sz="1200" spc="-20" dirty="0">
                <a:latin typeface="Arial"/>
                <a:cs typeface="Arial"/>
              </a:rPr>
              <a:t>tiến</a:t>
            </a:r>
            <a:endParaRPr sz="1200">
              <a:latin typeface="Arial"/>
              <a:cs typeface="Arial"/>
            </a:endParaRPr>
          </a:p>
          <a:p>
            <a:pPr marL="309880" marR="1473200">
              <a:lnSpc>
                <a:spcPct val="121100"/>
              </a:lnSpc>
            </a:pPr>
            <a:r>
              <a:rPr sz="1200" dirty="0">
                <a:latin typeface="Arial"/>
                <a:cs typeface="Arial"/>
              </a:rPr>
              <a:t>Giảm</a:t>
            </a:r>
            <a:r>
              <a:rPr sz="1200" spc="-3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30-50%</a:t>
            </a:r>
            <a:r>
              <a:rPr sz="1200" spc="-30" dirty="0">
                <a:latin typeface="Arial"/>
                <a:cs typeface="Arial"/>
              </a:rPr>
              <a:t> </a:t>
            </a:r>
            <a:r>
              <a:rPr sz="1200" spc="-20" dirty="0">
                <a:latin typeface="Arial"/>
                <a:cs typeface="Arial"/>
              </a:rPr>
              <a:t>thời</a:t>
            </a:r>
            <a:r>
              <a:rPr sz="1200" spc="-2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gian</a:t>
            </a:r>
            <a:r>
              <a:rPr sz="1200" spc="-3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thực</a:t>
            </a:r>
            <a:r>
              <a:rPr sz="1200" spc="-3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thi</a:t>
            </a:r>
            <a:r>
              <a:rPr sz="1200" spc="-25" dirty="0">
                <a:latin typeface="Arial"/>
                <a:cs typeface="Arial"/>
              </a:rPr>
              <a:t> </a:t>
            </a:r>
            <a:r>
              <a:rPr sz="1200" spc="-35" dirty="0">
                <a:latin typeface="Arial"/>
                <a:cs typeface="Arial"/>
              </a:rPr>
              <a:t>với</a:t>
            </a:r>
            <a:r>
              <a:rPr sz="1200" spc="-3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các</a:t>
            </a:r>
            <a:r>
              <a:rPr sz="1200" spc="-2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kỹ</a:t>
            </a:r>
            <a:r>
              <a:rPr sz="1200" spc="-3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thuật</a:t>
            </a:r>
            <a:r>
              <a:rPr sz="1200" spc="-3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tối</a:t>
            </a:r>
            <a:r>
              <a:rPr sz="1200" spc="-25" dirty="0">
                <a:latin typeface="Arial"/>
                <a:cs typeface="Arial"/>
              </a:rPr>
              <a:t> ưu </a:t>
            </a:r>
            <a:r>
              <a:rPr sz="1200" spc="-30" dirty="0">
                <a:latin typeface="Arial"/>
                <a:cs typeface="Arial"/>
              </a:rPr>
              <a:t>FP-</a:t>
            </a:r>
            <a:r>
              <a:rPr sz="1200" spc="-20" dirty="0">
                <a:latin typeface="Arial"/>
                <a:cs typeface="Arial"/>
              </a:rPr>
              <a:t>Growth/FP-</a:t>
            </a:r>
            <a:r>
              <a:rPr sz="1200" dirty="0">
                <a:latin typeface="Arial"/>
                <a:cs typeface="Arial"/>
              </a:rPr>
              <a:t>Max</a:t>
            </a:r>
            <a:r>
              <a:rPr sz="1200" spc="-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phù</a:t>
            </a:r>
            <a:r>
              <a:rPr sz="1200" spc="-5" dirty="0">
                <a:latin typeface="Arial"/>
                <a:cs typeface="Arial"/>
              </a:rPr>
              <a:t> </a:t>
            </a:r>
            <a:r>
              <a:rPr sz="1200" spc="-20" dirty="0">
                <a:latin typeface="Arial"/>
                <a:cs typeface="Arial"/>
              </a:rPr>
              <a:t>hợp</a:t>
            </a:r>
            <a:r>
              <a:rPr sz="1200" spc="-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cho môi</a:t>
            </a:r>
            <a:r>
              <a:rPr sz="1200" spc="-5" dirty="0">
                <a:latin typeface="Arial"/>
                <a:cs typeface="Arial"/>
              </a:rPr>
              <a:t> </a:t>
            </a:r>
            <a:r>
              <a:rPr sz="1200" spc="-25" dirty="0">
                <a:latin typeface="Arial"/>
                <a:cs typeface="Arial"/>
              </a:rPr>
              <a:t>trường</a:t>
            </a:r>
            <a:r>
              <a:rPr sz="1200" spc="-5" dirty="0">
                <a:latin typeface="Arial"/>
                <a:cs typeface="Arial"/>
              </a:rPr>
              <a:t> </a:t>
            </a:r>
            <a:r>
              <a:rPr sz="1200" spc="-10" dirty="0">
                <a:latin typeface="Arial"/>
                <a:cs typeface="Arial"/>
              </a:rPr>
              <a:t>production</a:t>
            </a: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705"/>
              </a:spcBef>
            </a:pP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200" b="1" dirty="0">
                <a:latin typeface="Arial"/>
                <a:cs typeface="Arial"/>
              </a:rPr>
              <a:t>Các</a:t>
            </a:r>
            <a:r>
              <a:rPr sz="1200" b="1" spc="-25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thuật</a:t>
            </a:r>
            <a:r>
              <a:rPr sz="1200" b="1" spc="-25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toán</a:t>
            </a:r>
            <a:r>
              <a:rPr sz="1200" b="1" spc="-25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đã</a:t>
            </a:r>
            <a:r>
              <a:rPr sz="1200" b="1" spc="-25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triển</a:t>
            </a:r>
            <a:r>
              <a:rPr sz="1200" b="1" spc="-20" dirty="0">
                <a:latin typeface="Arial"/>
                <a:cs typeface="Arial"/>
              </a:rPr>
              <a:t> </a:t>
            </a:r>
            <a:r>
              <a:rPr sz="1200" b="1" spc="-10" dirty="0">
                <a:latin typeface="Arial"/>
                <a:cs typeface="Arial"/>
              </a:rPr>
              <a:t>khai:</a:t>
            </a:r>
            <a:endParaRPr sz="1200">
              <a:latin typeface="Arial"/>
              <a:cs typeface="Arial"/>
            </a:endParaRPr>
          </a:p>
          <a:p>
            <a:pPr marL="309880" marR="2565400">
              <a:lnSpc>
                <a:spcPct val="101499"/>
              </a:lnSpc>
              <a:spcBef>
                <a:spcPts val="45"/>
              </a:spcBef>
            </a:pPr>
            <a:r>
              <a:rPr sz="1200" dirty="0">
                <a:latin typeface="Arial"/>
                <a:cs typeface="Arial"/>
              </a:rPr>
              <a:t>Sampling,</a:t>
            </a:r>
            <a:r>
              <a:rPr sz="1200" spc="-25" dirty="0">
                <a:latin typeface="Arial"/>
                <a:cs typeface="Arial"/>
              </a:rPr>
              <a:t> </a:t>
            </a:r>
            <a:r>
              <a:rPr sz="1200" spc="-35" dirty="0">
                <a:latin typeface="Arial"/>
                <a:cs typeface="Arial"/>
              </a:rPr>
              <a:t>DHP,</a:t>
            </a:r>
            <a:r>
              <a:rPr sz="1200" spc="-20" dirty="0">
                <a:latin typeface="Arial"/>
                <a:cs typeface="Arial"/>
              </a:rPr>
              <a:t> </a:t>
            </a:r>
            <a:r>
              <a:rPr sz="1200" spc="-10" dirty="0">
                <a:latin typeface="Arial"/>
                <a:cs typeface="Arial"/>
              </a:rPr>
              <a:t>Transaction</a:t>
            </a:r>
            <a:r>
              <a:rPr sz="1200" spc="-25" dirty="0">
                <a:latin typeface="Arial"/>
                <a:cs typeface="Arial"/>
              </a:rPr>
              <a:t> </a:t>
            </a:r>
            <a:r>
              <a:rPr sz="1200" spc="-10" dirty="0">
                <a:latin typeface="Arial"/>
                <a:cs typeface="Arial"/>
              </a:rPr>
              <a:t>Reduction </a:t>
            </a:r>
            <a:r>
              <a:rPr sz="1200" spc="-35" dirty="0">
                <a:latin typeface="Arial"/>
                <a:cs typeface="Arial"/>
              </a:rPr>
              <a:t>ECLAT, </a:t>
            </a:r>
            <a:r>
              <a:rPr sz="1200" dirty="0">
                <a:latin typeface="Arial"/>
                <a:cs typeface="Arial"/>
              </a:rPr>
              <a:t>DIC,</a:t>
            </a:r>
            <a:r>
              <a:rPr sz="1200" spc="-30" dirty="0">
                <a:latin typeface="Arial"/>
                <a:cs typeface="Arial"/>
              </a:rPr>
              <a:t> </a:t>
            </a:r>
            <a:r>
              <a:rPr sz="1200" spc="-10" dirty="0">
                <a:latin typeface="Arial"/>
                <a:cs typeface="Arial"/>
              </a:rPr>
              <a:t>Partitioning</a:t>
            </a: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1200" b="1" dirty="0">
                <a:latin typeface="Arial"/>
                <a:cs typeface="Arial"/>
              </a:rPr>
              <a:t>Ứng</a:t>
            </a:r>
            <a:r>
              <a:rPr sz="1200" b="1" spc="-35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dụng</a:t>
            </a:r>
            <a:r>
              <a:rPr sz="1200" b="1" spc="-30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thực</a:t>
            </a:r>
            <a:r>
              <a:rPr sz="1200" b="1" spc="-35" dirty="0">
                <a:latin typeface="Arial"/>
                <a:cs typeface="Arial"/>
              </a:rPr>
              <a:t> </a:t>
            </a:r>
            <a:r>
              <a:rPr sz="1200" b="1" spc="-25" dirty="0">
                <a:latin typeface="Arial"/>
                <a:cs typeface="Arial"/>
              </a:rPr>
              <a:t>tế:</a:t>
            </a:r>
            <a:endParaRPr sz="1200">
              <a:latin typeface="Arial"/>
              <a:cs typeface="Arial"/>
            </a:endParaRPr>
          </a:p>
          <a:p>
            <a:pPr marL="309880" marR="5080">
              <a:lnSpc>
                <a:spcPct val="100000"/>
              </a:lnSpc>
              <a:spcBef>
                <a:spcPts val="70"/>
              </a:spcBef>
            </a:pPr>
            <a:r>
              <a:rPr sz="1200" dirty="0">
                <a:latin typeface="Arial"/>
                <a:cs typeface="Arial"/>
              </a:rPr>
              <a:t>Bán</a:t>
            </a:r>
            <a:r>
              <a:rPr sz="1200" spc="-2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lẻ</a:t>
            </a:r>
            <a:r>
              <a:rPr sz="1200" spc="-2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(Retail)</a:t>
            </a:r>
            <a:r>
              <a:rPr sz="1200" spc="-2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&amp;</a:t>
            </a:r>
            <a:r>
              <a:rPr sz="1200" spc="-25" dirty="0">
                <a:latin typeface="Arial"/>
                <a:cs typeface="Arial"/>
              </a:rPr>
              <a:t> Thương</a:t>
            </a:r>
            <a:r>
              <a:rPr sz="1200" spc="-2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mại</a:t>
            </a:r>
            <a:r>
              <a:rPr sz="1200" spc="-2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điện</a:t>
            </a:r>
            <a:r>
              <a:rPr sz="1200" spc="-25" dirty="0">
                <a:latin typeface="Arial"/>
                <a:cs typeface="Arial"/>
              </a:rPr>
              <a:t> </a:t>
            </a:r>
            <a:r>
              <a:rPr sz="1200" spc="-10" dirty="0">
                <a:latin typeface="Arial"/>
                <a:cs typeface="Arial"/>
              </a:rPr>
              <a:t>tử,</a:t>
            </a:r>
            <a:r>
              <a:rPr sz="1200" spc="-2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Chăm</a:t>
            </a:r>
            <a:r>
              <a:rPr sz="1200" spc="-2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sóc</a:t>
            </a:r>
            <a:r>
              <a:rPr sz="1200" spc="-20" dirty="0">
                <a:latin typeface="Arial"/>
                <a:cs typeface="Arial"/>
              </a:rPr>
              <a:t> </a:t>
            </a:r>
            <a:r>
              <a:rPr sz="1200" spc="-10" dirty="0">
                <a:latin typeface="Arial"/>
                <a:cs typeface="Arial"/>
              </a:rPr>
              <a:t>sức</a:t>
            </a:r>
            <a:r>
              <a:rPr sz="1200" spc="-2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khỏe,</a:t>
            </a:r>
            <a:r>
              <a:rPr sz="1200" spc="-2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Khai</a:t>
            </a:r>
            <a:r>
              <a:rPr sz="1200" spc="-2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phá</a:t>
            </a:r>
            <a:r>
              <a:rPr sz="1200" spc="-2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sử</a:t>
            </a:r>
            <a:r>
              <a:rPr sz="1200" spc="-20" dirty="0">
                <a:latin typeface="Arial"/>
                <a:cs typeface="Arial"/>
              </a:rPr>
              <a:t> dụng </a:t>
            </a:r>
            <a:r>
              <a:rPr sz="1200" dirty="0">
                <a:latin typeface="Arial"/>
                <a:cs typeface="Arial"/>
              </a:rPr>
              <a:t>web,</a:t>
            </a:r>
            <a:r>
              <a:rPr sz="1200" spc="-2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Tin</a:t>
            </a:r>
            <a:r>
              <a:rPr sz="1200" spc="-2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sinh</a:t>
            </a:r>
            <a:r>
              <a:rPr sz="1200" spc="-20" dirty="0">
                <a:latin typeface="Arial"/>
                <a:cs typeface="Arial"/>
              </a:rPr>
              <a:t> </a:t>
            </a:r>
            <a:r>
              <a:rPr sz="1200" spc="-25" dirty="0">
                <a:latin typeface="Arial"/>
                <a:cs typeface="Arial"/>
              </a:rPr>
              <a:t>học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5" name="object 5" descr=""/>
          <p:cNvGrpSpPr/>
          <p:nvPr/>
        </p:nvGrpSpPr>
        <p:grpSpPr>
          <a:xfrm>
            <a:off x="0" y="3110712"/>
            <a:ext cx="5760085" cy="129539"/>
            <a:chOff x="0" y="3110712"/>
            <a:chExt cx="5760085" cy="129539"/>
          </a:xfrm>
        </p:grpSpPr>
        <p:sp>
          <p:nvSpPr>
            <p:cNvPr id="6" name="object 6" descr=""/>
            <p:cNvSpPr/>
            <p:nvPr/>
          </p:nvSpPr>
          <p:spPr>
            <a:xfrm>
              <a:off x="0" y="3110712"/>
              <a:ext cx="1920239" cy="129539"/>
            </a:xfrm>
            <a:custGeom>
              <a:avLst/>
              <a:gdLst/>
              <a:ahLst/>
              <a:cxnLst/>
              <a:rect l="l" t="t" r="r" b="b"/>
              <a:pathLst>
                <a:path w="1920239" h="129539">
                  <a:moveTo>
                    <a:pt x="1919973" y="0"/>
                  </a:moveTo>
                  <a:lnTo>
                    <a:pt x="0" y="0"/>
                  </a:lnTo>
                  <a:lnTo>
                    <a:pt x="0" y="129286"/>
                  </a:lnTo>
                  <a:lnTo>
                    <a:pt x="1919973" y="129286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1919973" y="3110712"/>
              <a:ext cx="1920239" cy="129539"/>
            </a:xfrm>
            <a:custGeom>
              <a:avLst/>
              <a:gdLst/>
              <a:ahLst/>
              <a:cxnLst/>
              <a:rect l="l" t="t" r="r" b="b"/>
              <a:pathLst>
                <a:path w="1920239" h="129539">
                  <a:moveTo>
                    <a:pt x="1919973" y="0"/>
                  </a:moveTo>
                  <a:lnTo>
                    <a:pt x="0" y="0"/>
                  </a:lnTo>
                  <a:lnTo>
                    <a:pt x="0" y="129285"/>
                  </a:lnTo>
                  <a:lnTo>
                    <a:pt x="1919973" y="129285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3839946" y="3110712"/>
              <a:ext cx="1920239" cy="129539"/>
            </a:xfrm>
            <a:custGeom>
              <a:avLst/>
              <a:gdLst/>
              <a:ahLst/>
              <a:cxnLst/>
              <a:rect l="l" t="t" r="r" b="b"/>
              <a:pathLst>
                <a:path w="1920239" h="129539">
                  <a:moveTo>
                    <a:pt x="1919973" y="0"/>
                  </a:moveTo>
                  <a:lnTo>
                    <a:pt x="0" y="0"/>
                  </a:lnTo>
                  <a:lnTo>
                    <a:pt x="0" y="129285"/>
                  </a:lnTo>
                  <a:lnTo>
                    <a:pt x="1919973" y="129285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 descr="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dirty="0"/>
              <a:t>Lê</a:t>
            </a:r>
            <a:r>
              <a:rPr spc="-25" dirty="0"/>
              <a:t> </a:t>
            </a:r>
            <a:r>
              <a:rPr dirty="0"/>
              <a:t>Đình</a:t>
            </a:r>
            <a:r>
              <a:rPr spc="-20" dirty="0"/>
              <a:t> </a:t>
            </a:r>
            <a:r>
              <a:rPr dirty="0"/>
              <a:t>Phùng</a:t>
            </a:r>
            <a:r>
              <a:rPr spc="-25" dirty="0"/>
              <a:t> </a:t>
            </a:r>
            <a:r>
              <a:rPr dirty="0"/>
              <a:t>–</a:t>
            </a:r>
            <a:r>
              <a:rPr spc="-20" dirty="0"/>
              <a:t> </a:t>
            </a:r>
            <a:r>
              <a:rPr spc="-10" dirty="0"/>
              <a:t>18130181</a:t>
            </a:r>
          </a:p>
        </p:txBody>
      </p:sp>
      <p:sp>
        <p:nvSpPr>
          <p:cNvPr id="10" name="object 10" descr=""/>
          <p:cNvSpPr txBox="1"/>
          <p:nvPr/>
        </p:nvSpPr>
        <p:spPr>
          <a:xfrm>
            <a:off x="2584627" y="3115174"/>
            <a:ext cx="591185" cy="119380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600" dirty="0">
                <a:solidFill>
                  <a:srgbClr val="00AEEF"/>
                </a:solidFill>
                <a:latin typeface="Arial"/>
                <a:cs typeface="Arial"/>
                <a:hlinkClick r:id="rId2" action="ppaction://hlinksldjump"/>
              </a:rPr>
              <a:t>Cải</a:t>
            </a:r>
            <a:r>
              <a:rPr sz="600" spc="-30" dirty="0">
                <a:solidFill>
                  <a:srgbClr val="00AEEF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sz="600" dirty="0">
                <a:solidFill>
                  <a:srgbClr val="00AEEF"/>
                </a:solidFill>
                <a:latin typeface="Arial"/>
                <a:cs typeface="Arial"/>
                <a:hlinkClick r:id="rId2" action="ppaction://hlinksldjump"/>
              </a:rPr>
              <a:t>Thiện</a:t>
            </a:r>
            <a:r>
              <a:rPr sz="600" spc="-30" dirty="0">
                <a:solidFill>
                  <a:srgbClr val="00AEEF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sz="600" spc="-10" dirty="0">
                <a:solidFill>
                  <a:srgbClr val="00AEEF"/>
                </a:solidFill>
                <a:latin typeface="Arial"/>
                <a:cs typeface="Arial"/>
                <a:hlinkClick r:id="rId2" action="ppaction://hlinksldjump"/>
              </a:rPr>
              <a:t>Apriori</a:t>
            </a:r>
            <a:endParaRPr sz="600">
              <a:latin typeface="Arial"/>
              <a:cs typeface="Arial"/>
            </a:endParaRPr>
          </a:p>
        </p:txBody>
      </p:sp>
      <p:sp>
        <p:nvSpPr>
          <p:cNvPr id="11" name="object 11" descr="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dirty="0"/>
              <a:t>Năm</a:t>
            </a:r>
            <a:r>
              <a:rPr spc="-30" dirty="0"/>
              <a:t> </a:t>
            </a:r>
            <a:r>
              <a:rPr dirty="0"/>
              <a:t>học</a:t>
            </a:r>
            <a:r>
              <a:rPr spc="-25" dirty="0"/>
              <a:t> </a:t>
            </a:r>
            <a:r>
              <a:rPr spc="-10" dirty="0"/>
              <a:t>2025–2026</a:t>
            </a:r>
          </a:p>
        </p:txBody>
      </p:sp>
      <p:sp>
        <p:nvSpPr>
          <p:cNvPr id="12" name="object 12" descr="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70"/>
              </a:spcBef>
            </a:pPr>
            <a:fld id="{81D60167-4931-47E6-BA6A-407CBD079E47}" type="slidenum">
              <a:rPr spc="-10" dirty="0"/>
              <a:t>10</a:t>
            </a:fld>
            <a:r>
              <a:rPr spc="-70" dirty="0"/>
              <a:t> </a:t>
            </a:r>
            <a:r>
              <a:rPr dirty="0"/>
              <a:t>/</a:t>
            </a:r>
            <a:r>
              <a:rPr spc="-65" dirty="0"/>
              <a:t> </a:t>
            </a:r>
            <a:r>
              <a:rPr spc="-25" dirty="0"/>
              <a:t>32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fast">
        <p:cut thruBlk="0"/>
      </p:transition>
    </mc:Choice>
    <mc:Fallback>
      <p:transition spd="fast">
        <p:cut thruBlk="0"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69086" y="1147456"/>
            <a:ext cx="3822065" cy="4032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450" b="1" dirty="0">
                <a:solidFill>
                  <a:srgbClr val="000000"/>
                </a:solidFill>
                <a:latin typeface="Arial"/>
                <a:cs typeface="Arial"/>
              </a:rPr>
              <a:t>CẢM</a:t>
            </a:r>
            <a:r>
              <a:rPr sz="2450" b="1" spc="-1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450" b="1" dirty="0">
                <a:solidFill>
                  <a:srgbClr val="000000"/>
                </a:solidFill>
                <a:latin typeface="Arial"/>
                <a:cs typeface="Arial"/>
              </a:rPr>
              <a:t>ƠN</a:t>
            </a:r>
            <a:r>
              <a:rPr sz="2450" b="1" spc="-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450" b="1" dirty="0">
                <a:solidFill>
                  <a:srgbClr val="000000"/>
                </a:solidFill>
                <a:latin typeface="Arial"/>
                <a:cs typeface="Arial"/>
              </a:rPr>
              <a:t>ĐÃ</a:t>
            </a:r>
            <a:r>
              <a:rPr sz="2450" b="1" spc="-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450" b="1" dirty="0">
                <a:solidFill>
                  <a:srgbClr val="000000"/>
                </a:solidFill>
                <a:latin typeface="Arial"/>
                <a:cs typeface="Arial"/>
              </a:rPr>
              <a:t>LẮNG</a:t>
            </a:r>
            <a:r>
              <a:rPr sz="2450" b="1" spc="-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450" b="1" spc="-20" dirty="0">
                <a:solidFill>
                  <a:srgbClr val="000000"/>
                </a:solidFill>
                <a:latin typeface="Arial"/>
                <a:cs typeface="Arial"/>
              </a:rPr>
              <a:t>NGHE</a:t>
            </a:r>
            <a:endParaRPr sz="2450">
              <a:latin typeface="Arial"/>
              <a:cs typeface="Arial"/>
            </a:endParaRPr>
          </a:p>
        </p:txBody>
      </p:sp>
      <p:sp>
        <p:nvSpPr>
          <p:cNvPr id="3" name="object 3" descr="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dirty="0"/>
              <a:t>Lê</a:t>
            </a:r>
            <a:r>
              <a:rPr spc="-25" dirty="0"/>
              <a:t> </a:t>
            </a:r>
            <a:r>
              <a:rPr dirty="0"/>
              <a:t>Đình</a:t>
            </a:r>
            <a:r>
              <a:rPr spc="-20" dirty="0"/>
              <a:t> </a:t>
            </a:r>
            <a:r>
              <a:rPr dirty="0"/>
              <a:t>Phùng</a:t>
            </a:r>
            <a:r>
              <a:rPr spc="-25" dirty="0"/>
              <a:t> </a:t>
            </a:r>
            <a:r>
              <a:rPr dirty="0"/>
              <a:t>–</a:t>
            </a:r>
            <a:r>
              <a:rPr spc="-20" dirty="0"/>
              <a:t> </a:t>
            </a:r>
            <a:r>
              <a:rPr spc="-10" dirty="0"/>
              <a:t>18130181</a:t>
            </a:r>
          </a:p>
        </p:txBody>
      </p:sp>
      <p:sp>
        <p:nvSpPr>
          <p:cNvPr id="4" name="object 4" descr=""/>
          <p:cNvSpPr txBox="1"/>
          <p:nvPr/>
        </p:nvSpPr>
        <p:spPr>
          <a:xfrm>
            <a:off x="2584627" y="3115174"/>
            <a:ext cx="591185" cy="119380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600" dirty="0">
                <a:solidFill>
                  <a:srgbClr val="00AEEF"/>
                </a:solidFill>
                <a:latin typeface="Arial"/>
                <a:cs typeface="Arial"/>
                <a:hlinkClick r:id="rId2" action="ppaction://hlinksldjump"/>
              </a:rPr>
              <a:t>Cải</a:t>
            </a:r>
            <a:r>
              <a:rPr sz="600" spc="-30" dirty="0">
                <a:solidFill>
                  <a:srgbClr val="00AEEF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sz="600" dirty="0">
                <a:solidFill>
                  <a:srgbClr val="00AEEF"/>
                </a:solidFill>
                <a:latin typeface="Arial"/>
                <a:cs typeface="Arial"/>
                <a:hlinkClick r:id="rId2" action="ppaction://hlinksldjump"/>
              </a:rPr>
              <a:t>Thiện</a:t>
            </a:r>
            <a:r>
              <a:rPr sz="600" spc="-30" dirty="0">
                <a:solidFill>
                  <a:srgbClr val="00AEEF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sz="600" spc="-10" dirty="0">
                <a:solidFill>
                  <a:srgbClr val="00AEEF"/>
                </a:solidFill>
                <a:latin typeface="Arial"/>
                <a:cs typeface="Arial"/>
                <a:hlinkClick r:id="rId2" action="ppaction://hlinksldjump"/>
              </a:rPr>
              <a:t>Apriori</a:t>
            </a:r>
            <a:endParaRPr sz="600">
              <a:latin typeface="Arial"/>
              <a:cs typeface="Arial"/>
            </a:endParaRPr>
          </a:p>
        </p:txBody>
      </p:sp>
      <p:sp>
        <p:nvSpPr>
          <p:cNvPr id="5" name="object 5" descr="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dirty="0"/>
              <a:t>Năm</a:t>
            </a:r>
            <a:r>
              <a:rPr spc="-30" dirty="0"/>
              <a:t> </a:t>
            </a:r>
            <a:r>
              <a:rPr dirty="0"/>
              <a:t>học</a:t>
            </a:r>
            <a:r>
              <a:rPr spc="-25" dirty="0"/>
              <a:t> </a:t>
            </a:r>
            <a:r>
              <a:rPr spc="-10" dirty="0"/>
              <a:t>2025–2026</a:t>
            </a:r>
          </a:p>
        </p:txBody>
      </p:sp>
      <p:sp>
        <p:nvSpPr>
          <p:cNvPr id="6" name="object 6" descr="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70"/>
              </a:spcBef>
            </a:pPr>
            <a:fld id="{81D60167-4931-47E6-BA6A-407CBD079E47}" type="slidenum">
              <a:rPr spc="-10" dirty="0"/>
              <a:t>10</a:t>
            </a:fld>
            <a:r>
              <a:rPr spc="-70" dirty="0"/>
              <a:t> </a:t>
            </a:r>
            <a:r>
              <a:rPr dirty="0"/>
              <a:t>/</a:t>
            </a:r>
            <a:r>
              <a:rPr spc="-65" dirty="0"/>
              <a:t> </a:t>
            </a:r>
            <a:r>
              <a:rPr spc="-25" dirty="0"/>
              <a:t>32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fast">
        <p:cut thruBlk="0"/>
      </p:transition>
    </mc:Choice>
    <mc:Fallback>
      <p:transition spd="fast">
        <p:cut thruBlk="0"/>
      </p:transition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AEEF"/>
      </a:hlink>
      <a:folHlink>
        <a:srgbClr val="800080"/>
      </a:folHlink>
    </a:clrScheme>
    <a:fontScheme name="Office">
      <a:maj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ONLYOFFICE/9.2.1.43</Application>
  <PresentationFormat>On-screen Show (4:3)</PresentationFormat>
  <Paragraphs>0</Paragraphs>
  <Slides>32</Slides>
  <Notes>32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3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CẢI THIỆN APRIORI - Frequent Itemset Mining và Association Rules</dc:title>
  <dc:creator>Lê Đình Phùng – 18130181 </dc:creator>
  <cp:lastModifiedBy/>
  <dcterms:created xsi:type="dcterms:W3CDTF">2026-01-19T11:14:09Z</dcterms:created>
  <dcterms:modified xsi:type="dcterms:W3CDTF">2026-01-19T11:14:09Z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2026-01-19T00:00:00Z</vt:filetime>
  </property>
  <property fmtid="{D5CDD505-2E9C-101B-9397-08002B2CF9AE}" pid="3" name="Creator">
    <vt:lpwstr>LaTeX with Beamer class</vt:lpwstr>
  </property>
  <property fmtid="{D5CDD505-2E9C-101B-9397-08002B2CF9AE}" pid="4" name="LastSaved">
    <vt:filetime>2026-01-19T00:00:00Z</vt:filetime>
  </property>
  <property fmtid="{D5CDD505-2E9C-101B-9397-08002B2CF9AE}" pid="5" name="PTEX.Fullbanner">
    <vt:lpwstr>This is pdfTeX, Version 3.141592653-2.6-1.40.26 (TeX Live 2025/dev/Debian) kpathsea version 6.4.0/dev</vt:lpwstr>
  </property>
  <property fmtid="{D5CDD505-2E9C-101B-9397-08002B2CF9AE}" pid="6" name="Producer">
    <vt:lpwstr>3-Heights(TM) PDF Security Shell 4.8.25.2 (http://www.pdf-tools.com)</vt:lpwstr>
  </property>
</Properties>
</file>